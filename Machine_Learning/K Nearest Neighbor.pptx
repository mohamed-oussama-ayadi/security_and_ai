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Viga"/>
      <p:regular r:id="rId22"/>
    </p:embeddedFont>
    <p:embeddedFont>
      <p:font typeface="Palatino Linotype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61">
          <p15:clr>
            <a:srgbClr val="9AA0A6"/>
          </p15:clr>
        </p15:guide>
        <p15:guide id="2" pos="2880">
          <p15:clr>
            <a:srgbClr val="9AA0A6"/>
          </p15:clr>
        </p15:guide>
        <p15:guide id="3" pos="456">
          <p15:clr>
            <a:srgbClr val="9AA0A6"/>
          </p15:clr>
        </p15:guide>
        <p15:guide id="4" orient="horz" pos="1732">
          <p15:clr>
            <a:srgbClr val="9AA0A6"/>
          </p15:clr>
        </p15:guide>
        <p15:guide id="5" orient="horz" pos="266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61" orient="horz"/>
        <p:guide pos="2880"/>
        <p:guide pos="456"/>
        <p:guide pos="1732" orient="horz"/>
        <p:guide pos="266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Viga-regular.fntdata"/><Relationship Id="rId21" Type="http://schemas.openxmlformats.org/officeDocument/2006/relationships/slide" Target="slides/slide16.xml"/><Relationship Id="rId24" Type="http://schemas.openxmlformats.org/officeDocument/2006/relationships/font" Target="fonts/PalatinoLinotype-bold.fntdata"/><Relationship Id="rId23" Type="http://schemas.openxmlformats.org/officeDocument/2006/relationships/font" Target="fonts/PalatinoLinotyp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alatinoLinotype-boldItalic.fntdata"/><Relationship Id="rId25" Type="http://schemas.openxmlformats.org/officeDocument/2006/relationships/font" Target="fonts/PalatinoLinotype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0561f73cc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0561f73cc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0561f73cc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0561f73cc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?utm_source=slidesgo_template&amp;utm_medium=referral-link&amp;utm_campaign=slidesgo_contents_of_this_template&amp;utm_term=stories_by_freepik&amp;utm_content=stories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5554975" y="526350"/>
            <a:ext cx="27306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ONE_COLUMN_TEXT_1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4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15" name="Google Shape;15;p4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5316193" y="3450300"/>
            <a:ext cx="26286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2" type="title"/>
          </p:nvPr>
        </p:nvSpPr>
        <p:spPr>
          <a:xfrm>
            <a:off x="5316193" y="2952450"/>
            <a:ext cx="26286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" name="Google Shape;18;p4"/>
          <p:cNvSpPr txBox="1"/>
          <p:nvPr>
            <p:ph idx="3" type="body"/>
          </p:nvPr>
        </p:nvSpPr>
        <p:spPr>
          <a:xfrm>
            <a:off x="1199212" y="3450300"/>
            <a:ext cx="26286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4" type="title"/>
          </p:nvPr>
        </p:nvSpPr>
        <p:spPr>
          <a:xfrm>
            <a:off x="1199212" y="2952450"/>
            <a:ext cx="26286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" type="body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22" name="Google Shape;22;p5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23" name="Google Shape;23;p5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ONE_COLUMN_TEXT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6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26" name="Google Shape;26;p6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953575" y="3447525"/>
            <a:ext cx="24303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2" type="title"/>
          </p:nvPr>
        </p:nvSpPr>
        <p:spPr>
          <a:xfrm>
            <a:off x="5953575" y="2949674"/>
            <a:ext cx="24303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TITLE_AND_TWO_COLUMNS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" type="body"/>
          </p:nvPr>
        </p:nvSpPr>
        <p:spPr>
          <a:xfrm>
            <a:off x="722600" y="1335775"/>
            <a:ext cx="3614100" cy="3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1" name="Google Shape;31;p7"/>
          <p:cNvCxnSpPr/>
          <p:nvPr/>
        </p:nvCxnSpPr>
        <p:spPr>
          <a:xfrm>
            <a:off x="395000" y="7604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32" name="Google Shape;32;p7"/>
          <p:cNvSpPr txBox="1"/>
          <p:nvPr>
            <p:ph type="title"/>
          </p:nvPr>
        </p:nvSpPr>
        <p:spPr>
          <a:xfrm>
            <a:off x="779025" y="4905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ctrTitle"/>
          </p:nvPr>
        </p:nvSpPr>
        <p:spPr>
          <a:xfrm>
            <a:off x="572003" y="614888"/>
            <a:ext cx="2729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572003" y="1013113"/>
            <a:ext cx="2729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ctrTitle"/>
          </p:nvPr>
        </p:nvSpPr>
        <p:spPr>
          <a:xfrm>
            <a:off x="572003" y="2055075"/>
            <a:ext cx="2729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3" type="subTitle"/>
          </p:nvPr>
        </p:nvSpPr>
        <p:spPr>
          <a:xfrm>
            <a:off x="572003" y="2453300"/>
            <a:ext cx="2729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4" type="ctrTitle"/>
          </p:nvPr>
        </p:nvSpPr>
        <p:spPr>
          <a:xfrm>
            <a:off x="572003" y="3495275"/>
            <a:ext cx="2729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5" type="subTitle"/>
          </p:nvPr>
        </p:nvSpPr>
        <p:spPr>
          <a:xfrm>
            <a:off x="572003" y="3893500"/>
            <a:ext cx="2729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6" type="title"/>
          </p:nvPr>
        </p:nvSpPr>
        <p:spPr>
          <a:xfrm>
            <a:off x="3377303" y="739713"/>
            <a:ext cx="11922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1" name="Google Shape;41;p8"/>
          <p:cNvSpPr txBox="1"/>
          <p:nvPr>
            <p:ph idx="7" type="title"/>
          </p:nvPr>
        </p:nvSpPr>
        <p:spPr>
          <a:xfrm>
            <a:off x="3377303" y="2176650"/>
            <a:ext cx="11922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2" name="Google Shape;42;p8"/>
          <p:cNvSpPr txBox="1"/>
          <p:nvPr>
            <p:ph idx="8" type="title"/>
          </p:nvPr>
        </p:nvSpPr>
        <p:spPr>
          <a:xfrm>
            <a:off x="3377303" y="3613600"/>
            <a:ext cx="11922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3" name="Google Shape;43;p8"/>
          <p:cNvSpPr txBox="1"/>
          <p:nvPr>
            <p:ph idx="9" type="title"/>
          </p:nvPr>
        </p:nvSpPr>
        <p:spPr>
          <a:xfrm>
            <a:off x="4574503" y="739713"/>
            <a:ext cx="11922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4" name="Google Shape;44;p8"/>
          <p:cNvSpPr txBox="1"/>
          <p:nvPr>
            <p:ph idx="13" type="title"/>
          </p:nvPr>
        </p:nvSpPr>
        <p:spPr>
          <a:xfrm>
            <a:off x="4574503" y="2176650"/>
            <a:ext cx="11922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5" name="Google Shape;45;p8"/>
          <p:cNvSpPr txBox="1"/>
          <p:nvPr>
            <p:ph idx="14" type="title"/>
          </p:nvPr>
        </p:nvSpPr>
        <p:spPr>
          <a:xfrm>
            <a:off x="4574503" y="3613600"/>
            <a:ext cx="11922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46" name="Google Shape;46;p8"/>
          <p:cNvSpPr txBox="1"/>
          <p:nvPr>
            <p:ph idx="15" type="ctrTitle"/>
          </p:nvPr>
        </p:nvSpPr>
        <p:spPr>
          <a:xfrm>
            <a:off x="5842903" y="614888"/>
            <a:ext cx="2729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6" type="subTitle"/>
          </p:nvPr>
        </p:nvSpPr>
        <p:spPr>
          <a:xfrm>
            <a:off x="5842903" y="1013113"/>
            <a:ext cx="2729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7" type="ctrTitle"/>
          </p:nvPr>
        </p:nvSpPr>
        <p:spPr>
          <a:xfrm>
            <a:off x="5842903" y="2055075"/>
            <a:ext cx="2729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8" type="subTitle"/>
          </p:nvPr>
        </p:nvSpPr>
        <p:spPr>
          <a:xfrm>
            <a:off x="5842903" y="2453300"/>
            <a:ext cx="2729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9" type="ctrTitle"/>
          </p:nvPr>
        </p:nvSpPr>
        <p:spPr>
          <a:xfrm>
            <a:off x="5842903" y="3495275"/>
            <a:ext cx="2729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20" type="subTitle"/>
          </p:nvPr>
        </p:nvSpPr>
        <p:spPr>
          <a:xfrm>
            <a:off x="5842903" y="3893500"/>
            <a:ext cx="27291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53;p9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54" name="Google Shape;54;p9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626625" y="1404600"/>
            <a:ext cx="27852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ONE_COLUMN_TEX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0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58" name="Google Shape;58;p10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" name="Google Shape;59;p10"/>
          <p:cNvSpPr txBox="1"/>
          <p:nvPr>
            <p:ph idx="1" type="body"/>
          </p:nvPr>
        </p:nvSpPr>
        <p:spPr>
          <a:xfrm>
            <a:off x="5267775" y="2040625"/>
            <a:ext cx="2785200" cy="17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876325" y="1458975"/>
            <a:ext cx="4559100" cy="16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11"/>
          <p:cNvSpPr txBox="1"/>
          <p:nvPr>
            <p:ph idx="1" type="subTitle"/>
          </p:nvPr>
        </p:nvSpPr>
        <p:spPr>
          <a:xfrm>
            <a:off x="876325" y="3087550"/>
            <a:ext cx="29778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63" name="Google Shape;63;p11"/>
          <p:cNvSpPr txBox="1"/>
          <p:nvPr>
            <p:ph idx="2" type="title"/>
          </p:nvPr>
        </p:nvSpPr>
        <p:spPr>
          <a:xfrm>
            <a:off x="876325" y="792425"/>
            <a:ext cx="2657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ONE_COLUMN_TEXT_1_1_1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2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66" name="Google Shape;66;p12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3464998" y="3508236"/>
            <a:ext cx="2214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2" type="title"/>
          </p:nvPr>
        </p:nvSpPr>
        <p:spPr>
          <a:xfrm>
            <a:off x="3464998" y="3010385"/>
            <a:ext cx="221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9" name="Google Shape;69;p12"/>
          <p:cNvSpPr txBox="1"/>
          <p:nvPr>
            <p:ph idx="3" type="body"/>
          </p:nvPr>
        </p:nvSpPr>
        <p:spPr>
          <a:xfrm>
            <a:off x="835213" y="3508236"/>
            <a:ext cx="2214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4" type="title"/>
          </p:nvPr>
        </p:nvSpPr>
        <p:spPr>
          <a:xfrm>
            <a:off x="835213" y="3010385"/>
            <a:ext cx="221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1" name="Google Shape;71;p12"/>
          <p:cNvSpPr txBox="1"/>
          <p:nvPr>
            <p:ph idx="5" type="body"/>
          </p:nvPr>
        </p:nvSpPr>
        <p:spPr>
          <a:xfrm>
            <a:off x="6094778" y="3508236"/>
            <a:ext cx="2214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6" type="title"/>
          </p:nvPr>
        </p:nvSpPr>
        <p:spPr>
          <a:xfrm>
            <a:off x="6094778" y="3010385"/>
            <a:ext cx="221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 1">
  <p:cSld name="ONE_COLUMN_TEXT_1_1_1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Google Shape;74;p13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75" name="Google Shape;75;p13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4933300" y="1879975"/>
            <a:ext cx="25104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2" type="title"/>
          </p:nvPr>
        </p:nvSpPr>
        <p:spPr>
          <a:xfrm>
            <a:off x="4933300" y="1508575"/>
            <a:ext cx="2510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13"/>
          <p:cNvSpPr txBox="1"/>
          <p:nvPr>
            <p:ph idx="3" type="body"/>
          </p:nvPr>
        </p:nvSpPr>
        <p:spPr>
          <a:xfrm>
            <a:off x="4933300" y="3595175"/>
            <a:ext cx="25104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4" type="title"/>
          </p:nvPr>
        </p:nvSpPr>
        <p:spPr>
          <a:xfrm>
            <a:off x="4933300" y="3223775"/>
            <a:ext cx="2510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>
  <p:cSld name="SECTION_HEADER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4288151" y="1458975"/>
            <a:ext cx="3967500" cy="16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14"/>
          <p:cNvSpPr txBox="1"/>
          <p:nvPr>
            <p:ph idx="1" type="subTitle"/>
          </p:nvPr>
        </p:nvSpPr>
        <p:spPr>
          <a:xfrm>
            <a:off x="5277851" y="3087550"/>
            <a:ext cx="29778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idx="2" type="title"/>
          </p:nvPr>
        </p:nvSpPr>
        <p:spPr>
          <a:xfrm>
            <a:off x="5597951" y="792425"/>
            <a:ext cx="2657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5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86" name="Google Shape;86;p15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TITLE_ONLY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6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89" name="Google Shape;89;p16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">
  <p:cSld name="ONE_COLUMN_TEXT_1_1_1_3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17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92" name="Google Shape;92;p17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1010100" y="3819175"/>
            <a:ext cx="14784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2" type="title"/>
          </p:nvPr>
        </p:nvSpPr>
        <p:spPr>
          <a:xfrm>
            <a:off x="1010088" y="3321325"/>
            <a:ext cx="14784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5" name="Google Shape;95;p17"/>
          <p:cNvSpPr txBox="1"/>
          <p:nvPr>
            <p:ph idx="3" type="body"/>
          </p:nvPr>
        </p:nvSpPr>
        <p:spPr>
          <a:xfrm>
            <a:off x="2891901" y="3819175"/>
            <a:ext cx="14784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4" type="title"/>
          </p:nvPr>
        </p:nvSpPr>
        <p:spPr>
          <a:xfrm>
            <a:off x="2891894" y="3321325"/>
            <a:ext cx="14784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7" name="Google Shape;97;p17"/>
          <p:cNvSpPr txBox="1"/>
          <p:nvPr>
            <p:ph idx="5" type="body"/>
          </p:nvPr>
        </p:nvSpPr>
        <p:spPr>
          <a:xfrm>
            <a:off x="4773703" y="3819175"/>
            <a:ext cx="14784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6" type="title"/>
          </p:nvPr>
        </p:nvSpPr>
        <p:spPr>
          <a:xfrm>
            <a:off x="4773701" y="3321325"/>
            <a:ext cx="14784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" name="Google Shape;99;p17"/>
          <p:cNvSpPr txBox="1"/>
          <p:nvPr>
            <p:ph idx="7" type="body"/>
          </p:nvPr>
        </p:nvSpPr>
        <p:spPr>
          <a:xfrm>
            <a:off x="6655504" y="3819175"/>
            <a:ext cx="14784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17"/>
          <p:cNvSpPr txBox="1"/>
          <p:nvPr>
            <p:ph idx="8" type="title"/>
          </p:nvPr>
        </p:nvSpPr>
        <p:spPr>
          <a:xfrm>
            <a:off x="6655507" y="3321325"/>
            <a:ext cx="14784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>
  <p:cSld name="SECTION_HEADER_1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2588250" y="1458975"/>
            <a:ext cx="3967500" cy="16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18"/>
          <p:cNvSpPr txBox="1"/>
          <p:nvPr>
            <p:ph idx="1" type="subTitle"/>
          </p:nvPr>
        </p:nvSpPr>
        <p:spPr>
          <a:xfrm>
            <a:off x="3083100" y="3087550"/>
            <a:ext cx="29778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2" type="title"/>
          </p:nvPr>
        </p:nvSpPr>
        <p:spPr>
          <a:xfrm>
            <a:off x="3243150" y="792425"/>
            <a:ext cx="2657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ONE_COLUMN_TEXT_1_1_1_1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19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107" name="Google Shape;107;p19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465005" y="1971203"/>
            <a:ext cx="22140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2" type="title"/>
          </p:nvPr>
        </p:nvSpPr>
        <p:spPr>
          <a:xfrm>
            <a:off x="3464998" y="1473360"/>
            <a:ext cx="221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3" type="body"/>
          </p:nvPr>
        </p:nvSpPr>
        <p:spPr>
          <a:xfrm>
            <a:off x="835225" y="1971203"/>
            <a:ext cx="22140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4" type="title"/>
          </p:nvPr>
        </p:nvSpPr>
        <p:spPr>
          <a:xfrm>
            <a:off x="835213" y="1473360"/>
            <a:ext cx="221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2" name="Google Shape;112;p19"/>
          <p:cNvSpPr txBox="1"/>
          <p:nvPr>
            <p:ph idx="5" type="body"/>
          </p:nvPr>
        </p:nvSpPr>
        <p:spPr>
          <a:xfrm>
            <a:off x="6094780" y="1971203"/>
            <a:ext cx="22140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6" type="title"/>
          </p:nvPr>
        </p:nvSpPr>
        <p:spPr>
          <a:xfrm>
            <a:off x="6094778" y="1473360"/>
            <a:ext cx="221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19"/>
          <p:cNvSpPr txBox="1"/>
          <p:nvPr>
            <p:ph idx="7" type="body"/>
          </p:nvPr>
        </p:nvSpPr>
        <p:spPr>
          <a:xfrm>
            <a:off x="3465005" y="3882828"/>
            <a:ext cx="22140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8" type="title"/>
          </p:nvPr>
        </p:nvSpPr>
        <p:spPr>
          <a:xfrm>
            <a:off x="3464998" y="3384985"/>
            <a:ext cx="221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6" name="Google Shape;116;p19"/>
          <p:cNvSpPr txBox="1"/>
          <p:nvPr>
            <p:ph idx="9" type="body"/>
          </p:nvPr>
        </p:nvSpPr>
        <p:spPr>
          <a:xfrm>
            <a:off x="835225" y="3882828"/>
            <a:ext cx="22140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3" type="title"/>
          </p:nvPr>
        </p:nvSpPr>
        <p:spPr>
          <a:xfrm>
            <a:off x="835213" y="3384985"/>
            <a:ext cx="221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8" name="Google Shape;118;p19"/>
          <p:cNvSpPr txBox="1"/>
          <p:nvPr>
            <p:ph idx="14" type="body"/>
          </p:nvPr>
        </p:nvSpPr>
        <p:spPr>
          <a:xfrm>
            <a:off x="6094780" y="3882828"/>
            <a:ext cx="22140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5" type="title"/>
          </p:nvPr>
        </p:nvSpPr>
        <p:spPr>
          <a:xfrm>
            <a:off x="6094778" y="3384985"/>
            <a:ext cx="221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4979375" y="2028425"/>
            <a:ext cx="35724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4979375" y="2568125"/>
            <a:ext cx="2785200" cy="21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 1">
  <p:cSld name="ONE_COLUMN_TEXT_1_1_1_1_2"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21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125" name="Google Shape;125;p21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464998" y="3508236"/>
            <a:ext cx="2214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title"/>
          </p:nvPr>
        </p:nvSpPr>
        <p:spPr>
          <a:xfrm>
            <a:off x="3464998" y="3010385"/>
            <a:ext cx="221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8" name="Google Shape;128;p21"/>
          <p:cNvSpPr txBox="1"/>
          <p:nvPr>
            <p:ph idx="3" type="body"/>
          </p:nvPr>
        </p:nvSpPr>
        <p:spPr>
          <a:xfrm>
            <a:off x="835213" y="3508236"/>
            <a:ext cx="2214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4" type="title"/>
          </p:nvPr>
        </p:nvSpPr>
        <p:spPr>
          <a:xfrm>
            <a:off x="835213" y="3010385"/>
            <a:ext cx="221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0" name="Google Shape;130;p21"/>
          <p:cNvSpPr txBox="1"/>
          <p:nvPr>
            <p:ph idx="5" type="body"/>
          </p:nvPr>
        </p:nvSpPr>
        <p:spPr>
          <a:xfrm>
            <a:off x="6094778" y="3508236"/>
            <a:ext cx="2214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6" type="title"/>
          </p:nvPr>
        </p:nvSpPr>
        <p:spPr>
          <a:xfrm>
            <a:off x="6094778" y="3010385"/>
            <a:ext cx="221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626625" y="1515050"/>
            <a:ext cx="19407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 sz="1400">
                <a:latin typeface="Viga"/>
                <a:ea typeface="Viga"/>
                <a:cs typeface="Viga"/>
                <a:sym typeface="Vi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2" type="body"/>
          </p:nvPr>
        </p:nvSpPr>
        <p:spPr>
          <a:xfrm>
            <a:off x="626625" y="2266850"/>
            <a:ext cx="2925900" cy="23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35" name="Google Shape;135;p22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136" name="Google Shape;136;p22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9" name="Google Shape;139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&amp; Credits">
  <p:cSld name="SECTION_HEADER_1_1_1"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671150" y="-101475"/>
            <a:ext cx="3967500" cy="16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2" name="Google Shape;142;p24"/>
          <p:cNvSpPr txBox="1"/>
          <p:nvPr>
            <p:ph idx="1" type="subTitle"/>
          </p:nvPr>
        </p:nvSpPr>
        <p:spPr>
          <a:xfrm>
            <a:off x="671150" y="1450900"/>
            <a:ext cx="3742800" cy="15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600"/>
              <a:buNone/>
              <a:defRPr sz="1600">
                <a:solidFill>
                  <a:srgbClr val="1F1C5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143" name="Google Shape;143;p24"/>
          <p:cNvSpPr txBox="1"/>
          <p:nvPr/>
        </p:nvSpPr>
        <p:spPr>
          <a:xfrm>
            <a:off x="671150" y="3275775"/>
            <a:ext cx="33876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/>
              </a:rPr>
              <a:t>Slidesgo</a:t>
            </a:r>
            <a:r>
              <a:rPr b="0" i="0" lang="en" sz="11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/>
              </a:rPr>
              <a:t>Flaticon</a:t>
            </a:r>
            <a:r>
              <a:rPr b="0" i="0" lang="en" sz="11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, infographics &amp; images by </a:t>
            </a:r>
            <a:r>
              <a:rPr b="1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/>
              </a:rPr>
              <a:t>Freepik</a:t>
            </a:r>
            <a:r>
              <a:rPr b="0" i="0" lang="en" sz="11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 and illustrations by </a:t>
            </a:r>
            <a:r>
              <a:rPr b="0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5"/>
              </a:rPr>
              <a:t>Stories</a:t>
            </a:r>
            <a:endParaRPr b="0" i="0" sz="1100" u="none" cap="none" strike="noStrike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722600" y="1335775"/>
            <a:ext cx="3614100" cy="3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2" type="body"/>
          </p:nvPr>
        </p:nvSpPr>
        <p:spPr>
          <a:xfrm>
            <a:off x="4807302" y="1335775"/>
            <a:ext cx="3614100" cy="3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47" name="Google Shape;147;p25"/>
          <p:cNvCxnSpPr/>
          <p:nvPr/>
        </p:nvCxnSpPr>
        <p:spPr>
          <a:xfrm>
            <a:off x="395000" y="7604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148" name="Google Shape;148;p25"/>
          <p:cNvSpPr txBox="1"/>
          <p:nvPr>
            <p:ph type="title"/>
          </p:nvPr>
        </p:nvSpPr>
        <p:spPr>
          <a:xfrm>
            <a:off x="779025" y="490575"/>
            <a:ext cx="6084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b="0" i="0" sz="2800" u="none" cap="none" strike="noStrike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b="0" i="0" sz="18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gif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3" cy="454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7"/>
          <p:cNvSpPr/>
          <p:nvPr/>
        </p:nvSpPr>
        <p:spPr>
          <a:xfrm>
            <a:off x="4746800" y="1706675"/>
            <a:ext cx="3550200" cy="1924800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4543625" y="1937875"/>
            <a:ext cx="365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K-plus proches voisins</a:t>
            </a:r>
            <a:endParaRPr sz="18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5262775" y="2647675"/>
            <a:ext cx="39015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UP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GL/BD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Réalisé par 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Equipe ML Appliqué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1966525" y="33375"/>
            <a:ext cx="54456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7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Classification: </a:t>
            </a:r>
            <a:r>
              <a:rPr b="1" lang="en" sz="22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Définition</a:t>
            </a:r>
            <a:endParaRPr sz="1300">
              <a:solidFill>
                <a:srgbClr val="006FC0"/>
              </a:solidFill>
            </a:endParaRPr>
          </a:p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738" y="76188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8"/>
          <p:cNvSpPr txBox="1"/>
          <p:nvPr/>
        </p:nvSpPr>
        <p:spPr>
          <a:xfrm>
            <a:off x="490850" y="869900"/>
            <a:ext cx="8094900" cy="3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Définition:</a:t>
            </a:r>
            <a:endParaRPr b="1"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La classification permet de prédire si un élément est membre d'un groupe ou d'une catégorie donnée.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Classes:</a:t>
            </a:r>
            <a:endParaRPr b="1"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Identification de groupes avec des profils particuliers.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Possibilité de décider de l'appartenance d'une entité a une classe.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Caractéristiques de classification:</a:t>
            </a:r>
            <a:endParaRPr b="1"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Apprentissage supervisé: classes connues a l'avance.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Qualité de la classification (taux d'erreur).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1966525" y="33375"/>
            <a:ext cx="54456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7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Classification: </a:t>
            </a:r>
            <a:r>
              <a:rPr b="1" lang="en" sz="22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Procéssus</a:t>
            </a:r>
            <a:endParaRPr sz="1300">
              <a:solidFill>
                <a:srgbClr val="006FC0"/>
              </a:solidFill>
            </a:endParaRPr>
          </a:p>
        </p:txBody>
      </p:sp>
      <p:pic>
        <p:nvPicPr>
          <p:cNvPr id="171" name="Google Shape;17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738" y="76188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00" y="803124"/>
            <a:ext cx="7213598" cy="418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1613650" y="33375"/>
            <a:ext cx="57984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7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K- plus proches voisins (KNN)</a:t>
            </a:r>
            <a:endParaRPr sz="1800">
              <a:solidFill>
                <a:srgbClr val="006FC0"/>
              </a:solidFill>
            </a:endParaRPr>
          </a:p>
        </p:txBody>
      </p:sp>
      <p:sp>
        <p:nvSpPr>
          <p:cNvPr id="179" name="Google Shape;179;p30"/>
          <p:cNvSpPr txBox="1"/>
          <p:nvPr/>
        </p:nvSpPr>
        <p:spPr>
          <a:xfrm>
            <a:off x="104425" y="728300"/>
            <a:ext cx="86985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Problématique</a:t>
            </a:r>
            <a:r>
              <a:rPr lang="en" sz="16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: Prédire la catégorie d’un client pour une société de télécommunication.</a:t>
            </a:r>
            <a:endParaRPr sz="18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0" name="Google Shape;18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500" y="1556250"/>
            <a:ext cx="8849099" cy="349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8738" y="76188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637000" y="33375"/>
            <a:ext cx="2187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7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Intuition</a:t>
            </a:r>
            <a:endParaRPr sz="1800">
              <a:solidFill>
                <a:srgbClr val="006FC0"/>
              </a:solidFill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104425" y="652100"/>
            <a:ext cx="86985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9" name="Google Shape;18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5" y="1399400"/>
            <a:ext cx="8961474" cy="37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1"/>
          <p:cNvSpPr txBox="1"/>
          <p:nvPr/>
        </p:nvSpPr>
        <p:spPr>
          <a:xfrm>
            <a:off x="251400" y="588925"/>
            <a:ext cx="8698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Pour simplifier la compréhension de l'algorithme, nous ne considérerons que deux attributs : </a:t>
            </a:r>
            <a:endParaRPr sz="1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 Age » et “Income”.</a:t>
            </a:r>
            <a:endParaRPr sz="1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Étant donné le graphique ci-dessous, comment pouvons-nous procéder pour identifier la catégorie d’un nouveau client ?</a:t>
            </a:r>
            <a:endParaRPr sz="1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8738" y="-12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27400"/>
            <a:ext cx="8839201" cy="384430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2"/>
          <p:cNvSpPr txBox="1"/>
          <p:nvPr/>
        </p:nvSpPr>
        <p:spPr>
          <a:xfrm>
            <a:off x="306275" y="4621225"/>
            <a:ext cx="7504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rgbClr val="CC33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quel point peut-on peut croire notre jugement basé sur le </a:t>
            </a:r>
            <a:r>
              <a:rPr b="0" i="0" lang="en" sz="1600" u="none" cap="none" strike="noStrike">
                <a:solidFill>
                  <a:srgbClr val="CC33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1-NN?</a:t>
            </a:r>
            <a:endParaRPr b="0" i="0" sz="1600" u="none" cap="none" strike="noStrike">
              <a:solidFill>
                <a:srgbClr val="CC33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99" name="Google Shape;199;p32"/>
          <p:cNvSpPr txBox="1"/>
          <p:nvPr>
            <p:ph type="title"/>
          </p:nvPr>
        </p:nvSpPr>
        <p:spPr>
          <a:xfrm>
            <a:off x="3637000" y="33375"/>
            <a:ext cx="2187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7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Intuition</a:t>
            </a:r>
            <a:endParaRPr sz="1800">
              <a:solidFill>
                <a:srgbClr val="006FC0"/>
              </a:solidFill>
            </a:endParaRPr>
          </a:p>
        </p:txBody>
      </p:sp>
      <p:pic>
        <p:nvPicPr>
          <p:cNvPr id="200" name="Google Shape;20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8738" y="-12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2" title="سؤال سؤال وجواب GIF (fourni par Tenor)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6025" y="4671700"/>
            <a:ext cx="659825" cy="53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/>
        </p:nvSpPr>
        <p:spPr>
          <a:xfrm>
            <a:off x="461600" y="661050"/>
            <a:ext cx="2866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>
                <a:solidFill>
                  <a:srgbClr val="CC33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Choisissons</a:t>
            </a:r>
            <a:r>
              <a:rPr b="0" i="0" lang="en" sz="1700" u="none" cap="none" strike="noStrike">
                <a:solidFill>
                  <a:srgbClr val="CC33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K = 5</a:t>
            </a:r>
            <a:endParaRPr b="0" i="0" sz="1700" u="none" cap="none" strike="noStrike">
              <a:solidFill>
                <a:srgbClr val="CC33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08" name="Google Shape;208;p33"/>
          <p:cNvSpPr txBox="1"/>
          <p:nvPr>
            <p:ph type="title"/>
          </p:nvPr>
        </p:nvSpPr>
        <p:spPr>
          <a:xfrm>
            <a:off x="3637000" y="33375"/>
            <a:ext cx="2187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7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Intuition</a:t>
            </a:r>
            <a:endParaRPr sz="1800">
              <a:solidFill>
                <a:srgbClr val="006FC0"/>
              </a:solidFill>
            </a:endParaRPr>
          </a:p>
        </p:txBody>
      </p:sp>
      <p:pic>
        <p:nvPicPr>
          <p:cNvPr id="209" name="Google Shape;20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21125"/>
            <a:ext cx="9073152" cy="40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8738" y="76188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3637000" y="33375"/>
            <a:ext cx="2187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7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Intuition</a:t>
            </a:r>
            <a:endParaRPr sz="1800">
              <a:solidFill>
                <a:srgbClr val="006FC0"/>
              </a:solidFill>
            </a:endParaRPr>
          </a:p>
        </p:txBody>
      </p:sp>
      <p:pic>
        <p:nvPicPr>
          <p:cNvPr id="217" name="Google Shape;21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25525"/>
            <a:ext cx="9144001" cy="4041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8738" y="76188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3637000" y="33375"/>
            <a:ext cx="2187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7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Intuition</a:t>
            </a:r>
            <a:endParaRPr sz="1800">
              <a:solidFill>
                <a:srgbClr val="006FC0"/>
              </a:solidFill>
            </a:endParaRPr>
          </a:p>
        </p:txBody>
      </p:sp>
      <p:pic>
        <p:nvPicPr>
          <p:cNvPr id="225" name="Google Shape;2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36750"/>
            <a:ext cx="9144000" cy="4106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8738" y="76188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1991450" y="33375"/>
            <a:ext cx="55524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5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KNN, Comment il fonctionne ? </a:t>
            </a:r>
            <a:endParaRPr sz="1600">
              <a:solidFill>
                <a:srgbClr val="006FC0"/>
              </a:solidFill>
            </a:endParaRPr>
          </a:p>
        </p:txBody>
      </p:sp>
      <p:sp>
        <p:nvSpPr>
          <p:cNvPr id="233" name="Google Shape;233;p36"/>
          <p:cNvSpPr txBox="1"/>
          <p:nvPr/>
        </p:nvSpPr>
        <p:spPr>
          <a:xfrm>
            <a:off x="79125" y="785450"/>
            <a:ext cx="87939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alatino Linotype"/>
              <a:buChar char="●"/>
            </a:pPr>
            <a:r>
              <a:rPr lang="en" sz="15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Prend des points étiquetés et les utilise pour prédire les étiquettes d'autres points.</a:t>
            </a:r>
            <a:endParaRPr sz="15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alatino Linotype"/>
              <a:buChar char="●"/>
            </a:pPr>
            <a:r>
              <a:rPr lang="en" sz="15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Classer un cas en fonction de sa similarité avec d'autres cas</a:t>
            </a:r>
            <a:endParaRPr sz="15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alatino Linotype"/>
              <a:buChar char="●"/>
            </a:pPr>
            <a:r>
              <a:rPr lang="en" sz="15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Dans la méthode KNN, les points proches les uns des autres sont appelés « voisins ».</a:t>
            </a:r>
            <a:endParaRPr sz="15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alatino Linotype"/>
              <a:buChar char="●"/>
            </a:pPr>
            <a:r>
              <a:rPr lang="en" sz="15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KNN est basé sur ce paradigme : les cas similaires ayant la même étiquette sont voisins. En effet, la distance entre deux cas est la mesure de leurs dissimilarité. </a:t>
            </a:r>
            <a:endParaRPr sz="15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sng" cap="none" strike="noStrike">
                <a:solidFill>
                  <a:srgbClr val="0000FF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KNN Pseudo code:</a:t>
            </a:r>
            <a:endParaRPr b="1" i="0" sz="1600" u="sng" cap="none" strike="noStrike">
              <a:solidFill>
                <a:srgbClr val="0000FF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    </a:t>
            </a:r>
            <a:r>
              <a:rPr lang="en" sz="15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1- Choisir la valeur de K</a:t>
            </a:r>
            <a:endParaRPr sz="15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2- Calculer la distance de nouveau cas par rapport à tous les cas de jeu de données.</a:t>
            </a:r>
            <a:endParaRPr sz="15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3- Chercher les K observations dans le jeu de données </a:t>
            </a:r>
            <a:r>
              <a:rPr lang="en" sz="15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q</a:t>
            </a:r>
            <a:r>
              <a:rPr lang="en" sz="15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ui sont proches du nouveau cas.</a:t>
            </a:r>
            <a:endParaRPr sz="15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4- Prédire la classe du nouveau cas en utilisant la vote</a:t>
            </a:r>
            <a:endParaRPr sz="15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34" name="Google Shape;23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738" y="76188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7"/>
          <p:cNvSpPr txBox="1"/>
          <p:nvPr>
            <p:ph type="title"/>
          </p:nvPr>
        </p:nvSpPr>
        <p:spPr>
          <a:xfrm>
            <a:off x="3357200" y="33375"/>
            <a:ext cx="2571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500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Problematique ? 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539250" y="1471250"/>
            <a:ext cx="5037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Comment calculer la distance ?</a:t>
            </a:r>
            <a:endParaRPr b="1" sz="20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Comment choisir la valeur de K?</a:t>
            </a:r>
            <a:endParaRPr b="1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42" name="Google Shape;242;p37" title="Cute Emoji GIF (fourni par Tenor)"/>
          <p:cNvPicPr preferRelativeResize="0"/>
          <p:nvPr/>
        </p:nvPicPr>
        <p:blipFill rotWithShape="1">
          <a:blip r:embed="rId3">
            <a:alphaModFix/>
          </a:blip>
          <a:srcRect b="-2648" l="0" r="0" t="2649"/>
          <a:stretch/>
        </p:blipFill>
        <p:spPr>
          <a:xfrm>
            <a:off x="5175175" y="1361775"/>
            <a:ext cx="2257250" cy="219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8738" y="76188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idx="2" type="title"/>
          </p:nvPr>
        </p:nvSpPr>
        <p:spPr>
          <a:xfrm>
            <a:off x="1047475" y="714674"/>
            <a:ext cx="24303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Distance euclidienne</a:t>
            </a:r>
            <a:endParaRPr/>
          </a:p>
        </p:txBody>
      </p:sp>
      <p:pic>
        <p:nvPicPr>
          <p:cNvPr id="250" name="Google Shape;25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0000" y="1311525"/>
            <a:ext cx="7517698" cy="367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8"/>
          <p:cNvSpPr txBox="1"/>
          <p:nvPr>
            <p:ph type="title"/>
          </p:nvPr>
        </p:nvSpPr>
        <p:spPr>
          <a:xfrm>
            <a:off x="2796650" y="33375"/>
            <a:ext cx="39852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1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Comment calculer la</a:t>
            </a:r>
            <a:r>
              <a:rPr b="1" lang="en" sz="21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distance?</a:t>
            </a:r>
            <a:r>
              <a:rPr b="1" lang="en" sz="28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</a:t>
            </a:r>
            <a:endParaRPr b="1" sz="1900">
              <a:solidFill>
                <a:srgbClr val="006FC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type="title"/>
          </p:nvPr>
        </p:nvSpPr>
        <p:spPr>
          <a:xfrm>
            <a:off x="2905850" y="33375"/>
            <a:ext cx="3495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Comment choisir</a:t>
            </a:r>
            <a:r>
              <a:rPr b="1" lang="en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K ?</a:t>
            </a:r>
            <a:r>
              <a:rPr b="1" lang="en" sz="25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</a:t>
            </a:r>
            <a:endParaRPr sz="1600">
              <a:solidFill>
                <a:srgbClr val="006FC0"/>
              </a:solidFill>
            </a:endParaRPr>
          </a:p>
        </p:txBody>
      </p:sp>
      <p:pic>
        <p:nvPicPr>
          <p:cNvPr id="257" name="Google Shape;25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738" y="76188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9"/>
          <p:cNvSpPr txBox="1"/>
          <p:nvPr/>
        </p:nvSpPr>
        <p:spPr>
          <a:xfrm>
            <a:off x="383925" y="979525"/>
            <a:ext cx="81804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Si K est trop petit, le modèle sera sensible aux points de bruit.</a:t>
            </a:r>
            <a:endParaRPr sz="18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Un K plus grand fonctionne bien. Mais un K trop grand peut inclure des points majoritaires des autres classes.</a:t>
            </a:r>
            <a:endParaRPr sz="18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La règle empirique est K &lt; sqrt(n), n est le nombre d’exemples (échantillons).</a:t>
            </a:r>
            <a:endParaRPr sz="18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2905850" y="33375"/>
            <a:ext cx="3495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Comment choisir K ?</a:t>
            </a:r>
            <a:r>
              <a:rPr b="1" lang="en" sz="2500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</a:t>
            </a:r>
            <a:endParaRPr b="1">
              <a:solidFill>
                <a:srgbClr val="006FC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65" name="Google Shape;26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738" y="76188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1038213"/>
            <a:ext cx="8839199" cy="339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0"/>
          <p:cNvSpPr/>
          <p:nvPr/>
        </p:nvSpPr>
        <p:spPr>
          <a:xfrm>
            <a:off x="266300" y="1214775"/>
            <a:ext cx="4576800" cy="3014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40"/>
          <p:cNvSpPr txBox="1"/>
          <p:nvPr/>
        </p:nvSpPr>
        <p:spPr>
          <a:xfrm>
            <a:off x="190025" y="1265550"/>
            <a:ext cx="4576800" cy="3170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Expérimentez avec différentes valeurs k en utilisant des techniques telles que :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■ Recherche de grille : exécutez une recherche de grille, en testant n_neighbors sur la plage définie.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■ La méthode du coude pour sélectionner le k qui maximise les performances du modèle.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>
            <p:ph type="title"/>
          </p:nvPr>
        </p:nvSpPr>
        <p:spPr>
          <a:xfrm>
            <a:off x="2905850" y="33375"/>
            <a:ext cx="3495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Advantages de KNN</a:t>
            </a:r>
            <a:endParaRPr sz="1600">
              <a:solidFill>
                <a:srgbClr val="006FC0"/>
              </a:solidFill>
            </a:endParaRPr>
          </a:p>
        </p:txBody>
      </p:sp>
      <p:pic>
        <p:nvPicPr>
          <p:cNvPr id="275" name="Google Shape;27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738" y="76188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1"/>
          <p:cNvSpPr txBox="1"/>
          <p:nvPr/>
        </p:nvSpPr>
        <p:spPr>
          <a:xfrm>
            <a:off x="370525" y="837800"/>
            <a:ext cx="8298000" cy="4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Simplicité et facilité d'utilisation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Efficace pour les données non linéaires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Interprétabilité : possibilité de voir quels points de données ont influencé la prédiction d'un nouveau point de données en examinant les k voisins les plus proches. Cela peut être utile pour comprendre le processus de prise de décision du modèle.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Rapide à installer et à utiliser (pas de phase de formation).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Polyvalence : KNN peut être utilisé à la fois pour des tâches de classification et de régression... etc.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3F4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 txBox="1"/>
          <p:nvPr>
            <p:ph type="title"/>
          </p:nvPr>
        </p:nvSpPr>
        <p:spPr>
          <a:xfrm>
            <a:off x="2905850" y="33375"/>
            <a:ext cx="34950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Limitations de</a:t>
            </a:r>
            <a:r>
              <a:rPr b="1" lang="en">
                <a:solidFill>
                  <a:srgbClr val="006F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KNN</a:t>
            </a:r>
            <a:endParaRPr sz="1600">
              <a:solidFill>
                <a:srgbClr val="006FC0"/>
              </a:solidFill>
            </a:endParaRPr>
          </a:p>
        </p:txBody>
      </p:sp>
      <p:pic>
        <p:nvPicPr>
          <p:cNvPr id="283" name="Google Shape;28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738" y="76188"/>
            <a:ext cx="15716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6200"/>
            <a:ext cx="723900" cy="57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2"/>
          <p:cNvSpPr txBox="1"/>
          <p:nvPr/>
        </p:nvSpPr>
        <p:spPr>
          <a:xfrm>
            <a:off x="254250" y="817775"/>
            <a:ext cx="8426400" cy="43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Coût de calcul : trouver les voisins les plus proches pour chaque prédiction peut être coûteux en termes de calcul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Stockage des données : KNN nécessite le stockage de l'intégralité des données de formation pour la prédiction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Sensible aux fonctionnalités non pertinentes : les fonctionnalités non pertinentes peuvent fausser les calculs de distance et amener l'algorithme à identifier des voisins les plus proches trompeurs.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Sensible au bruit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• Le choix de K est crucial.</a:t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yber Security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1F1C51"/>
      </a:accent1>
      <a:accent2>
        <a:srgbClr val="ACFFD9"/>
      </a:accent2>
      <a:accent3>
        <a:srgbClr val="C6FF00"/>
      </a:accent3>
      <a:accent4>
        <a:srgbClr val="FFFFFF"/>
      </a:accent4>
      <a:accent5>
        <a:srgbClr val="A8C987"/>
      </a:accent5>
      <a:accent6>
        <a:srgbClr val="8BE3FF"/>
      </a:accent6>
      <a:hlink>
        <a:srgbClr val="1F1C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