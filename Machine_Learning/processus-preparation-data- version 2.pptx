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0" r:id="rId2"/>
    <p:sldId id="260" r:id="rId3"/>
    <p:sldId id="287" r:id="rId4"/>
    <p:sldId id="289" r:id="rId5"/>
    <p:sldId id="268" r:id="rId6"/>
    <p:sldId id="290" r:id="rId7"/>
    <p:sldId id="295" r:id="rId8"/>
    <p:sldId id="296" r:id="rId9"/>
    <p:sldId id="270" r:id="rId10"/>
    <p:sldId id="297" r:id="rId11"/>
    <p:sldId id="299" r:id="rId12"/>
    <p:sldId id="298" r:id="rId13"/>
    <p:sldId id="275" r:id="rId14"/>
    <p:sldId id="281" r:id="rId15"/>
    <p:sldId id="282" r:id="rId16"/>
    <p:sldId id="293" r:id="rId17"/>
    <p:sldId id="300" r:id="rId18"/>
    <p:sldId id="302" r:id="rId19"/>
    <p:sldId id="301" r:id="rId20"/>
    <p:sldId id="278" r:id="rId21"/>
    <p:sldId id="277" r:id="rId22"/>
    <p:sldId id="273" r:id="rId23"/>
    <p:sldId id="283" r:id="rId24"/>
    <p:sldId id="292" r:id="rId25"/>
    <p:sldId id="279" r:id="rId26"/>
    <p:sldId id="286" r:id="rId27"/>
    <p:sldId id="2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F2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772" autoAdjust="0"/>
  </p:normalViewPr>
  <p:slideViewPr>
    <p:cSldViewPr snapToGrid="0">
      <p:cViewPr varScale="1">
        <p:scale>
          <a:sx n="64" d="100"/>
          <a:sy n="64" d="100"/>
        </p:scale>
        <p:origin x="581"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52C73C-DDF6-4AEB-A481-800FA8DB2A2D}" type="datetimeFigureOut">
              <a:rPr lang="en-ZA" smtClean="0"/>
              <a:t>2024/09/16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C27DE-3FFF-4BA6-82F2-9EF523BF3D49}" type="slidenum">
              <a:rPr lang="en-ZA" smtClean="0"/>
              <a:t>‹#›</a:t>
            </a:fld>
            <a:endParaRPr lang="en-ZA"/>
          </a:p>
        </p:txBody>
      </p:sp>
    </p:spTree>
    <p:extLst>
      <p:ext uri="{BB962C8B-B14F-4D97-AF65-F5344CB8AC3E}">
        <p14:creationId xmlns:p14="http://schemas.microsoft.com/office/powerpoint/2010/main" val="1269978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effectLst/>
                <a:latin typeface="Times New Roman" panose="02020603050405020304" pitchFamily="18" charset="0"/>
                <a:cs typeface="Times New Roman" panose="02020603050405020304" pitchFamily="18" charset="0"/>
              </a:rPr>
              <a:t>Lors de la préparation des données pour un projet de machine learning, les activités de la préparation des données  courantes incluent :</a:t>
            </a:r>
          </a:p>
          <a:p>
            <a:endParaRPr lang="en-ZA" dirty="0"/>
          </a:p>
        </p:txBody>
      </p:sp>
      <p:sp>
        <p:nvSpPr>
          <p:cNvPr id="4" name="Slide Number Placeholder 3"/>
          <p:cNvSpPr>
            <a:spLocks noGrp="1"/>
          </p:cNvSpPr>
          <p:nvPr>
            <p:ph type="sldNum" sz="quarter" idx="5"/>
          </p:nvPr>
        </p:nvSpPr>
        <p:spPr/>
        <p:txBody>
          <a:bodyPr/>
          <a:lstStyle/>
          <a:p>
            <a:fld id="{2D0C27DE-3FFF-4BA6-82F2-9EF523BF3D49}" type="slidenum">
              <a:rPr lang="en-ZA" smtClean="0"/>
              <a:t>5</a:t>
            </a:fld>
            <a:endParaRPr lang="en-ZA"/>
          </a:p>
        </p:txBody>
      </p:sp>
    </p:spTree>
    <p:extLst>
      <p:ext uri="{BB962C8B-B14F-4D97-AF65-F5344CB8AC3E}">
        <p14:creationId xmlns:p14="http://schemas.microsoft.com/office/powerpoint/2010/main" val="196200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2D0C27DE-3FFF-4BA6-82F2-9EF523BF3D49}" type="slidenum">
              <a:rPr lang="en-ZA" smtClean="0"/>
              <a:t>13</a:t>
            </a:fld>
            <a:endParaRPr lang="en-ZA"/>
          </a:p>
        </p:txBody>
      </p:sp>
    </p:spTree>
    <p:extLst>
      <p:ext uri="{BB962C8B-B14F-4D97-AF65-F5344CB8AC3E}">
        <p14:creationId xmlns:p14="http://schemas.microsoft.com/office/powerpoint/2010/main" val="3536863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45478-543D-F93D-2BDB-50DE3D380E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2DECD17E-14A1-A227-5828-610BE33336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6AE2B3FE-A822-96BE-E0AA-4871ABD76330}"/>
              </a:ext>
            </a:extLst>
          </p:cNvPr>
          <p:cNvSpPr>
            <a:spLocks noGrp="1"/>
          </p:cNvSpPr>
          <p:nvPr>
            <p:ph type="dt" sz="half" idx="10"/>
          </p:nvPr>
        </p:nvSpPr>
        <p:spPr/>
        <p:txBody>
          <a:bodyPr/>
          <a:lstStyle/>
          <a:p>
            <a:fld id="{AC9DE71B-FE1F-4C52-953B-44E4FEDCC68C}" type="datetime1">
              <a:rPr lang="en-ZA" smtClean="0"/>
              <a:t>2024/09/16</a:t>
            </a:fld>
            <a:endParaRPr lang="en-ZA"/>
          </a:p>
        </p:txBody>
      </p:sp>
      <p:sp>
        <p:nvSpPr>
          <p:cNvPr id="5" name="Footer Placeholder 4">
            <a:extLst>
              <a:ext uri="{FF2B5EF4-FFF2-40B4-BE49-F238E27FC236}">
                <a16:creationId xmlns:a16="http://schemas.microsoft.com/office/drawing/2014/main" id="{E7D7244E-4691-8792-2818-4B189E15C78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1B50474-77DA-4AC4-083E-2608C9EEF2F4}"/>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3799981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FCA7-FA1F-412C-674F-163BAB6AA11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4EE29C35-E771-AAF9-EC43-F8EE10B1BD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060E6FF-D707-7790-FEFC-4FCD2A3D1CF5}"/>
              </a:ext>
            </a:extLst>
          </p:cNvPr>
          <p:cNvSpPr>
            <a:spLocks noGrp="1"/>
          </p:cNvSpPr>
          <p:nvPr>
            <p:ph type="dt" sz="half" idx="10"/>
          </p:nvPr>
        </p:nvSpPr>
        <p:spPr/>
        <p:txBody>
          <a:bodyPr/>
          <a:lstStyle/>
          <a:p>
            <a:fld id="{094A6573-79F6-4A79-BB4D-4C8B8B9FC893}" type="datetime1">
              <a:rPr lang="en-ZA" smtClean="0"/>
              <a:t>2024/09/16</a:t>
            </a:fld>
            <a:endParaRPr lang="en-ZA"/>
          </a:p>
        </p:txBody>
      </p:sp>
      <p:sp>
        <p:nvSpPr>
          <p:cNvPr id="5" name="Footer Placeholder 4">
            <a:extLst>
              <a:ext uri="{FF2B5EF4-FFF2-40B4-BE49-F238E27FC236}">
                <a16:creationId xmlns:a16="http://schemas.microsoft.com/office/drawing/2014/main" id="{B2C7C661-9D52-6F77-56FC-BA74106D127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B2EB133-DD47-3262-41FB-6CFDCD6C2690}"/>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806364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3CF5-B5DA-C836-577A-2B68851B75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976BF13-FBD0-2373-4BB9-0791160D1E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4CC9D1-3748-4111-444C-C3972EE2FDDA}"/>
              </a:ext>
            </a:extLst>
          </p:cNvPr>
          <p:cNvSpPr>
            <a:spLocks noGrp="1"/>
          </p:cNvSpPr>
          <p:nvPr>
            <p:ph type="dt" sz="half" idx="10"/>
          </p:nvPr>
        </p:nvSpPr>
        <p:spPr/>
        <p:txBody>
          <a:bodyPr/>
          <a:lstStyle/>
          <a:p>
            <a:fld id="{309ECB8C-997A-4406-A512-6704BF6B4442}" type="datetime1">
              <a:rPr lang="en-ZA" smtClean="0"/>
              <a:t>2024/09/16</a:t>
            </a:fld>
            <a:endParaRPr lang="en-ZA"/>
          </a:p>
        </p:txBody>
      </p:sp>
      <p:sp>
        <p:nvSpPr>
          <p:cNvPr id="5" name="Footer Placeholder 4">
            <a:extLst>
              <a:ext uri="{FF2B5EF4-FFF2-40B4-BE49-F238E27FC236}">
                <a16:creationId xmlns:a16="http://schemas.microsoft.com/office/drawing/2014/main" id="{BA57A277-70EC-CA30-EB45-1ED5CBEFE68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E861BE9-3035-4D89-4A26-E23C7EF33A5A}"/>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433272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7BC44-AF14-4C49-85F5-2A2551123FC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B149D17-B4AC-6798-3983-CCCA531E9F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4300F0B6-00FE-C7E9-E78F-8BCBBD3EF7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7E311A3-8C32-C7AC-12AA-3D7BF765E64C}"/>
              </a:ext>
            </a:extLst>
          </p:cNvPr>
          <p:cNvSpPr>
            <a:spLocks noGrp="1"/>
          </p:cNvSpPr>
          <p:nvPr>
            <p:ph type="dt" sz="half" idx="10"/>
          </p:nvPr>
        </p:nvSpPr>
        <p:spPr/>
        <p:txBody>
          <a:bodyPr/>
          <a:lstStyle/>
          <a:p>
            <a:fld id="{AD40F55B-4ABF-497A-994A-EA50A204AE10}" type="datetime1">
              <a:rPr lang="en-ZA" smtClean="0"/>
              <a:t>2024/09/16</a:t>
            </a:fld>
            <a:endParaRPr lang="en-ZA"/>
          </a:p>
        </p:txBody>
      </p:sp>
      <p:sp>
        <p:nvSpPr>
          <p:cNvPr id="6" name="Footer Placeholder 5">
            <a:extLst>
              <a:ext uri="{FF2B5EF4-FFF2-40B4-BE49-F238E27FC236}">
                <a16:creationId xmlns:a16="http://schemas.microsoft.com/office/drawing/2014/main" id="{DD85417E-3280-DFEF-03EF-C421D4EC1D2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26667A9-0269-DB9B-C6A1-A44645B127B8}"/>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339406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E92D2-BD94-6972-D985-63E002272D82}"/>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1BDF7D3-673F-65DC-07AB-E32F79B94D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C22163-C904-69E5-BC49-CFED7F8F21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96694D55-4245-7098-392E-5999B2BE7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5A729F-5EEF-EB9A-5818-D30DD0C9F5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2E0DCFE-A223-E595-0BBD-87DAEA9DBC3A}"/>
              </a:ext>
            </a:extLst>
          </p:cNvPr>
          <p:cNvSpPr>
            <a:spLocks noGrp="1"/>
          </p:cNvSpPr>
          <p:nvPr>
            <p:ph type="dt" sz="half" idx="10"/>
          </p:nvPr>
        </p:nvSpPr>
        <p:spPr/>
        <p:txBody>
          <a:bodyPr/>
          <a:lstStyle/>
          <a:p>
            <a:fld id="{BE814E8E-03AA-4871-86C2-8015877B35CE}" type="datetime1">
              <a:rPr lang="en-ZA" smtClean="0"/>
              <a:t>2024/09/16</a:t>
            </a:fld>
            <a:endParaRPr lang="en-ZA"/>
          </a:p>
        </p:txBody>
      </p:sp>
      <p:sp>
        <p:nvSpPr>
          <p:cNvPr id="8" name="Footer Placeholder 7">
            <a:extLst>
              <a:ext uri="{FF2B5EF4-FFF2-40B4-BE49-F238E27FC236}">
                <a16:creationId xmlns:a16="http://schemas.microsoft.com/office/drawing/2014/main" id="{787D9A32-C437-7A5A-D8FF-DA80DFDC01D3}"/>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12241AC-B4A0-860E-3C33-2D7C44C2D872}"/>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3164817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E3E8B-951C-D990-D36E-AD735A370816}"/>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48F33396-F891-D8B0-0FD2-AB9313804738}"/>
              </a:ext>
            </a:extLst>
          </p:cNvPr>
          <p:cNvSpPr>
            <a:spLocks noGrp="1"/>
          </p:cNvSpPr>
          <p:nvPr>
            <p:ph type="dt" sz="half" idx="10"/>
          </p:nvPr>
        </p:nvSpPr>
        <p:spPr/>
        <p:txBody>
          <a:bodyPr/>
          <a:lstStyle/>
          <a:p>
            <a:fld id="{8216154B-41B8-4F83-BF98-9DEA95BEDAB7}" type="datetime1">
              <a:rPr lang="en-ZA" smtClean="0"/>
              <a:t>2024/09/16</a:t>
            </a:fld>
            <a:endParaRPr lang="en-ZA"/>
          </a:p>
        </p:txBody>
      </p:sp>
      <p:sp>
        <p:nvSpPr>
          <p:cNvPr id="4" name="Footer Placeholder 3">
            <a:extLst>
              <a:ext uri="{FF2B5EF4-FFF2-40B4-BE49-F238E27FC236}">
                <a16:creationId xmlns:a16="http://schemas.microsoft.com/office/drawing/2014/main" id="{37ADC721-2AEC-C7B7-8FA8-AD291D76EF9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99D208F8-4894-F84C-06CE-195B234DD3FF}"/>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3266451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3ACDF0-236F-696F-69D4-4D071A536B0B}"/>
              </a:ext>
            </a:extLst>
          </p:cNvPr>
          <p:cNvSpPr>
            <a:spLocks noGrp="1"/>
          </p:cNvSpPr>
          <p:nvPr>
            <p:ph type="dt" sz="half" idx="10"/>
          </p:nvPr>
        </p:nvSpPr>
        <p:spPr/>
        <p:txBody>
          <a:bodyPr/>
          <a:lstStyle/>
          <a:p>
            <a:fld id="{DA4D3F4E-9D33-4E4E-B349-8FB3570C5A89}" type="datetime1">
              <a:rPr lang="en-ZA" smtClean="0"/>
              <a:t>2024/09/16</a:t>
            </a:fld>
            <a:endParaRPr lang="en-ZA"/>
          </a:p>
        </p:txBody>
      </p:sp>
      <p:sp>
        <p:nvSpPr>
          <p:cNvPr id="3" name="Footer Placeholder 2">
            <a:extLst>
              <a:ext uri="{FF2B5EF4-FFF2-40B4-BE49-F238E27FC236}">
                <a16:creationId xmlns:a16="http://schemas.microsoft.com/office/drawing/2014/main" id="{F6CC65B9-7390-E395-209F-39DADAA5FA1A}"/>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07E96AA-D965-9D35-4996-2B3BBB5050FA}"/>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268633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6451-0073-7553-8715-61B83587DC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455B095F-BC82-277B-DF37-C5EDB7BBC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057AF33D-2293-3843-2D4E-5FD106A16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7DA1D5-DBCD-50A4-A18C-5A233A70E8CE}"/>
              </a:ext>
            </a:extLst>
          </p:cNvPr>
          <p:cNvSpPr>
            <a:spLocks noGrp="1"/>
          </p:cNvSpPr>
          <p:nvPr>
            <p:ph type="dt" sz="half" idx="10"/>
          </p:nvPr>
        </p:nvSpPr>
        <p:spPr/>
        <p:txBody>
          <a:bodyPr/>
          <a:lstStyle/>
          <a:p>
            <a:fld id="{7E71E12A-6B02-415A-9DDC-E77F30534343}" type="datetime1">
              <a:rPr lang="en-ZA" smtClean="0"/>
              <a:t>2024/09/16</a:t>
            </a:fld>
            <a:endParaRPr lang="en-ZA"/>
          </a:p>
        </p:txBody>
      </p:sp>
      <p:sp>
        <p:nvSpPr>
          <p:cNvPr id="6" name="Footer Placeholder 5">
            <a:extLst>
              <a:ext uri="{FF2B5EF4-FFF2-40B4-BE49-F238E27FC236}">
                <a16:creationId xmlns:a16="http://schemas.microsoft.com/office/drawing/2014/main" id="{34FDA7AD-E2F9-FC4D-D337-458B670C470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ADF5688-4FE4-0F64-6415-5B7D35615B28}"/>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1550087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AC24-B61D-069E-963C-CFE6FE4DB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EA53739-FBBE-7AE0-9D57-D810C77D9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2D31639A-C1C1-DE5B-27C2-C48D525ABC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8C984-635F-F858-6F3A-7FA35DAA8CB5}"/>
              </a:ext>
            </a:extLst>
          </p:cNvPr>
          <p:cNvSpPr>
            <a:spLocks noGrp="1"/>
          </p:cNvSpPr>
          <p:nvPr>
            <p:ph type="dt" sz="half" idx="10"/>
          </p:nvPr>
        </p:nvSpPr>
        <p:spPr/>
        <p:txBody>
          <a:bodyPr/>
          <a:lstStyle/>
          <a:p>
            <a:fld id="{BE25E7FB-77F4-4FDB-8775-6F5C43EFEB95}" type="datetime1">
              <a:rPr lang="en-ZA" smtClean="0"/>
              <a:t>2024/09/16</a:t>
            </a:fld>
            <a:endParaRPr lang="en-ZA"/>
          </a:p>
        </p:txBody>
      </p:sp>
      <p:sp>
        <p:nvSpPr>
          <p:cNvPr id="6" name="Footer Placeholder 5">
            <a:extLst>
              <a:ext uri="{FF2B5EF4-FFF2-40B4-BE49-F238E27FC236}">
                <a16:creationId xmlns:a16="http://schemas.microsoft.com/office/drawing/2014/main" id="{DFEDE2CA-16C7-C8A8-FBF4-86BA901C813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EEE81D9-ED0A-C7DF-6D36-96B37E4BD6B5}"/>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3338924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8FCF4-B0A5-F53E-3074-488BB87AC960}"/>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C217C492-372D-7D94-E594-F3384C202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A764951-3B7F-531A-E0F5-FF5BBE280722}"/>
              </a:ext>
            </a:extLst>
          </p:cNvPr>
          <p:cNvSpPr>
            <a:spLocks noGrp="1"/>
          </p:cNvSpPr>
          <p:nvPr>
            <p:ph type="dt" sz="half" idx="10"/>
          </p:nvPr>
        </p:nvSpPr>
        <p:spPr/>
        <p:txBody>
          <a:bodyPr/>
          <a:lstStyle/>
          <a:p>
            <a:fld id="{84D70737-AA44-4D63-8078-E1D0834FFC48}" type="datetime1">
              <a:rPr lang="en-ZA" smtClean="0"/>
              <a:t>2024/09/16</a:t>
            </a:fld>
            <a:endParaRPr lang="en-ZA"/>
          </a:p>
        </p:txBody>
      </p:sp>
      <p:sp>
        <p:nvSpPr>
          <p:cNvPr id="5" name="Footer Placeholder 4">
            <a:extLst>
              <a:ext uri="{FF2B5EF4-FFF2-40B4-BE49-F238E27FC236}">
                <a16:creationId xmlns:a16="http://schemas.microsoft.com/office/drawing/2014/main" id="{44239CE6-C3E5-138C-B55C-E7BE17C1634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B664EEC-9390-3197-BE9E-10F37F961D8D}"/>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2568000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3BD231-E39B-2475-8702-F71503F16B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13340443-22FA-4ED8-B761-C9C7925501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E79D316-0C67-FD5C-6557-063D587C09C3}"/>
              </a:ext>
            </a:extLst>
          </p:cNvPr>
          <p:cNvSpPr>
            <a:spLocks noGrp="1"/>
          </p:cNvSpPr>
          <p:nvPr>
            <p:ph type="dt" sz="half" idx="10"/>
          </p:nvPr>
        </p:nvSpPr>
        <p:spPr/>
        <p:txBody>
          <a:bodyPr/>
          <a:lstStyle/>
          <a:p>
            <a:fld id="{02F8CE0B-D43E-4DB8-A7CD-6479F87C4A59}" type="datetime1">
              <a:rPr lang="en-ZA" smtClean="0"/>
              <a:t>2024/09/16</a:t>
            </a:fld>
            <a:endParaRPr lang="en-ZA"/>
          </a:p>
        </p:txBody>
      </p:sp>
      <p:sp>
        <p:nvSpPr>
          <p:cNvPr id="5" name="Footer Placeholder 4">
            <a:extLst>
              <a:ext uri="{FF2B5EF4-FFF2-40B4-BE49-F238E27FC236}">
                <a16:creationId xmlns:a16="http://schemas.microsoft.com/office/drawing/2014/main" id="{F6686494-6614-269E-14BE-64C747A14B8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2DCD9E6-6ED2-2249-C2F3-87881EF6B8AF}"/>
              </a:ext>
            </a:extLst>
          </p:cNvPr>
          <p:cNvSpPr>
            <a:spLocks noGrp="1"/>
          </p:cNvSpPr>
          <p:nvPr>
            <p:ph type="sldNum" sz="quarter" idx="12"/>
          </p:nvPr>
        </p:nvSpPr>
        <p:spPr/>
        <p:txBody>
          <a:bodyPr/>
          <a:lstStyle/>
          <a:p>
            <a:fld id="{62292133-B7B4-4876-B4EC-8D2F9BE1CBCE}" type="slidenum">
              <a:rPr lang="en-ZA" smtClean="0"/>
              <a:t>‹#›</a:t>
            </a:fld>
            <a:endParaRPr lang="en-ZA"/>
          </a:p>
        </p:txBody>
      </p:sp>
    </p:spTree>
    <p:extLst>
      <p:ext uri="{BB962C8B-B14F-4D97-AF65-F5344CB8AC3E}">
        <p14:creationId xmlns:p14="http://schemas.microsoft.com/office/powerpoint/2010/main" val="2632994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0B9DC6-276E-D193-68F0-E101287EE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A0D8B2B-475E-A504-9083-0A1BCD60FE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E9E630B-B5C0-9A07-C7A1-CBD7F30B4D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814DD8-EA2C-4829-AF38-35D2F43C3CA6}" type="datetime1">
              <a:rPr lang="en-ZA" smtClean="0"/>
              <a:t>2024/09/16</a:t>
            </a:fld>
            <a:endParaRPr lang="en-ZA"/>
          </a:p>
        </p:txBody>
      </p:sp>
      <p:sp>
        <p:nvSpPr>
          <p:cNvPr id="5" name="Footer Placeholder 4">
            <a:extLst>
              <a:ext uri="{FF2B5EF4-FFF2-40B4-BE49-F238E27FC236}">
                <a16:creationId xmlns:a16="http://schemas.microsoft.com/office/drawing/2014/main" id="{16262806-BE03-2555-FE26-19EDA0C7D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1D1F73D5-FF50-F195-BE30-1AFBEC0142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292133-B7B4-4876-B4EC-8D2F9BE1CBCE}" type="slidenum">
              <a:rPr lang="en-ZA" smtClean="0"/>
              <a:t>‹#›</a:t>
            </a:fld>
            <a:endParaRPr lang="en-ZA"/>
          </a:p>
        </p:txBody>
      </p:sp>
    </p:spTree>
    <p:extLst>
      <p:ext uri="{BB962C8B-B14F-4D97-AF65-F5344CB8AC3E}">
        <p14:creationId xmlns:p14="http://schemas.microsoft.com/office/powerpoint/2010/main" val="3829138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56;p27">
            <a:extLst>
              <a:ext uri="{FF2B5EF4-FFF2-40B4-BE49-F238E27FC236}">
                <a16:creationId xmlns:a16="http://schemas.microsoft.com/office/drawing/2014/main" id="{CF9844AE-7233-591C-1556-135901CAC8D3}"/>
              </a:ext>
            </a:extLst>
          </p:cNvPr>
          <p:cNvSpPr txBox="1"/>
          <p:nvPr/>
        </p:nvSpPr>
        <p:spPr>
          <a:xfrm>
            <a:off x="5676900" y="2982050"/>
            <a:ext cx="5738150" cy="180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100" b="1" dirty="0">
                <a:solidFill>
                  <a:schemeClr val="lt1"/>
                </a:solidFill>
                <a:latin typeface="DM Sans"/>
                <a:ea typeface="DM Sans"/>
                <a:cs typeface="DM Sans"/>
                <a:sym typeface="DM Sans"/>
              </a:rPr>
              <a:t>Processus de préparation des données </a:t>
            </a:r>
            <a:endParaRPr sz="2100" b="1" dirty="0">
              <a:solidFill>
                <a:schemeClr val="lt1"/>
              </a:solidFill>
              <a:latin typeface="DM Sans"/>
              <a:ea typeface="DM Sans"/>
              <a:cs typeface="DM Sans"/>
              <a:sym typeface="DM Sans"/>
            </a:endParaRPr>
          </a:p>
        </p:txBody>
      </p:sp>
      <p:pic>
        <p:nvPicPr>
          <p:cNvPr id="3" name="Picture 2" descr="A close-up of a logo&#10;&#10;Description automatically generated">
            <a:extLst>
              <a:ext uri="{FF2B5EF4-FFF2-40B4-BE49-F238E27FC236}">
                <a16:creationId xmlns:a16="http://schemas.microsoft.com/office/drawing/2014/main" id="{20E48644-2711-8A1F-F3B1-62AA3A14E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576" y="1"/>
            <a:ext cx="12501152" cy="6857998"/>
          </a:xfrm>
          <a:prstGeom prst="rect">
            <a:avLst/>
          </a:prstGeom>
        </p:spPr>
      </p:pic>
      <p:sp>
        <p:nvSpPr>
          <p:cNvPr id="2" name="Slide Number Placeholder 1">
            <a:extLst>
              <a:ext uri="{FF2B5EF4-FFF2-40B4-BE49-F238E27FC236}">
                <a16:creationId xmlns:a16="http://schemas.microsoft.com/office/drawing/2014/main" id="{F5B7DF21-0038-CF93-5C60-3EAE5B2134C1}"/>
              </a:ext>
            </a:extLst>
          </p:cNvPr>
          <p:cNvSpPr>
            <a:spLocks noGrp="1"/>
          </p:cNvSpPr>
          <p:nvPr>
            <p:ph type="sldNum" sz="quarter" idx="12"/>
          </p:nvPr>
        </p:nvSpPr>
        <p:spPr/>
        <p:txBody>
          <a:bodyPr/>
          <a:lstStyle/>
          <a:p>
            <a:fld id="{62292133-B7B4-4876-B4EC-8D2F9BE1CBCE}" type="slidenum">
              <a:rPr lang="en-ZA" smtClean="0"/>
              <a:t>1</a:t>
            </a:fld>
            <a:endParaRPr lang="en-ZA"/>
          </a:p>
        </p:txBody>
      </p:sp>
    </p:spTree>
    <p:extLst>
      <p:ext uri="{BB962C8B-B14F-4D97-AF65-F5344CB8AC3E}">
        <p14:creationId xmlns:p14="http://schemas.microsoft.com/office/powerpoint/2010/main" val="982039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26634"/>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88480F3A-DC7E-A00E-0634-AE3C835C8A58}"/>
              </a:ext>
            </a:extLst>
          </p:cNvPr>
          <p:cNvSpPr>
            <a:spLocks noGrp="1"/>
          </p:cNvSpPr>
          <p:nvPr>
            <p:ph type="title"/>
          </p:nvPr>
        </p:nvSpPr>
        <p:spPr>
          <a:xfrm>
            <a:off x="423296" y="214100"/>
            <a:ext cx="2921197" cy="603116"/>
          </a:xfrm>
        </p:spPr>
        <p:txBody>
          <a:bodyPr vert="horz" lIns="91440" tIns="45720" rIns="91440" bIns="45720" rtlCol="0" anchor="ctr">
            <a:normAutofit/>
          </a:bodyPr>
          <a:lstStyle/>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Plan</a:t>
            </a:r>
          </a:p>
        </p:txBody>
      </p:sp>
      <p:pic>
        <p:nvPicPr>
          <p:cNvPr id="10" name="Picture 9" descr="A white rectangular object with black text&#10;&#10;Description automatically generated">
            <a:extLst>
              <a:ext uri="{FF2B5EF4-FFF2-40B4-BE49-F238E27FC236}">
                <a16:creationId xmlns:a16="http://schemas.microsoft.com/office/drawing/2014/main" id="{D5D22403-FCC8-4884-B6B1-25F1B83AEB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2980" y="874643"/>
            <a:ext cx="6826040" cy="5570473"/>
          </a:xfrm>
          <a:prstGeom prst="rect">
            <a:avLst/>
          </a:prstGeom>
        </p:spPr>
      </p:pic>
      <p:pic>
        <p:nvPicPr>
          <p:cNvPr id="12" name="Picture 11" descr="A white background with black and red lines&#10;&#10;Description automatically generated with medium confidence">
            <a:extLst>
              <a:ext uri="{FF2B5EF4-FFF2-40B4-BE49-F238E27FC236}">
                <a16:creationId xmlns:a16="http://schemas.microsoft.com/office/drawing/2014/main" id="{5D00DF50-526A-E8C0-13B2-474945E7E3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3531" y="1847824"/>
            <a:ext cx="5459896" cy="3625323"/>
          </a:xfrm>
          <a:prstGeom prst="rect">
            <a:avLst/>
          </a:prstGeom>
        </p:spPr>
      </p:pic>
      <p:pic>
        <p:nvPicPr>
          <p:cNvPr id="15" name="Picture 14">
            <a:extLst>
              <a:ext uri="{FF2B5EF4-FFF2-40B4-BE49-F238E27FC236}">
                <a16:creationId xmlns:a16="http://schemas.microsoft.com/office/drawing/2014/main" id="{4980351B-AC2E-6DDF-3D28-21E7878EC83E}"/>
              </a:ext>
            </a:extLst>
          </p:cNvPr>
          <p:cNvPicPr>
            <a:picLocks noChangeAspect="1"/>
          </p:cNvPicPr>
          <p:nvPr/>
        </p:nvPicPr>
        <p:blipFill>
          <a:blip r:embed="rId5"/>
          <a:stretch>
            <a:fillRect/>
          </a:stretch>
        </p:blipFill>
        <p:spPr>
          <a:xfrm>
            <a:off x="5661117" y="3188779"/>
            <a:ext cx="869765" cy="480442"/>
          </a:xfrm>
          <a:prstGeom prst="rect">
            <a:avLst/>
          </a:prstGeom>
        </p:spPr>
      </p:pic>
      <p:sp>
        <p:nvSpPr>
          <p:cNvPr id="16" name="TextBox 15">
            <a:extLst>
              <a:ext uri="{FF2B5EF4-FFF2-40B4-BE49-F238E27FC236}">
                <a16:creationId xmlns:a16="http://schemas.microsoft.com/office/drawing/2014/main" id="{8727B886-1203-AA86-4C84-2CD09DD39631}"/>
              </a:ext>
            </a:extLst>
          </p:cNvPr>
          <p:cNvSpPr txBox="1"/>
          <p:nvPr/>
        </p:nvSpPr>
        <p:spPr>
          <a:xfrm>
            <a:off x="3653096" y="1226658"/>
            <a:ext cx="4885806" cy="4457952"/>
          </a:xfrm>
          <a:prstGeom prst="rect">
            <a:avLst/>
          </a:prstGeom>
          <a:noFill/>
        </p:spPr>
        <p:txBody>
          <a:bodyPr wrap="square" rtlCol="0">
            <a:spAutoFit/>
          </a:bodyPr>
          <a:lstStyle/>
          <a:p>
            <a:pPr algn="just">
              <a:lnSpc>
                <a:spcPct val="150000"/>
              </a:lnSpc>
            </a:pP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US" sz="2400" dirty="0">
                <a:latin typeface="Times New Roman" panose="02020603050405020304" pitchFamily="18" charset="0"/>
                <a:cs typeface="Times New Roman" panose="02020603050405020304" pitchFamily="18" charset="0"/>
              </a:rPr>
              <a:t>Introduction </a:t>
            </a:r>
          </a:p>
          <a:p>
            <a:pPr marL="342900" indent="-342900" algn="just">
              <a:lnSpc>
                <a:spcPct val="150000"/>
              </a:lnSpc>
              <a:buAutoNum type="arabicPeriod"/>
            </a:pPr>
            <a:r>
              <a:rPr lang="en-US" sz="2400" dirty="0">
                <a:latin typeface="Times New Roman" panose="02020603050405020304" pitchFamily="18" charset="0"/>
                <a:cs typeface="Times New Roman" panose="02020603050405020304" pitchFamily="18" charset="0"/>
              </a:rPr>
              <a:t>Les </a:t>
            </a:r>
            <a:r>
              <a:rPr lang="en-US" sz="2400" dirty="0" err="1">
                <a:latin typeface="Times New Roman" panose="02020603050405020304" pitchFamily="18" charset="0"/>
                <a:cs typeface="Times New Roman" panose="02020603050405020304" pitchFamily="18" charset="0"/>
              </a:rPr>
              <a:t>activités</a:t>
            </a:r>
            <a:r>
              <a:rPr lang="en-US" sz="2400" dirty="0">
                <a:latin typeface="Times New Roman" panose="02020603050405020304" pitchFamily="18" charset="0"/>
                <a:cs typeface="Times New Roman" panose="02020603050405020304" pitchFamily="18" charset="0"/>
              </a:rPr>
              <a:t> de la preparation</a:t>
            </a:r>
          </a:p>
          <a:p>
            <a:pPr marL="342900" indent="-342900" algn="just">
              <a:lnSpc>
                <a:spcPct val="150000"/>
              </a:lnSpc>
              <a:buAutoNum type="arabicPeriod"/>
            </a:pPr>
            <a:r>
              <a:rPr lang="fr-FR" sz="2400" dirty="0">
                <a:latin typeface="Times New Roman" panose="02020603050405020304" pitchFamily="18" charset="0"/>
                <a:cs typeface="Times New Roman" panose="02020603050405020304" pitchFamily="18" charset="0"/>
              </a:rPr>
              <a:t>Nettoyage des données </a:t>
            </a:r>
          </a:p>
          <a:p>
            <a:pPr marL="342900" indent="-342900" algn="just">
              <a:lnSpc>
                <a:spcPct val="150000"/>
              </a:lnSpc>
              <a:buFontTx/>
              <a:buAutoNum type="arabicPeriod"/>
            </a:pPr>
            <a:r>
              <a:rPr lang="en-ZA" sz="2400" dirty="0">
                <a:latin typeface="Times New Roman" panose="02020603050405020304" pitchFamily="18" charset="0"/>
                <a:cs typeface="Times New Roman" panose="02020603050405020304" pitchFamily="18" charset="0"/>
              </a:rPr>
              <a:t>Data Transformation</a:t>
            </a:r>
          </a:p>
          <a:p>
            <a:pPr marL="342900" indent="-342900" algn="just">
              <a:lnSpc>
                <a:spcPct val="150000"/>
              </a:lnSpc>
              <a:buFontTx/>
              <a:buAutoNum type="arabicPeriod"/>
            </a:pPr>
            <a:r>
              <a:rPr lang="en-ZA" sz="2400" dirty="0">
                <a:latin typeface="Times New Roman" panose="02020603050405020304" pitchFamily="18" charset="0"/>
                <a:cs typeface="Times New Roman" panose="02020603050405020304" pitchFamily="18" charset="0"/>
              </a:rPr>
              <a:t>Feature Selection</a:t>
            </a:r>
            <a:endParaRPr lang="fr-FR" sz="2400" dirty="0">
              <a:latin typeface="Times New Roman" panose="02020603050405020304" pitchFamily="18" charset="0"/>
              <a:cs typeface="Times New Roman" panose="02020603050405020304" pitchFamily="18" charset="0"/>
            </a:endParaRPr>
          </a:p>
          <a:p>
            <a:pPr marL="342900" indent="-342900" algn="just">
              <a:lnSpc>
                <a:spcPct val="150000"/>
              </a:lnSpc>
              <a:buFontTx/>
              <a:buAutoNum type="arabicPeriod"/>
            </a:pPr>
            <a:r>
              <a:rPr lang="en-ZA" sz="2400" dirty="0">
                <a:latin typeface="Times New Roman" panose="02020603050405020304" pitchFamily="18" charset="0"/>
                <a:cs typeface="Times New Roman" panose="02020603050405020304" pitchFamily="18" charset="0"/>
              </a:rPr>
              <a:t>Feature Engineering</a:t>
            </a:r>
          </a:p>
          <a:p>
            <a:pPr marL="342900" indent="-342900" algn="just">
              <a:lnSpc>
                <a:spcPct val="150000"/>
              </a:lnSpc>
              <a:buFontTx/>
              <a:buAutoNum type="arabicPeriod"/>
            </a:pPr>
            <a:r>
              <a:rPr lang="en-ZA" sz="2400" dirty="0" err="1">
                <a:latin typeface="Times New Roman" panose="02020603050405020304" pitchFamily="18" charset="0"/>
                <a:cs typeface="Times New Roman" panose="02020603050405020304" pitchFamily="18" charset="0"/>
              </a:rPr>
              <a:t>Réduction</a:t>
            </a:r>
            <a:r>
              <a:rPr lang="en-ZA" sz="2400" dirty="0">
                <a:latin typeface="Times New Roman" panose="02020603050405020304" pitchFamily="18" charset="0"/>
                <a:cs typeface="Times New Roman" panose="02020603050405020304" pitchFamily="18" charset="0"/>
              </a:rPr>
              <a:t> de </a:t>
            </a:r>
            <a:r>
              <a:rPr lang="en-ZA" sz="2400" dirty="0" err="1">
                <a:latin typeface="Times New Roman" panose="02020603050405020304" pitchFamily="18" charset="0"/>
                <a:cs typeface="Times New Roman" panose="02020603050405020304" pitchFamily="18" charset="0"/>
              </a:rPr>
              <a:t>dimesions</a:t>
            </a:r>
            <a:endParaRPr lang="en-ZA" sz="2400" dirty="0">
              <a:latin typeface="Times New Roman" panose="02020603050405020304" pitchFamily="18" charset="0"/>
              <a:cs typeface="Times New Roman" panose="02020603050405020304" pitchFamily="18" charset="0"/>
            </a:endParaRPr>
          </a:p>
        </p:txBody>
      </p:sp>
      <p:sp>
        <p:nvSpPr>
          <p:cNvPr id="17" name="Slide Number Placeholder 16">
            <a:extLst>
              <a:ext uri="{FF2B5EF4-FFF2-40B4-BE49-F238E27FC236}">
                <a16:creationId xmlns:a16="http://schemas.microsoft.com/office/drawing/2014/main" id="{8046B96A-6B30-F95A-B94F-516BC3567249}"/>
              </a:ext>
            </a:extLst>
          </p:cNvPr>
          <p:cNvSpPr>
            <a:spLocks noGrp="1"/>
          </p:cNvSpPr>
          <p:nvPr>
            <p:ph type="sldNum" sz="quarter" idx="12"/>
          </p:nvPr>
        </p:nvSpPr>
        <p:spPr/>
        <p:txBody>
          <a:bodyPr/>
          <a:lstStyle/>
          <a:p>
            <a:fld id="{62292133-B7B4-4876-B4EC-8D2F9BE1CBCE}" type="slidenum">
              <a:rPr lang="en-ZA" smtClean="0"/>
              <a:t>2</a:t>
            </a:fld>
            <a:endParaRPr lang="en-ZA"/>
          </a:p>
        </p:txBody>
      </p:sp>
    </p:spTree>
    <p:extLst>
      <p:ext uri="{BB962C8B-B14F-4D97-AF65-F5344CB8AC3E}">
        <p14:creationId xmlns:p14="http://schemas.microsoft.com/office/powerpoint/2010/main" val="1999728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1270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390233" y="257626"/>
            <a:ext cx="6102350" cy="535531"/>
          </a:xfrm>
          <a:prstGeom prst="rect">
            <a:avLst/>
          </a:prstGeom>
          <a:noFill/>
        </p:spPr>
        <p:txBody>
          <a:bodyPr wrap="square">
            <a:spAutoFit/>
          </a:bodyPr>
          <a:lstStyle/>
          <a:p>
            <a:pPr>
              <a:lnSpc>
                <a:spcPct val="90000"/>
              </a:lnSpc>
              <a:spcBef>
                <a:spcPct val="0"/>
              </a:spcBef>
            </a:pPr>
            <a:r>
              <a:rPr lang="en-ZA" sz="3200" b="1" dirty="0">
                <a:latin typeface="Times New Roman" panose="02020603050405020304" pitchFamily="18" charset="0"/>
                <a:ea typeface="+mj-ea"/>
                <a:cs typeface="Times New Roman" panose="02020603050405020304" pitchFamily="18" charset="0"/>
              </a:rPr>
              <a:t>Introduction (1/2)</a:t>
            </a:r>
          </a:p>
        </p:txBody>
      </p:sp>
      <p:sp>
        <p:nvSpPr>
          <p:cNvPr id="11" name="Slide Number Placeholder 10">
            <a:extLst>
              <a:ext uri="{FF2B5EF4-FFF2-40B4-BE49-F238E27FC236}">
                <a16:creationId xmlns:a16="http://schemas.microsoft.com/office/drawing/2014/main" id="{63BB3EB2-7245-0918-3A62-3F1FBD8AA8F0}"/>
              </a:ext>
            </a:extLst>
          </p:cNvPr>
          <p:cNvSpPr>
            <a:spLocks noGrp="1"/>
          </p:cNvSpPr>
          <p:nvPr>
            <p:ph type="sldNum" sz="quarter" idx="12"/>
          </p:nvPr>
        </p:nvSpPr>
        <p:spPr/>
        <p:txBody>
          <a:bodyPr/>
          <a:lstStyle/>
          <a:p>
            <a:fld id="{62292133-B7B4-4876-B4EC-8D2F9BE1CBCE}" type="slidenum">
              <a:rPr lang="en-ZA" smtClean="0"/>
              <a:t>3</a:t>
            </a:fld>
            <a:endParaRPr lang="en-ZA"/>
          </a:p>
        </p:txBody>
      </p:sp>
      <p:sp>
        <p:nvSpPr>
          <p:cNvPr id="2" name="TextBox 1">
            <a:extLst>
              <a:ext uri="{FF2B5EF4-FFF2-40B4-BE49-F238E27FC236}">
                <a16:creationId xmlns:a16="http://schemas.microsoft.com/office/drawing/2014/main" id="{A2600532-1C4B-6042-397C-1207BAB5F122}"/>
              </a:ext>
            </a:extLst>
          </p:cNvPr>
          <p:cNvSpPr txBox="1"/>
          <p:nvPr/>
        </p:nvSpPr>
        <p:spPr>
          <a:xfrm>
            <a:off x="588498" y="1518659"/>
            <a:ext cx="10765302" cy="2492990"/>
          </a:xfrm>
          <a:prstGeom prst="rect">
            <a:avLst/>
          </a:prstGeom>
          <a:noFill/>
        </p:spPr>
        <p:txBody>
          <a:bodyPr wrap="square">
            <a:spAutoFit/>
          </a:bodyPr>
          <a:lstStyle/>
          <a:p>
            <a:pPr marL="285750" indent="-285750">
              <a:buFont typeface="Wingdings" panose="05000000000000000000" pitchFamily="2" charset="2"/>
              <a:buChar char="§"/>
            </a:pPr>
            <a:r>
              <a:rPr lang="fr-FR" sz="2000" dirty="0">
                <a:solidFill>
                  <a:schemeClr val="tx1"/>
                </a:solidFill>
                <a:latin typeface="Times New Roman" panose="02020603050405020304" pitchFamily="18" charset="0"/>
                <a:cs typeface="Times New Roman" panose="02020603050405020304" pitchFamily="18" charset="0"/>
              </a:rPr>
              <a:t>La préparation des données est une étape essentielle dans tout projet d'analyse de données ou d'apprentissage automatique. </a:t>
            </a:r>
          </a:p>
          <a:p>
            <a:endParaRPr lang="fr-FR" sz="2000" dirty="0">
              <a:solidFill>
                <a:schemeClr val="tx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000" dirty="0">
                <a:solidFill>
                  <a:schemeClr val="tx1"/>
                </a:solidFill>
                <a:latin typeface="Times New Roman" panose="02020603050405020304" pitchFamily="18" charset="0"/>
                <a:cs typeface="Times New Roman" panose="02020603050405020304" pitchFamily="18" charset="0"/>
              </a:rPr>
              <a:t>Cependant, elle présente de nombreuses problématiques qui peuvent affecter la qualité des résultats finaux. </a:t>
            </a:r>
          </a:p>
          <a:p>
            <a:endParaRPr lang="fr-FR" sz="2000" dirty="0">
              <a:latin typeface="Times New Roman" panose="02020603050405020304" pitchFamily="18" charset="0"/>
              <a:cs typeface="Times New Roman" panose="02020603050405020304" pitchFamily="18" charset="0"/>
            </a:endParaRPr>
          </a:p>
          <a:p>
            <a:endParaRPr lang="fr-FR" dirty="0"/>
          </a:p>
          <a:p>
            <a:endParaRPr lang="en-ZA" dirty="0">
              <a:solidFill>
                <a:schemeClr val="tx1"/>
              </a:solidFill>
            </a:endParaRPr>
          </a:p>
        </p:txBody>
      </p:sp>
      <p:pic>
        <p:nvPicPr>
          <p:cNvPr id="3" name="Picture 2" descr="A diagram of a business process&#10;&#10;Description automatically generated">
            <a:extLst>
              <a:ext uri="{FF2B5EF4-FFF2-40B4-BE49-F238E27FC236}">
                <a16:creationId xmlns:a16="http://schemas.microsoft.com/office/drawing/2014/main" id="{BE6F849D-85D4-7309-C61B-F4D84FA5CE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4539" y="3142087"/>
            <a:ext cx="6012139" cy="3182130"/>
          </a:xfrm>
          <a:prstGeom prst="rect">
            <a:avLst/>
          </a:prstGeom>
        </p:spPr>
      </p:pic>
    </p:spTree>
    <p:extLst>
      <p:ext uri="{BB962C8B-B14F-4D97-AF65-F5344CB8AC3E}">
        <p14:creationId xmlns:p14="http://schemas.microsoft.com/office/powerpoint/2010/main" val="3234875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1270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390233" y="257626"/>
            <a:ext cx="6102350" cy="535531"/>
          </a:xfrm>
          <a:prstGeom prst="rect">
            <a:avLst/>
          </a:prstGeom>
          <a:noFill/>
        </p:spPr>
        <p:txBody>
          <a:bodyPr wrap="square">
            <a:spAutoFit/>
          </a:bodyPr>
          <a:lstStyle/>
          <a:p>
            <a:pPr>
              <a:lnSpc>
                <a:spcPct val="90000"/>
              </a:lnSpc>
              <a:spcBef>
                <a:spcPct val="0"/>
              </a:spcBef>
            </a:pPr>
            <a:r>
              <a:rPr lang="en-ZA" sz="3200" b="1" dirty="0">
                <a:latin typeface="Times New Roman" panose="02020603050405020304" pitchFamily="18" charset="0"/>
                <a:ea typeface="+mj-ea"/>
                <a:cs typeface="Times New Roman" panose="02020603050405020304" pitchFamily="18" charset="0"/>
              </a:rPr>
              <a:t>Introduction (2/2)</a:t>
            </a:r>
          </a:p>
        </p:txBody>
      </p:sp>
      <p:sp>
        <p:nvSpPr>
          <p:cNvPr id="11" name="Slide Number Placeholder 10">
            <a:extLst>
              <a:ext uri="{FF2B5EF4-FFF2-40B4-BE49-F238E27FC236}">
                <a16:creationId xmlns:a16="http://schemas.microsoft.com/office/drawing/2014/main" id="{63BB3EB2-7245-0918-3A62-3F1FBD8AA8F0}"/>
              </a:ext>
            </a:extLst>
          </p:cNvPr>
          <p:cNvSpPr>
            <a:spLocks noGrp="1"/>
          </p:cNvSpPr>
          <p:nvPr>
            <p:ph type="sldNum" sz="quarter" idx="12"/>
          </p:nvPr>
        </p:nvSpPr>
        <p:spPr/>
        <p:txBody>
          <a:bodyPr/>
          <a:lstStyle/>
          <a:p>
            <a:fld id="{62292133-B7B4-4876-B4EC-8D2F9BE1CBCE}" type="slidenum">
              <a:rPr lang="en-ZA" smtClean="0"/>
              <a:t>4</a:t>
            </a:fld>
            <a:endParaRPr lang="en-ZA"/>
          </a:p>
        </p:txBody>
      </p:sp>
      <p:sp>
        <p:nvSpPr>
          <p:cNvPr id="2" name="TextBox 1">
            <a:extLst>
              <a:ext uri="{FF2B5EF4-FFF2-40B4-BE49-F238E27FC236}">
                <a16:creationId xmlns:a16="http://schemas.microsoft.com/office/drawing/2014/main" id="{A2600532-1C4B-6042-397C-1207BAB5F122}"/>
              </a:ext>
            </a:extLst>
          </p:cNvPr>
          <p:cNvSpPr txBox="1"/>
          <p:nvPr/>
        </p:nvSpPr>
        <p:spPr>
          <a:xfrm>
            <a:off x="588498" y="1275613"/>
            <a:ext cx="9363885" cy="5355312"/>
          </a:xfrm>
          <a:prstGeom prst="rect">
            <a:avLst/>
          </a:prstGeom>
          <a:noFill/>
        </p:spPr>
        <p:txBody>
          <a:bodyPr wrap="square">
            <a:spAutoFit/>
          </a:bodyPr>
          <a:lstStyle/>
          <a:p>
            <a:pPr algn="just"/>
            <a:r>
              <a:rPr lang="fr-FR" b="1" dirty="0">
                <a:latin typeface="Times New Roman" panose="02020603050405020304" pitchFamily="18" charset="0"/>
                <a:cs typeface="Times New Roman" panose="02020603050405020304" pitchFamily="18" charset="0"/>
              </a:rPr>
              <a:t>1.Données manquantes</a:t>
            </a:r>
            <a:r>
              <a:rPr lang="fr-FR" dirty="0">
                <a:latin typeface="Times New Roman" panose="02020603050405020304" pitchFamily="18" charset="0"/>
                <a:cs typeface="Times New Roman" panose="02020603050405020304" pitchFamily="18" charset="0"/>
              </a:rPr>
              <a:t> : Certaines valeurs peuvent manquer dans le jeu de données, ce qui peut perturber les algorithmes d'apprentissage ou biaiser les résultats.</a:t>
            </a:r>
          </a:p>
          <a:p>
            <a:pPr marL="342900" indent="-342900" algn="just">
              <a:buAutoNum type="arabicPeriod"/>
            </a:pPr>
            <a:endParaRPr lang="fr-FR"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2. Données bruitées ou incohérentes</a:t>
            </a:r>
            <a:r>
              <a:rPr lang="fr-FR" dirty="0">
                <a:latin typeface="Times New Roman" panose="02020603050405020304" pitchFamily="18" charset="0"/>
                <a:cs typeface="Times New Roman" panose="02020603050405020304" pitchFamily="18" charset="0"/>
              </a:rPr>
              <a:t> : Les données peuvent contenir du bruit, c'est-à-dire des erreurs de saisie, des valeurs aberrantes ou incohérentes.</a:t>
            </a:r>
          </a:p>
          <a:p>
            <a:pPr algn="just"/>
            <a:endParaRPr lang="fr-FR"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3. Valeurs aberrantes (</a:t>
            </a:r>
            <a:r>
              <a:rPr lang="fr-FR" b="1" dirty="0" err="1">
                <a:latin typeface="Times New Roman" panose="02020603050405020304" pitchFamily="18" charset="0"/>
                <a:cs typeface="Times New Roman" panose="02020603050405020304" pitchFamily="18" charset="0"/>
              </a:rPr>
              <a:t>outliers</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Certaines observations peuvent avoir des valeurs extrêmes qui influencent de manière disproportionnée les modèles d'apprentissage.</a:t>
            </a:r>
          </a:p>
          <a:p>
            <a:pPr algn="just"/>
            <a:endParaRPr lang="fr-FR"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4. Données non normalisées</a:t>
            </a:r>
            <a:r>
              <a:rPr lang="fr-FR" dirty="0">
                <a:latin typeface="Times New Roman" panose="02020603050405020304" pitchFamily="18" charset="0"/>
                <a:cs typeface="Times New Roman" panose="02020603050405020304" pitchFamily="18" charset="0"/>
              </a:rPr>
              <a:t> : Les algorithmes comme la régression, les SVM ou les réseaux neuronaux sont sensibles à l'échelle des variables. Des valeurs non normalisées peuvent entraîner des biais dans les résultats.</a:t>
            </a:r>
          </a:p>
          <a:p>
            <a:pPr algn="just"/>
            <a:endParaRPr lang="fr-FR"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5. Trop grand nombre de dimensions</a:t>
            </a:r>
            <a:r>
              <a:rPr lang="fr-FR" dirty="0">
                <a:latin typeface="Times New Roman" panose="02020603050405020304" pitchFamily="18" charset="0"/>
                <a:cs typeface="Times New Roman" panose="02020603050405020304" pitchFamily="18" charset="0"/>
              </a:rPr>
              <a:t> : Un grand nombre de variables (dimensions) peut rendre les modèles d’apprentissage inefficaces, introduire de la redondance et accroître le risque de surapprentissage (</a:t>
            </a:r>
            <a:r>
              <a:rPr lang="fr-FR" dirty="0" err="1">
                <a:latin typeface="Times New Roman" panose="02020603050405020304" pitchFamily="18" charset="0"/>
                <a:cs typeface="Times New Roman" panose="02020603050405020304" pitchFamily="18" charset="0"/>
              </a:rPr>
              <a:t>overfitting</a:t>
            </a:r>
            <a:r>
              <a:rPr lang="fr-FR" dirty="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solidFill>
                  <a:srgbClr val="FF0000"/>
                </a:solidFill>
                <a:latin typeface="Times New Roman" panose="02020603050405020304" pitchFamily="18" charset="0"/>
                <a:cs typeface="Times New Roman" panose="02020603050405020304" pitchFamily="18" charset="0"/>
              </a:rPr>
              <a:t> </a:t>
            </a:r>
            <a:r>
              <a:rPr lang="fr-FR" b="1" dirty="0">
                <a:solidFill>
                  <a:srgbClr val="FF0000"/>
                </a:solidFill>
                <a:latin typeface="Times New Roman" panose="02020603050405020304" pitchFamily="18" charset="0"/>
                <a:cs typeface="Times New Roman" panose="02020603050405020304" pitchFamily="18" charset="0"/>
              </a:rPr>
              <a:t>L</a:t>
            </a:r>
            <a:r>
              <a:rPr lang="fr-FR" b="1" i="0" dirty="0">
                <a:solidFill>
                  <a:srgbClr val="FF0000"/>
                </a:solidFill>
                <a:effectLst/>
                <a:latin typeface="Times New Roman" panose="02020603050405020304" pitchFamily="18" charset="0"/>
                <a:cs typeface="Times New Roman" panose="02020603050405020304" pitchFamily="18" charset="0"/>
              </a:rPr>
              <a:t>es données nécessitent souvent un prétraitement avant d'être exploitées efficacement.</a:t>
            </a:r>
          </a:p>
          <a:p>
            <a:pPr algn="just"/>
            <a:endParaRPr lang="en-ZA" dirty="0">
              <a:solidFill>
                <a:schemeClr val="tx1"/>
              </a:solidFill>
              <a:latin typeface="Times New Roman" panose="02020603050405020304" pitchFamily="18" charset="0"/>
              <a:cs typeface="Times New Roman" panose="02020603050405020304" pitchFamily="18" charset="0"/>
            </a:endParaRPr>
          </a:p>
        </p:txBody>
      </p:sp>
      <p:sp>
        <p:nvSpPr>
          <p:cNvPr id="3" name="Arrow: Right 2">
            <a:extLst>
              <a:ext uri="{FF2B5EF4-FFF2-40B4-BE49-F238E27FC236}">
                <a16:creationId xmlns:a16="http://schemas.microsoft.com/office/drawing/2014/main" id="{475FB469-08D0-D42A-3FFC-62476069C792}"/>
              </a:ext>
            </a:extLst>
          </p:cNvPr>
          <p:cNvSpPr/>
          <p:nvPr/>
        </p:nvSpPr>
        <p:spPr>
          <a:xfrm>
            <a:off x="137973" y="6029738"/>
            <a:ext cx="512885" cy="231785"/>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12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2240722" y="5163201"/>
            <a:ext cx="10058400" cy="369332"/>
          </a:xfrm>
          <a:prstGeom prst="rect">
            <a:avLst/>
          </a:prstGeom>
          <a:noFill/>
        </p:spPr>
        <p:txBody>
          <a:bodyPr wrap="square">
            <a:spAutoFit/>
          </a:bodyPr>
          <a:lstStyle/>
          <a:p>
            <a:r>
              <a:rPr lang="fr-FR" b="1" dirty="0">
                <a:effectLst/>
                <a:latin typeface="Times New Roman" panose="02020603050405020304" pitchFamily="18" charset="0"/>
                <a:cs typeface="Times New Roman" panose="02020603050405020304" pitchFamily="18" charset="0"/>
              </a:rPr>
              <a:t>‘’Chacune de ces tâches est un domaine d'étude avec des algorithmes dédiés ’’</a:t>
            </a:r>
          </a:p>
        </p:txBody>
      </p:sp>
      <p:sp>
        <p:nvSpPr>
          <p:cNvPr id="8" name="TextBox 7">
            <a:extLst>
              <a:ext uri="{FF2B5EF4-FFF2-40B4-BE49-F238E27FC236}">
                <a16:creationId xmlns:a16="http://schemas.microsoft.com/office/drawing/2014/main" id="{619ED439-1419-DD4D-4ACE-0E91AC01F7A1}"/>
              </a:ext>
            </a:extLst>
          </p:cNvPr>
          <p:cNvSpPr txBox="1"/>
          <p:nvPr/>
        </p:nvSpPr>
        <p:spPr>
          <a:xfrm>
            <a:off x="1287533" y="178114"/>
            <a:ext cx="6102350"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Les activités de la préparation</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pic>
        <p:nvPicPr>
          <p:cNvPr id="14" name="Picture 13" descr="A close-up of a sign&#10;&#10;Description automatically generated">
            <a:extLst>
              <a:ext uri="{FF2B5EF4-FFF2-40B4-BE49-F238E27FC236}">
                <a16:creationId xmlns:a16="http://schemas.microsoft.com/office/drawing/2014/main" id="{32A29F1C-C6FA-8176-348F-C4BCFC8F60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561" y="2531164"/>
            <a:ext cx="10914795" cy="1611836"/>
          </a:xfrm>
          <a:prstGeom prst="rect">
            <a:avLst/>
          </a:prstGeom>
        </p:spPr>
      </p:pic>
      <p:sp>
        <p:nvSpPr>
          <p:cNvPr id="15" name="Slide Number Placeholder 14">
            <a:extLst>
              <a:ext uri="{FF2B5EF4-FFF2-40B4-BE49-F238E27FC236}">
                <a16:creationId xmlns:a16="http://schemas.microsoft.com/office/drawing/2014/main" id="{211B3EB7-F83A-4B27-24D5-EA7CE798A74D}"/>
              </a:ext>
            </a:extLst>
          </p:cNvPr>
          <p:cNvSpPr>
            <a:spLocks noGrp="1"/>
          </p:cNvSpPr>
          <p:nvPr>
            <p:ph type="sldNum" sz="quarter" idx="12"/>
          </p:nvPr>
        </p:nvSpPr>
        <p:spPr/>
        <p:txBody>
          <a:bodyPr/>
          <a:lstStyle/>
          <a:p>
            <a:fld id="{62292133-B7B4-4876-B4EC-8D2F9BE1CBCE}" type="slidenum">
              <a:rPr lang="en-ZA" smtClean="0"/>
              <a:t>5</a:t>
            </a:fld>
            <a:endParaRPr lang="en-ZA"/>
          </a:p>
        </p:txBody>
      </p:sp>
    </p:spTree>
    <p:extLst>
      <p:ext uri="{BB962C8B-B14F-4D97-AF65-F5344CB8AC3E}">
        <p14:creationId xmlns:p14="http://schemas.microsoft.com/office/powerpoint/2010/main" val="2503121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526985" y="2228824"/>
            <a:ext cx="6566273" cy="1631216"/>
          </a:xfrm>
          <a:prstGeom prst="rect">
            <a:avLst/>
          </a:prstGeom>
          <a:noFill/>
        </p:spPr>
        <p:txBody>
          <a:bodyPr wrap="square">
            <a:spAutoFit/>
          </a:bodyPr>
          <a:lstStyle/>
          <a:p>
            <a:pPr marL="342900" indent="-34290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Le </a:t>
            </a:r>
            <a:r>
              <a:rPr lang="fr-FR" sz="2000" b="1" dirty="0">
                <a:latin typeface="Times New Roman" panose="02020603050405020304" pitchFamily="18" charset="0"/>
                <a:cs typeface="Times New Roman" panose="02020603050405020304" pitchFamily="18" charset="0"/>
              </a:rPr>
              <a:t>nettoyage des données</a:t>
            </a:r>
            <a:r>
              <a:rPr lang="fr-FR" sz="2000" dirty="0">
                <a:latin typeface="Times New Roman" panose="02020603050405020304" pitchFamily="18" charset="0"/>
                <a:cs typeface="Times New Roman" panose="02020603050405020304" pitchFamily="18" charset="0"/>
              </a:rPr>
              <a:t> est une étape essentielle dans la préparation des données.</a:t>
            </a:r>
          </a:p>
          <a:p>
            <a:pPr marL="342900" indent="-342900">
              <a:buFont typeface="Wingdings" panose="05000000000000000000" pitchFamily="2" charset="2"/>
              <a:buChar char="§"/>
            </a:pPr>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Il permet d'améliorer la qualité des données et d'éviter des biais ou des erreurs dans les résultats. </a:t>
            </a:r>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9ED439-1419-DD4D-4ACE-0E91AC01F7A1}"/>
              </a:ext>
            </a:extLst>
          </p:cNvPr>
          <p:cNvSpPr txBox="1"/>
          <p:nvPr/>
        </p:nvSpPr>
        <p:spPr>
          <a:xfrm>
            <a:off x="1285163" y="193151"/>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6</a:t>
            </a:fld>
            <a:endParaRPr lang="en-ZA"/>
          </a:p>
        </p:txBody>
      </p:sp>
      <p:pic>
        <p:nvPicPr>
          <p:cNvPr id="1026" name="Picture 2" descr="Nettoyage des données - Icônes électronique gratuites">
            <a:extLst>
              <a:ext uri="{FF2B5EF4-FFF2-40B4-BE49-F238E27FC236}">
                <a16:creationId xmlns:a16="http://schemas.microsoft.com/office/drawing/2014/main" id="{0D89E058-6EE1-80CD-B09D-FAD8013ECE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1819" y="1637731"/>
            <a:ext cx="2554913" cy="255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051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19614" y="48904"/>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Gestion des valeurs manquantes</a:t>
            </a:r>
            <a:r>
              <a:rPr lang="fr-FR" sz="2800" dirty="0">
                <a:latin typeface="Times New Roman" panose="02020603050405020304" pitchFamily="18" charset="0"/>
                <a:cs typeface="Times New Roman" panose="02020603050405020304" pitchFamily="18" charset="0"/>
              </a:rPr>
              <a:t> </a:t>
            </a:r>
            <a:endParaRPr lang="fr-FR" sz="2800" b="1" dirty="0">
              <a:latin typeface="Times New Roman" panose="02020603050405020304" pitchFamily="18" charset="0"/>
              <a:ea typeface="+mj-ea"/>
              <a:cs typeface="Times New Roman" panose="02020603050405020304" pitchFamily="18" charset="0"/>
            </a:endParaRP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7</a:t>
            </a:fld>
            <a:endParaRPr lang="en-ZA"/>
          </a:p>
        </p:txBody>
      </p:sp>
      <p:sp>
        <p:nvSpPr>
          <p:cNvPr id="2" name="TextBox 1">
            <a:extLst>
              <a:ext uri="{FF2B5EF4-FFF2-40B4-BE49-F238E27FC236}">
                <a16:creationId xmlns:a16="http://schemas.microsoft.com/office/drawing/2014/main" id="{0D9FBE17-10E7-3BBF-3D23-A40473FEFB2E}"/>
              </a:ext>
            </a:extLst>
          </p:cNvPr>
          <p:cNvSpPr txBox="1"/>
          <p:nvPr/>
        </p:nvSpPr>
        <p:spPr>
          <a:xfrm>
            <a:off x="1285163" y="3225633"/>
            <a:ext cx="7460980"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980B9-12F9-78B9-1B02-0ED673BD10E5}"/>
              </a:ext>
            </a:extLst>
          </p:cNvPr>
          <p:cNvSpPr txBox="1"/>
          <p:nvPr/>
        </p:nvSpPr>
        <p:spPr>
          <a:xfrm>
            <a:off x="760833" y="1284000"/>
            <a:ext cx="10704505" cy="3785652"/>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Pourquoi est-ce important ?</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La gestion des données manquantes est essentielle car de nombreux algorithmes d'apprentissage automatique ne peuvent pas traiter ces valeurs.</a:t>
            </a:r>
          </a:p>
          <a:p>
            <a:endParaRPr lang="fr-FR" sz="2000"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Comment identifier les valeurs manquantes ?</a:t>
            </a:r>
          </a:p>
          <a:p>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 Les données réelles comportent souvent des valeurs manquantes en raison d'enregistrements incorrects ou de  corruptions de données. </a:t>
            </a:r>
            <a:r>
              <a:rPr lang="fr-FR" sz="2000" b="1" dirty="0">
                <a:latin typeface="Times New Roman" panose="02020603050405020304" pitchFamily="18" charset="0"/>
                <a:cs typeface="Times New Roman" panose="02020603050405020304" pitchFamily="18" charset="0"/>
              </a:rPr>
              <a:t>	</a:t>
            </a:r>
          </a:p>
          <a:p>
            <a:pPr algn="just"/>
            <a:endParaRPr lang="fr-FR" sz="2000" b="1"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7074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19614" y="48904"/>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Gestion des valeurs manquantes</a:t>
            </a:r>
            <a:r>
              <a:rPr lang="fr-FR" sz="2800" dirty="0">
                <a:latin typeface="Times New Roman" panose="02020603050405020304" pitchFamily="18" charset="0"/>
                <a:cs typeface="Times New Roman" panose="02020603050405020304" pitchFamily="18" charset="0"/>
              </a:rPr>
              <a:t> </a:t>
            </a:r>
            <a:endParaRPr lang="fr-FR" sz="2800" b="1" dirty="0">
              <a:latin typeface="Times New Roman" panose="02020603050405020304" pitchFamily="18" charset="0"/>
              <a:ea typeface="+mj-ea"/>
              <a:cs typeface="Times New Roman" panose="02020603050405020304" pitchFamily="18" charset="0"/>
            </a:endParaRP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8</a:t>
            </a:fld>
            <a:endParaRPr lang="en-ZA"/>
          </a:p>
        </p:txBody>
      </p:sp>
      <p:sp>
        <p:nvSpPr>
          <p:cNvPr id="2" name="TextBox 1">
            <a:extLst>
              <a:ext uri="{FF2B5EF4-FFF2-40B4-BE49-F238E27FC236}">
                <a16:creationId xmlns:a16="http://schemas.microsoft.com/office/drawing/2014/main" id="{0D9FBE17-10E7-3BBF-3D23-A40473FEFB2E}"/>
              </a:ext>
            </a:extLst>
          </p:cNvPr>
          <p:cNvSpPr txBox="1"/>
          <p:nvPr/>
        </p:nvSpPr>
        <p:spPr>
          <a:xfrm>
            <a:off x="1285163" y="3225633"/>
            <a:ext cx="7460980"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980B9-12F9-78B9-1B02-0ED673BD10E5}"/>
              </a:ext>
            </a:extLst>
          </p:cNvPr>
          <p:cNvSpPr txBox="1"/>
          <p:nvPr/>
        </p:nvSpPr>
        <p:spPr>
          <a:xfrm>
            <a:off x="494503" y="1091957"/>
            <a:ext cx="10704505" cy="6863417"/>
          </a:xfrm>
          <a:prstGeom prst="rect">
            <a:avLst/>
          </a:prstGeom>
          <a:noFill/>
        </p:spPr>
        <p:txBody>
          <a:bodyPr wrap="square" rtlCol="0">
            <a:spAutoFit/>
          </a:bodyPr>
          <a:lstStyle/>
          <a:p>
            <a:pPr algn="just"/>
            <a:endParaRPr lang="fr-FR" sz="2000" b="1"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Comment traiter les valeurs manquantes ?</a:t>
            </a:r>
            <a:r>
              <a:rPr lang="fr-FR" sz="2000" dirty="0">
                <a:latin typeface="Times New Roman" panose="02020603050405020304" pitchFamily="18" charset="0"/>
                <a:cs typeface="Times New Roman" panose="02020603050405020304" pitchFamily="18" charset="0"/>
              </a:rPr>
              <a:t> </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Approches courantes: </a:t>
            </a:r>
          </a:p>
          <a:p>
            <a:pPr algn="just"/>
            <a:endParaRPr lang="fr-FR"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Suppression des individus avec des données manquantes ou nulles.</a:t>
            </a: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Remplacement par une valeur fixe ou des valeurs proches.</a:t>
            </a:r>
          </a:p>
          <a:p>
            <a:pPr algn="just"/>
            <a:endParaRPr lang="fr-FR"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Gestion des valeurs aberrantes </a:t>
            </a:r>
          </a:p>
          <a:p>
            <a:pPr algn="just"/>
            <a:endParaRPr lang="fr-FR"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Identification et traitement des valeurs anormalement élevées ou faibles pour améliorer la robustesse du modèle.</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Imputation des données :</a:t>
            </a:r>
          </a:p>
          <a:p>
            <a:pPr algn="just"/>
            <a:endParaRPr lang="fr-FR"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Processus de remplissage des valeurs manquantes pour améliorer la qualité des modèles(comme la moyenne, la médiane, etc.).</a:t>
            </a:r>
          </a:p>
          <a:p>
            <a:pPr marL="342900" indent="-342900" algn="just">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algn="just"/>
            <a:endParaRPr lang="fr-FR" sz="2000" b="1"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b="1"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258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12474"/>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695688" y="2324084"/>
            <a:ext cx="7161050" cy="1477328"/>
          </a:xfrm>
          <a:prstGeom prst="rect">
            <a:avLst/>
          </a:prstGeom>
          <a:noFill/>
        </p:spPr>
        <p:txBody>
          <a:bodyPr wrap="square">
            <a:spAutoFit/>
          </a:bodyPr>
          <a:lstStyle/>
          <a:p>
            <a:pPr marL="285750" indent="-285750" algn="just">
              <a:buFont typeface="Wingdings" panose="05000000000000000000" pitchFamily="2" charset="2"/>
              <a:buChar char="ü"/>
            </a:pPr>
            <a:r>
              <a:rPr lang="fr-FR" b="1" dirty="0" err="1">
                <a:latin typeface="Times New Roman" panose="02020603050405020304" pitchFamily="18" charset="0"/>
                <a:cs typeface="Times New Roman" panose="02020603050405020304" pitchFamily="18" charset="0"/>
              </a:rPr>
              <a:t>Mean</a:t>
            </a:r>
            <a:r>
              <a:rPr lang="fr-FR" b="0" i="0" dirty="0">
                <a:solidFill>
                  <a:srgbClr val="262626"/>
                </a:solidFill>
                <a:effectLst/>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Remplacer les valeurs manquantes en utilisant la moyenne le long de chaque colonne. </a:t>
            </a:r>
          </a:p>
          <a:p>
            <a:pPr algn="just"/>
            <a:endParaRPr lang="fr-FR" b="0" i="0" dirty="0">
              <a:solidFill>
                <a:srgbClr val="262626"/>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b="1" dirty="0" err="1">
                <a:latin typeface="Times New Roman" panose="02020603050405020304" pitchFamily="18" charset="0"/>
                <a:cs typeface="Times New Roman" panose="02020603050405020304" pitchFamily="18" charset="0"/>
              </a:rPr>
              <a:t>Median</a:t>
            </a:r>
            <a:r>
              <a:rPr lang="fr-FR" b="1" dirty="0">
                <a:solidFill>
                  <a:srgbClr val="262626"/>
                </a:solidFill>
                <a:latin typeface="Times New Roman" panose="02020603050405020304" pitchFamily="18" charset="0"/>
                <a:cs typeface="Times New Roman" panose="02020603050405020304" pitchFamily="18" charset="0"/>
              </a:rPr>
              <a:t>: </a:t>
            </a:r>
            <a:r>
              <a:rPr lang="fr-FR" b="0" i="0" dirty="0">
                <a:solidFill>
                  <a:srgbClr val="262626"/>
                </a:solidFill>
                <a:effectLst/>
                <a:latin typeface="Times New Roman" panose="02020603050405020304" pitchFamily="18" charset="0"/>
                <a:cs typeface="Times New Roman" panose="02020603050405020304" pitchFamily="18" charset="0"/>
              </a:rPr>
              <a:t>R</a:t>
            </a:r>
            <a:r>
              <a:rPr lang="fr-FR" dirty="0">
                <a:latin typeface="Times New Roman" panose="02020603050405020304" pitchFamily="18" charset="0"/>
                <a:cs typeface="Times New Roman" panose="02020603050405020304" pitchFamily="18" charset="0"/>
              </a:rPr>
              <a:t>emplacer les valeurs manquantes en utilisant la médiane le long de chaque colonne. </a:t>
            </a:r>
          </a:p>
        </p:txBody>
      </p:sp>
      <p:sp>
        <p:nvSpPr>
          <p:cNvPr id="9" name="TextBox 8">
            <a:extLst>
              <a:ext uri="{FF2B5EF4-FFF2-40B4-BE49-F238E27FC236}">
                <a16:creationId xmlns:a16="http://schemas.microsoft.com/office/drawing/2014/main" id="{C5E7C4DB-3561-9007-3849-B1F54AD9B3A7}"/>
              </a:ext>
            </a:extLst>
          </p:cNvPr>
          <p:cNvSpPr txBox="1"/>
          <p:nvPr/>
        </p:nvSpPr>
        <p:spPr>
          <a:xfrm>
            <a:off x="3311371" y="4339375"/>
            <a:ext cx="8451542" cy="1200329"/>
          </a:xfrm>
          <a:prstGeom prst="rect">
            <a:avLst/>
          </a:prstGeom>
          <a:noFill/>
        </p:spPr>
        <p:txBody>
          <a:bodyPr wrap="square" rtlCol="0">
            <a:spAutoFit/>
          </a:bodyPr>
          <a:lstStyle/>
          <a:p>
            <a:pPr marL="285750" indent="-285750" algn="just">
              <a:buFont typeface="Wingdings" panose="05000000000000000000" pitchFamily="2" charset="2"/>
              <a:buChar char="ü"/>
            </a:pPr>
            <a:r>
              <a:rPr lang="fr-FR" b="1" i="0" dirty="0" err="1">
                <a:effectLst/>
                <a:latin typeface="Times New Roman" panose="02020603050405020304" pitchFamily="18" charset="0"/>
                <a:cs typeface="Times New Roman" panose="02020603050405020304" pitchFamily="18" charset="0"/>
              </a:rPr>
              <a:t>most_frequent</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Remplacer les valeurs manquantes par la valeur la plus fréquente de chaque colonne.</a:t>
            </a:r>
          </a:p>
          <a:p>
            <a:pPr algn="just"/>
            <a:endParaRPr lang="fr-FR" b="0" i="0" dirty="0">
              <a:solidFill>
                <a:srgbClr val="262626"/>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b="1" i="0" dirty="0">
                <a:solidFill>
                  <a:srgbClr val="262626"/>
                </a:solidFill>
                <a:effectLst/>
                <a:latin typeface="Times New Roman" panose="02020603050405020304" pitchFamily="18" charset="0"/>
                <a:cs typeface="Times New Roman" panose="02020603050405020304" pitchFamily="18" charset="0"/>
              </a:rPr>
              <a:t>Constant: </a:t>
            </a:r>
            <a:r>
              <a:rPr lang="fr-FR" b="0" i="0" dirty="0">
                <a:solidFill>
                  <a:srgbClr val="262626"/>
                </a:solidFill>
                <a:effectLst/>
                <a:latin typeface="Times New Roman" panose="02020603050405020304" pitchFamily="18" charset="0"/>
                <a:cs typeface="Times New Roman" panose="02020603050405020304" pitchFamily="18" charset="0"/>
              </a:rPr>
              <a:t>remplacer les valeurs manquantes par </a:t>
            </a:r>
            <a:r>
              <a:rPr lang="fr-FR" b="0" i="0" dirty="0" err="1">
                <a:solidFill>
                  <a:srgbClr val="262626"/>
                </a:solidFill>
                <a:effectLst/>
                <a:latin typeface="Times New Roman" panose="02020603050405020304" pitchFamily="18" charset="0"/>
                <a:cs typeface="Times New Roman" panose="02020603050405020304" pitchFamily="18" charset="0"/>
              </a:rPr>
              <a:t>fill_value</a:t>
            </a:r>
            <a:r>
              <a:rPr lang="fr-FR" b="0" i="0" dirty="0">
                <a:solidFill>
                  <a:srgbClr val="262626"/>
                </a:solidFill>
                <a:effectLst/>
                <a:latin typeface="Times New Roman" panose="02020603050405020304" pitchFamily="18" charset="0"/>
                <a:cs typeface="Times New Roman" panose="02020603050405020304" pitchFamily="18" charset="0"/>
              </a:rPr>
              <a:t>. </a:t>
            </a:r>
          </a:p>
        </p:txBody>
      </p:sp>
      <p:pic>
        <p:nvPicPr>
          <p:cNvPr id="14" name="Picture 13" descr="A green triangle with a check mark and black text&#10;&#10;Description automatically generated">
            <a:extLst>
              <a:ext uri="{FF2B5EF4-FFF2-40B4-BE49-F238E27FC236}">
                <a16:creationId xmlns:a16="http://schemas.microsoft.com/office/drawing/2014/main" id="{837CFBDA-F653-E9B8-C862-D73D0247F8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196" y="3700488"/>
            <a:ext cx="2476731" cy="2514002"/>
          </a:xfrm>
          <a:prstGeom prst="rect">
            <a:avLst/>
          </a:prstGeom>
        </p:spPr>
      </p:pic>
      <p:pic>
        <p:nvPicPr>
          <p:cNvPr id="16" name="Picture 15" descr="A pink triangle with black text&#10;&#10;Description automatically generated">
            <a:extLst>
              <a:ext uri="{FF2B5EF4-FFF2-40B4-BE49-F238E27FC236}">
                <a16:creationId xmlns:a16="http://schemas.microsoft.com/office/drawing/2014/main" id="{D2734BD3-A273-E0D2-E814-F463A1A4CE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9738" y="1482186"/>
            <a:ext cx="2476731" cy="2319225"/>
          </a:xfrm>
          <a:prstGeom prst="rect">
            <a:avLst/>
          </a:prstGeom>
        </p:spPr>
      </p:pic>
      <p:sp>
        <p:nvSpPr>
          <p:cNvPr id="17" name="Slide Number Placeholder 16">
            <a:extLst>
              <a:ext uri="{FF2B5EF4-FFF2-40B4-BE49-F238E27FC236}">
                <a16:creationId xmlns:a16="http://schemas.microsoft.com/office/drawing/2014/main" id="{0FCE04B2-D0A3-C915-C4D2-8FC0807651AC}"/>
              </a:ext>
            </a:extLst>
          </p:cNvPr>
          <p:cNvSpPr>
            <a:spLocks noGrp="1"/>
          </p:cNvSpPr>
          <p:nvPr>
            <p:ph type="sldNum" sz="quarter" idx="12"/>
          </p:nvPr>
        </p:nvSpPr>
        <p:spPr/>
        <p:txBody>
          <a:bodyPr/>
          <a:lstStyle/>
          <a:p>
            <a:fld id="{62292133-B7B4-4876-B4EC-8D2F9BE1CBCE}" type="slidenum">
              <a:rPr lang="en-ZA" smtClean="0"/>
              <a:t>9</a:t>
            </a:fld>
            <a:endParaRPr lang="en-ZA"/>
          </a:p>
        </p:txBody>
      </p:sp>
      <p:sp>
        <p:nvSpPr>
          <p:cNvPr id="2" name="TextBox 1">
            <a:extLst>
              <a:ext uri="{FF2B5EF4-FFF2-40B4-BE49-F238E27FC236}">
                <a16:creationId xmlns:a16="http://schemas.microsoft.com/office/drawing/2014/main" id="{A98B8AE4-5322-20AD-A2E8-2744C8A3C918}"/>
              </a:ext>
            </a:extLst>
          </p:cNvPr>
          <p:cNvSpPr txBox="1"/>
          <p:nvPr/>
        </p:nvSpPr>
        <p:spPr>
          <a:xfrm>
            <a:off x="287538" y="1482187"/>
            <a:ext cx="3316934" cy="461665"/>
          </a:xfrm>
          <a:prstGeom prst="rect">
            <a:avLst/>
          </a:prstGeom>
          <a:noFill/>
        </p:spPr>
        <p:txBody>
          <a:bodyPr wrap="none" rtlCol="0">
            <a:spAutoFit/>
          </a:bodyPr>
          <a:lstStyle/>
          <a:p>
            <a:r>
              <a:rPr lang="fr-FR" sz="2400" b="1" dirty="0">
                <a:latin typeface="Times New Roman" panose="02020603050405020304" pitchFamily="18" charset="0"/>
                <a:ea typeface="+mj-ea"/>
                <a:cs typeface="Times New Roman" panose="02020603050405020304" pitchFamily="18" charset="0"/>
              </a:rPr>
              <a:t>Imputation des données</a:t>
            </a:r>
            <a:endParaRPr lang="en-US" sz="2400" dirty="0"/>
          </a:p>
        </p:txBody>
      </p:sp>
      <p:sp>
        <p:nvSpPr>
          <p:cNvPr id="4" name="TextBox 3">
            <a:extLst>
              <a:ext uri="{FF2B5EF4-FFF2-40B4-BE49-F238E27FC236}">
                <a16:creationId xmlns:a16="http://schemas.microsoft.com/office/drawing/2014/main" id="{52904573-4476-6004-149E-D4170ED31EBE}"/>
              </a:ext>
            </a:extLst>
          </p:cNvPr>
          <p:cNvSpPr txBox="1"/>
          <p:nvPr/>
        </p:nvSpPr>
        <p:spPr>
          <a:xfrm>
            <a:off x="1219614" y="128805"/>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Gestion des valeurs manquantes</a:t>
            </a:r>
            <a:r>
              <a:rPr lang="fr-FR" sz="2800" dirty="0">
                <a:latin typeface="Times New Roman" panose="02020603050405020304" pitchFamily="18" charset="0"/>
                <a:cs typeface="Times New Roman" panose="02020603050405020304" pitchFamily="18" charset="0"/>
              </a:rPr>
              <a:t> </a:t>
            </a:r>
            <a:endParaRPr lang="fr-FR" sz="2800" b="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964368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19614" y="48904"/>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Gestion des valeurs aberrantes</a:t>
            </a:r>
            <a:endParaRPr lang="fr-FR" sz="2800" b="1" dirty="0">
              <a:latin typeface="Times New Roman" panose="02020603050405020304" pitchFamily="18" charset="0"/>
              <a:ea typeface="+mj-ea"/>
              <a:cs typeface="Times New Roman" panose="02020603050405020304" pitchFamily="18" charset="0"/>
            </a:endParaRP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10</a:t>
            </a:fld>
            <a:endParaRPr lang="en-ZA"/>
          </a:p>
        </p:txBody>
      </p:sp>
      <p:sp>
        <p:nvSpPr>
          <p:cNvPr id="2" name="TextBox 1">
            <a:extLst>
              <a:ext uri="{FF2B5EF4-FFF2-40B4-BE49-F238E27FC236}">
                <a16:creationId xmlns:a16="http://schemas.microsoft.com/office/drawing/2014/main" id="{0D9FBE17-10E7-3BBF-3D23-A40473FEFB2E}"/>
              </a:ext>
            </a:extLst>
          </p:cNvPr>
          <p:cNvSpPr txBox="1"/>
          <p:nvPr/>
        </p:nvSpPr>
        <p:spPr>
          <a:xfrm>
            <a:off x="1285163" y="3225633"/>
            <a:ext cx="7460980"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980B9-12F9-78B9-1B02-0ED673BD10E5}"/>
              </a:ext>
            </a:extLst>
          </p:cNvPr>
          <p:cNvSpPr txBox="1"/>
          <p:nvPr/>
        </p:nvSpPr>
        <p:spPr>
          <a:xfrm>
            <a:off x="494503" y="1091957"/>
            <a:ext cx="10704505" cy="4093428"/>
          </a:xfrm>
          <a:prstGeom prst="rect">
            <a:avLst/>
          </a:prstGeom>
          <a:noFill/>
        </p:spPr>
        <p:txBody>
          <a:bodyPr wrap="square" rtlCol="0">
            <a:spAutoFit/>
          </a:bodyPr>
          <a:lstStyle/>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Identifier et corriger les erreurs ou incohérences dans les données (valeurs aberrantes, erreurs de saisie, etc.).</a:t>
            </a:r>
          </a:p>
          <a:p>
            <a:pPr marL="342900" indent="-342900" algn="just">
              <a:buFont typeface="Wingdings" panose="05000000000000000000" pitchFamily="2" charset="2"/>
              <a:buChar char="§"/>
            </a:pP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Les </a:t>
            </a:r>
            <a:r>
              <a:rPr lang="fr-FR" sz="2000" b="1" dirty="0">
                <a:latin typeface="Times New Roman" panose="02020603050405020304" pitchFamily="18" charset="0"/>
                <a:cs typeface="Times New Roman" panose="02020603050405020304" pitchFamily="18" charset="0"/>
              </a:rPr>
              <a:t>valeurs aberrantes</a:t>
            </a:r>
            <a:r>
              <a:rPr lang="fr-FR" sz="2000" dirty="0">
                <a:latin typeface="Times New Roman" panose="02020603050405020304" pitchFamily="18" charset="0"/>
                <a:cs typeface="Times New Roman" panose="02020603050405020304" pitchFamily="18" charset="0"/>
              </a:rPr>
              <a:t> (ou </a:t>
            </a:r>
            <a:r>
              <a:rPr lang="fr-FR" sz="2000" b="1" dirty="0" err="1">
                <a:latin typeface="Times New Roman" panose="02020603050405020304" pitchFamily="18" charset="0"/>
                <a:cs typeface="Times New Roman" panose="02020603050405020304" pitchFamily="18" charset="0"/>
              </a:rPr>
              <a:t>outliers</a:t>
            </a:r>
            <a:r>
              <a:rPr lang="fr-FR" sz="2000" dirty="0">
                <a:latin typeface="Times New Roman" panose="02020603050405020304" pitchFamily="18" charset="0"/>
                <a:cs typeface="Times New Roman" panose="02020603050405020304" pitchFamily="18" charset="0"/>
              </a:rPr>
              <a:t>) sont des observations ou des points de données qui diffèrent significativement des autres observations dans un ensemble de données. </a:t>
            </a:r>
          </a:p>
          <a:p>
            <a:pPr marL="342900" indent="-342900" algn="just">
              <a:buFont typeface="Wingdings" panose="05000000000000000000" pitchFamily="2" charset="2"/>
              <a:buChar char="§"/>
            </a:pP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dirty="0">
                <a:latin typeface="Times New Roman" panose="02020603050405020304" pitchFamily="18" charset="0"/>
                <a:cs typeface="Times New Roman" panose="02020603050405020304" pitchFamily="18" charset="0"/>
              </a:rPr>
              <a:t>Ces valeurs se situent loin de la majorité des données et peuvent</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Traitement des </a:t>
            </a:r>
            <a:r>
              <a:rPr lang="fr-FR" sz="2000" b="1" dirty="0" err="1">
                <a:latin typeface="Times New Roman" panose="02020603050405020304" pitchFamily="18" charset="0"/>
                <a:cs typeface="Times New Roman" panose="02020603050405020304" pitchFamily="18" charset="0"/>
              </a:rPr>
              <a:t>outliers</a:t>
            </a:r>
            <a:r>
              <a:rPr lang="fr-FR" sz="2000" dirty="0">
                <a:latin typeface="Times New Roman" panose="02020603050405020304" pitchFamily="18" charset="0"/>
                <a:cs typeface="Times New Roman" panose="02020603050405020304" pitchFamily="18" charset="0"/>
              </a:rPr>
              <a:t> : suppression ou correction</a:t>
            </a:r>
          </a:p>
          <a:p>
            <a:pPr marL="342900" indent="-342900" algn="just">
              <a:buFont typeface="Wingdings" panose="05000000000000000000" pitchFamily="2" charset="2"/>
              <a:buChar char="§"/>
            </a:pPr>
            <a:endParaRPr lang="fr-FR" sz="2000" b="1"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6145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19614" y="48904"/>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Gestion des valeurs aberrantes</a:t>
            </a:r>
            <a:endParaRPr lang="fr-FR" sz="2800" b="1" dirty="0">
              <a:latin typeface="Times New Roman" panose="02020603050405020304" pitchFamily="18" charset="0"/>
              <a:ea typeface="+mj-ea"/>
              <a:cs typeface="Times New Roman" panose="02020603050405020304" pitchFamily="18" charset="0"/>
            </a:endParaRP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11</a:t>
            </a:fld>
            <a:endParaRPr lang="en-ZA"/>
          </a:p>
        </p:txBody>
      </p:sp>
      <p:sp>
        <p:nvSpPr>
          <p:cNvPr id="2" name="TextBox 1">
            <a:extLst>
              <a:ext uri="{FF2B5EF4-FFF2-40B4-BE49-F238E27FC236}">
                <a16:creationId xmlns:a16="http://schemas.microsoft.com/office/drawing/2014/main" id="{0D9FBE17-10E7-3BBF-3D23-A40473FEFB2E}"/>
              </a:ext>
            </a:extLst>
          </p:cNvPr>
          <p:cNvSpPr txBox="1"/>
          <p:nvPr/>
        </p:nvSpPr>
        <p:spPr>
          <a:xfrm>
            <a:off x="1285163" y="3225633"/>
            <a:ext cx="7460980"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980B9-12F9-78B9-1B02-0ED673BD10E5}"/>
              </a:ext>
            </a:extLst>
          </p:cNvPr>
          <p:cNvSpPr txBox="1"/>
          <p:nvPr/>
        </p:nvSpPr>
        <p:spPr>
          <a:xfrm>
            <a:off x="494503" y="266330"/>
            <a:ext cx="10704505" cy="6247864"/>
          </a:xfrm>
          <a:prstGeom prst="rect">
            <a:avLst/>
          </a:prstGeom>
          <a:noFill/>
        </p:spPr>
        <p:txBody>
          <a:bodyPr wrap="square" rtlCol="0">
            <a:spAutoFit/>
          </a:bodyPr>
          <a:lstStyle/>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endParaRPr lang="fr-FR" sz="2000" b="1"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Exemple:</a:t>
            </a:r>
          </a:p>
          <a:p>
            <a:endParaRPr lang="fr-FR" sz="2000" dirty="0">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Voici un ensemble de données fictif représentant les notes des étudiants sur un test :</a:t>
            </a:r>
          </a:p>
          <a:p>
            <a:endParaRPr lang="fr-FR" sz="2000" dirty="0">
              <a:latin typeface="Times New Roman" panose="02020603050405020304" pitchFamily="18" charset="0"/>
              <a:cs typeface="Times New Roman" panose="02020603050405020304" pitchFamily="18" charset="0"/>
            </a:endParaRPr>
          </a:p>
          <a:p>
            <a:r>
              <a:rPr lang="fr-FR" sz="2000" b="1" dirty="0">
                <a:latin typeface="Times New Roman" panose="02020603050405020304" pitchFamily="18" charset="0"/>
                <a:cs typeface="Times New Roman" panose="02020603050405020304" pitchFamily="18" charset="0"/>
              </a:rPr>
              <a:t>Notes</a:t>
            </a:r>
            <a:r>
              <a:rPr lang="fr-FR" sz="2000" dirty="0">
                <a:latin typeface="Times New Roman" panose="02020603050405020304" pitchFamily="18" charset="0"/>
                <a:cs typeface="Times New Roman" panose="02020603050405020304" pitchFamily="18" charset="0"/>
              </a:rPr>
              <a:t> : 12, 15, 14, 13, 17, 16, 14, 100</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La note </a:t>
            </a:r>
            <a:r>
              <a:rPr lang="fr-FR" sz="2000" b="1" dirty="0">
                <a:solidFill>
                  <a:srgbClr val="FF0000"/>
                </a:solidFill>
                <a:latin typeface="Times New Roman" panose="02020603050405020304" pitchFamily="18" charset="0"/>
                <a:cs typeface="Times New Roman" panose="02020603050405020304" pitchFamily="18" charset="0"/>
              </a:rPr>
              <a:t>"100" </a:t>
            </a:r>
            <a:r>
              <a:rPr lang="fr-FR" sz="2000" dirty="0">
                <a:latin typeface="Times New Roman" panose="02020603050405020304" pitchFamily="18" charset="0"/>
                <a:cs typeface="Times New Roman" panose="02020603050405020304" pitchFamily="18" charset="0"/>
              </a:rPr>
              <a:t>se distingue des autres, qui se situent entre </a:t>
            </a:r>
            <a:r>
              <a:rPr lang="fr-FR" sz="2000" b="1" dirty="0">
                <a:latin typeface="Times New Roman" panose="02020603050405020304" pitchFamily="18" charset="0"/>
                <a:cs typeface="Times New Roman" panose="02020603050405020304" pitchFamily="18" charset="0"/>
              </a:rPr>
              <a:t>12</a:t>
            </a:r>
            <a:r>
              <a:rPr lang="fr-FR" sz="2000" dirty="0">
                <a:latin typeface="Times New Roman" panose="02020603050405020304" pitchFamily="18" charset="0"/>
                <a:cs typeface="Times New Roman" panose="02020603050405020304" pitchFamily="18" charset="0"/>
              </a:rPr>
              <a:t> et </a:t>
            </a:r>
            <a:r>
              <a:rPr lang="fr-FR" sz="2000" b="1" dirty="0">
                <a:latin typeface="Times New Roman" panose="02020603050405020304" pitchFamily="18" charset="0"/>
                <a:cs typeface="Times New Roman" panose="02020603050405020304" pitchFamily="18" charset="0"/>
              </a:rPr>
              <a:t>17</a:t>
            </a:r>
            <a:r>
              <a:rPr lang="fr-FR" sz="20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Cette note pourrait être une </a:t>
            </a:r>
            <a:r>
              <a:rPr lang="fr-FR" sz="2000" b="1" dirty="0">
                <a:latin typeface="Times New Roman" panose="02020603050405020304" pitchFamily="18" charset="0"/>
                <a:cs typeface="Times New Roman" panose="02020603050405020304" pitchFamily="18" charset="0"/>
              </a:rPr>
              <a:t>valeur aberrante</a:t>
            </a:r>
            <a:r>
              <a:rPr lang="fr-FR" sz="2000" dirty="0">
                <a:latin typeface="Times New Roman" panose="02020603050405020304" pitchFamily="18" charset="0"/>
                <a:cs typeface="Times New Roman" panose="02020603050405020304" pitchFamily="18" charset="0"/>
              </a:rPr>
              <a:t>, car elle est extrêmement élevée par rapport aux autres.</a:t>
            </a:r>
          </a:p>
          <a:p>
            <a:pPr marL="342900" indent="-342900">
              <a:buFont typeface="Wingdings" panose="05000000000000000000" pitchFamily="2" charset="2"/>
              <a:buChar char="Ø"/>
            </a:pPr>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fr-FR" sz="2000" dirty="0">
                <a:latin typeface="Times New Roman" panose="02020603050405020304" pitchFamily="18" charset="0"/>
                <a:cs typeface="Times New Roman" panose="02020603050405020304" pitchFamily="18" charset="0"/>
              </a:rPr>
              <a:t> Cela pourrait être dû à une erreur de saisie, par exemple une note de "10" saisie accidentellement comme "100".</a:t>
            </a:r>
          </a:p>
          <a:p>
            <a:pPr algn="just"/>
            <a:endParaRPr lang="fr-FR" sz="2000" b="1" dirty="0">
              <a:latin typeface="Times New Roman" panose="02020603050405020304" pitchFamily="18" charset="0"/>
              <a:cs typeface="Times New Roman" panose="02020603050405020304" pitchFamily="18" charset="0"/>
            </a:endParaRPr>
          </a:p>
          <a:p>
            <a:pPr algn="just"/>
            <a:endParaRPr lang="fr-FR" sz="2000" dirty="0">
              <a:latin typeface="Times New Roman" panose="02020603050405020304" pitchFamily="18" charset="0"/>
              <a:cs typeface="Times New Roman" panose="02020603050405020304" pitchFamily="18" charset="0"/>
            </a:endParaRPr>
          </a:p>
          <a:p>
            <a:pPr algn="just"/>
            <a:endParaRPr lang="fr-FR" sz="2000" b="1" dirty="0">
              <a:latin typeface="Times New Roman" panose="02020603050405020304" pitchFamily="18" charset="0"/>
              <a:cs typeface="Times New Roman" panose="02020603050405020304" pitchFamily="18" charset="0"/>
            </a:endParaRP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445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19614" y="48904"/>
            <a:ext cx="10245725" cy="523220"/>
          </a:xfrm>
          <a:prstGeom prst="rect">
            <a:avLst/>
          </a:prstGeom>
          <a:noFill/>
        </p:spPr>
        <p:txBody>
          <a:bodyPr wrap="square">
            <a:spAutoFit/>
          </a:bodyPr>
          <a:lstStyle/>
          <a:p>
            <a:r>
              <a:rPr lang="fr-FR" sz="2800" b="1" dirty="0">
                <a:latin typeface="Times New Roman" panose="02020603050405020304" pitchFamily="18" charset="0"/>
                <a:ea typeface="+mj-ea"/>
                <a:cs typeface="Times New Roman" panose="02020603050405020304" pitchFamily="18" charset="0"/>
              </a:rPr>
              <a:t>Nettoyage des données: </a:t>
            </a:r>
            <a:r>
              <a:rPr lang="fr-FR" sz="2800" b="1" dirty="0">
                <a:latin typeface="Times New Roman" panose="02020603050405020304" pitchFamily="18" charset="0"/>
                <a:cs typeface="Times New Roman" panose="02020603050405020304" pitchFamily="18" charset="0"/>
              </a:rPr>
              <a:t>Suppression des doublons</a:t>
            </a:r>
            <a:r>
              <a:rPr lang="fr-FR" sz="2800" dirty="0">
                <a:latin typeface="Times New Roman" panose="02020603050405020304" pitchFamily="18" charset="0"/>
                <a:cs typeface="Times New Roman" panose="02020603050405020304" pitchFamily="18" charset="0"/>
              </a:rPr>
              <a:t> </a:t>
            </a:r>
            <a:endParaRPr lang="fr-FR" sz="2800" b="1" dirty="0">
              <a:latin typeface="Times New Roman" panose="02020603050405020304" pitchFamily="18" charset="0"/>
              <a:ea typeface="+mj-ea"/>
              <a:cs typeface="Times New Roman" panose="02020603050405020304" pitchFamily="18" charset="0"/>
            </a:endParaRPr>
          </a:p>
        </p:txBody>
      </p:sp>
      <p:sp>
        <p:nvSpPr>
          <p:cNvPr id="9" name="Slide Number Placeholder 8">
            <a:extLst>
              <a:ext uri="{FF2B5EF4-FFF2-40B4-BE49-F238E27FC236}">
                <a16:creationId xmlns:a16="http://schemas.microsoft.com/office/drawing/2014/main" id="{8E1BDCF9-88D4-2610-CC26-BDA7893F5C34}"/>
              </a:ext>
            </a:extLst>
          </p:cNvPr>
          <p:cNvSpPr>
            <a:spLocks noGrp="1"/>
          </p:cNvSpPr>
          <p:nvPr>
            <p:ph type="sldNum" sz="quarter" idx="12"/>
          </p:nvPr>
        </p:nvSpPr>
        <p:spPr/>
        <p:txBody>
          <a:bodyPr/>
          <a:lstStyle/>
          <a:p>
            <a:fld id="{62292133-B7B4-4876-B4EC-8D2F9BE1CBCE}" type="slidenum">
              <a:rPr lang="en-ZA" smtClean="0"/>
              <a:t>12</a:t>
            </a:fld>
            <a:endParaRPr lang="en-ZA"/>
          </a:p>
        </p:txBody>
      </p:sp>
      <p:sp>
        <p:nvSpPr>
          <p:cNvPr id="2" name="TextBox 1">
            <a:extLst>
              <a:ext uri="{FF2B5EF4-FFF2-40B4-BE49-F238E27FC236}">
                <a16:creationId xmlns:a16="http://schemas.microsoft.com/office/drawing/2014/main" id="{0D9FBE17-10E7-3BBF-3D23-A40473FEFB2E}"/>
              </a:ext>
            </a:extLst>
          </p:cNvPr>
          <p:cNvSpPr txBox="1"/>
          <p:nvPr/>
        </p:nvSpPr>
        <p:spPr>
          <a:xfrm>
            <a:off x="1285163" y="3225633"/>
            <a:ext cx="7460980"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		</a:t>
            </a:r>
            <a:endParaRPr lang="fr-FR" sz="2000" b="0" i="0" dirty="0">
              <a:solidFill>
                <a:srgbClr val="262626"/>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980B9-12F9-78B9-1B02-0ED673BD10E5}"/>
              </a:ext>
            </a:extLst>
          </p:cNvPr>
          <p:cNvSpPr txBox="1"/>
          <p:nvPr/>
        </p:nvSpPr>
        <p:spPr>
          <a:xfrm>
            <a:off x="494503" y="1091957"/>
            <a:ext cx="10704505" cy="4093428"/>
          </a:xfrm>
          <a:prstGeom prst="rect">
            <a:avLst/>
          </a:prstGeom>
          <a:noFill/>
        </p:spPr>
        <p:txBody>
          <a:bodyPr wrap="square" rtlCol="0">
            <a:spAutoFit/>
          </a:bodyPr>
          <a:lstStyle/>
          <a:p>
            <a:pPr algn="just"/>
            <a:endParaRPr lang="fr-FR"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Identification des doublons</a:t>
            </a:r>
            <a:r>
              <a:rPr lang="fr-FR" sz="2000" dirty="0">
                <a:latin typeface="Times New Roman" panose="02020603050405020304" pitchFamily="18" charset="0"/>
                <a:cs typeface="Times New Roman" panose="02020603050405020304" pitchFamily="18" charset="0"/>
              </a:rPr>
              <a:t> : </a:t>
            </a:r>
          </a:p>
          <a:p>
            <a:pPr marL="342900" indent="-342900">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Il s'agit d'identifier les lignes identiques ou similaires dans le </a:t>
            </a:r>
            <a:r>
              <a:rPr lang="fr-FR" sz="2000" dirty="0" err="1">
                <a:latin typeface="Times New Roman" panose="02020603050405020304" pitchFamily="18" charset="0"/>
                <a:cs typeface="Times New Roman" panose="02020603050405020304" pitchFamily="18" charset="0"/>
              </a:rPr>
              <a:t>dataset</a:t>
            </a:r>
            <a:r>
              <a:rPr lang="fr-FR" sz="2000" dirty="0">
                <a:latin typeface="Times New Roman" panose="02020603050405020304" pitchFamily="18" charset="0"/>
                <a:cs typeface="Times New Roman" panose="02020603050405020304" pitchFamily="18" charset="0"/>
              </a:rPr>
              <a:t>. </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Les doublons peuvent être sur l'ensemble des colonnes ou sur une partie spécifique des colonnes.</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Suppression des doublons</a:t>
            </a:r>
            <a:r>
              <a:rPr lang="fr-FR" sz="2000" dirty="0">
                <a:latin typeface="Times New Roman" panose="02020603050405020304" pitchFamily="18" charset="0"/>
                <a:cs typeface="Times New Roman" panose="02020603050405020304" pitchFamily="18" charset="0"/>
              </a:rPr>
              <a:t> : </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Une fois identifiés, les doublons peuvent être supprimés en ne conservant qu'une occurrence unique de chaque ligne. </a:t>
            </a:r>
          </a:p>
          <a:p>
            <a:endParaRPr lang="fr-FR"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Cela permet de réduire la redondance dans les données.</a:t>
            </a:r>
          </a:p>
        </p:txBody>
      </p:sp>
    </p:spTree>
    <p:extLst>
      <p:ext uri="{BB962C8B-B14F-4D97-AF65-F5344CB8AC3E}">
        <p14:creationId xmlns:p14="http://schemas.microsoft.com/office/powerpoint/2010/main" val="1331815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1270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341381" y="1681582"/>
            <a:ext cx="11012419" cy="2448747"/>
          </a:xfrm>
          <a:prstGeom prst="rect">
            <a:avLst/>
          </a:prstGeom>
          <a:noFill/>
        </p:spPr>
        <p:txBody>
          <a:bodyPr wrap="square">
            <a:spAutoFit/>
          </a:bodyPr>
          <a:lstStyle/>
          <a:p>
            <a:pPr algn="just">
              <a:lnSpc>
                <a:spcPct val="150000"/>
              </a:lnSpc>
            </a:pPr>
            <a:r>
              <a:rPr lang="fr-FR" dirty="0">
                <a:solidFill>
                  <a:srgbClr val="262626"/>
                </a:solidFill>
                <a:latin typeface="Times New Roman" panose="02020603050405020304" pitchFamily="18" charset="0"/>
                <a:cs typeface="Times New Roman" panose="02020603050405020304" pitchFamily="18" charset="0"/>
              </a:rPr>
              <a:t>La transformation des données est le processus de conversion </a:t>
            </a:r>
            <a:r>
              <a:rPr lang="fr-FR" i="1" dirty="0">
                <a:latin typeface="Times New Roman" panose="02020603050405020304" pitchFamily="18" charset="0"/>
                <a:cs typeface="Times New Roman" panose="02020603050405020304" pitchFamily="18" charset="0"/>
              </a:rPr>
              <a:t>de données brutes </a:t>
            </a:r>
            <a:r>
              <a:rPr lang="fr-FR" dirty="0">
                <a:solidFill>
                  <a:srgbClr val="262626"/>
                </a:solidFill>
                <a:latin typeface="Times New Roman" panose="02020603050405020304" pitchFamily="18" charset="0"/>
                <a:cs typeface="Times New Roman" panose="02020603050405020304" pitchFamily="18" charset="0"/>
              </a:rPr>
              <a:t>en un format plus adapté pour l'</a:t>
            </a:r>
            <a:r>
              <a:rPr lang="fr-FR" i="1" dirty="0">
                <a:latin typeface="Times New Roman" panose="02020603050405020304" pitchFamily="18" charset="0"/>
                <a:cs typeface="Times New Roman" panose="02020603050405020304" pitchFamily="18" charset="0"/>
              </a:rPr>
              <a:t>analyse</a:t>
            </a:r>
            <a:r>
              <a:rPr lang="fr-FR" dirty="0">
                <a:solidFill>
                  <a:srgbClr val="262626"/>
                </a:solidFill>
                <a:latin typeface="Times New Roman" panose="02020603050405020304" pitchFamily="18" charset="0"/>
                <a:cs typeface="Times New Roman" panose="02020603050405020304" pitchFamily="18" charset="0"/>
              </a:rPr>
              <a:t> ou l'</a:t>
            </a:r>
            <a:r>
              <a:rPr lang="fr-FR" i="1" dirty="0">
                <a:latin typeface="Times New Roman" panose="02020603050405020304" pitchFamily="18" charset="0"/>
                <a:cs typeface="Times New Roman" panose="02020603050405020304" pitchFamily="18" charset="0"/>
              </a:rPr>
              <a:t>utilisation</a:t>
            </a:r>
            <a:r>
              <a:rPr lang="fr-FR" dirty="0">
                <a:solidFill>
                  <a:srgbClr val="262626"/>
                </a:solidFill>
                <a:latin typeface="Times New Roman" panose="02020603050405020304" pitchFamily="18" charset="0"/>
                <a:cs typeface="Times New Roman" panose="02020603050405020304" pitchFamily="18" charset="0"/>
              </a:rPr>
              <a:t> dans des </a:t>
            </a:r>
            <a:r>
              <a:rPr lang="fr-FR" i="1" dirty="0">
                <a:latin typeface="Times New Roman" panose="02020603050405020304" pitchFamily="18" charset="0"/>
                <a:cs typeface="Times New Roman" panose="02020603050405020304" pitchFamily="18" charset="0"/>
              </a:rPr>
              <a:t>modèles de machine learning</a:t>
            </a:r>
            <a:r>
              <a:rPr lang="fr-FR" dirty="0">
                <a:solidFill>
                  <a:srgbClr val="262626"/>
                </a:solidFill>
                <a:latin typeface="Times New Roman" panose="02020603050405020304" pitchFamily="18" charset="0"/>
                <a:cs typeface="Times New Roman" panose="02020603050405020304" pitchFamily="18" charset="0"/>
              </a:rPr>
              <a:t>.</a:t>
            </a:r>
            <a:r>
              <a:rPr lang="fr-FR" b="0" i="0" dirty="0">
                <a:solidFill>
                  <a:schemeClr val="bg1">
                    <a:lumMod val="50000"/>
                  </a:schemeClr>
                </a:solidFill>
                <a:effectLst/>
                <a:latin typeface="Times New Roman" panose="02020603050405020304" pitchFamily="18" charset="0"/>
                <a:cs typeface="Times New Roman" panose="02020603050405020304" pitchFamily="18" charset="0"/>
              </a:rPr>
              <a:t>                       </a:t>
            </a:r>
            <a:endParaRPr lang="fr-FR" sz="1600" b="1" dirty="0">
              <a:solidFill>
                <a:srgbClr val="262626"/>
              </a:solidFill>
              <a:latin typeface="Times New Roman" panose="02020603050405020304" pitchFamily="18" charset="0"/>
              <a:cs typeface="Times New Roman" panose="02020603050405020304" pitchFamily="18" charset="0"/>
            </a:endParaRPr>
          </a:p>
          <a:p>
            <a:pPr algn="just">
              <a:lnSpc>
                <a:spcPct val="150000"/>
              </a:lnSpc>
            </a:pPr>
            <a:r>
              <a:rPr lang="fr-FR" sz="1600" b="1" dirty="0">
                <a:solidFill>
                  <a:srgbClr val="262626"/>
                </a:solidFill>
                <a:latin typeface="Times New Roman" panose="02020603050405020304" pitchFamily="18" charset="0"/>
                <a:cs typeface="Times New Roman" panose="02020603050405020304" pitchFamily="18" charset="0"/>
              </a:rPr>
              <a:t>          </a:t>
            </a:r>
            <a:r>
              <a:rPr lang="fr-FR" b="1" dirty="0">
                <a:solidFill>
                  <a:srgbClr val="262626"/>
                </a:solidFill>
                <a:latin typeface="Times New Roman" panose="02020603050405020304" pitchFamily="18" charset="0"/>
                <a:cs typeface="Times New Roman" panose="02020603050405020304" pitchFamily="18" charset="0"/>
              </a:rPr>
              <a:t> Objectif : </a:t>
            </a:r>
            <a:r>
              <a:rPr lang="fr-FR" dirty="0">
                <a:solidFill>
                  <a:srgbClr val="262626"/>
                </a:solidFill>
                <a:latin typeface="Times New Roman" panose="02020603050405020304" pitchFamily="18" charset="0"/>
                <a:cs typeface="Times New Roman" panose="02020603050405020304" pitchFamily="18" charset="0"/>
              </a:rPr>
              <a:t>Préparer les données de manière à ce qu'elles soient plus compréhensibles, pertinentes, et exploitables pour obtenir des résultats plus précis et significatifs.</a:t>
            </a:r>
          </a:p>
          <a:p>
            <a:pPr algn="just">
              <a:lnSpc>
                <a:spcPct val="150000"/>
              </a:lnSpc>
            </a:pPr>
            <a:endParaRPr lang="fr-FR" sz="1600" b="1" i="0" dirty="0">
              <a:solidFill>
                <a:srgbClr val="262626"/>
              </a:solidFill>
              <a:effectLst/>
              <a:latin typeface="Times New Roman" panose="02020603050405020304" pitchFamily="18" charset="0"/>
              <a:cs typeface="Times New Roman" panose="02020603050405020304" pitchFamily="18" charset="0"/>
            </a:endParaRPr>
          </a:p>
          <a:p>
            <a:pPr algn="just">
              <a:lnSpc>
                <a:spcPct val="150000"/>
              </a:lnSpc>
            </a:pPr>
            <a:r>
              <a:rPr lang="fr-FR" sz="1600" b="1" i="0" dirty="0">
                <a:solidFill>
                  <a:srgbClr val="262626"/>
                </a:solidFill>
                <a:effectLst/>
                <a:latin typeface="Times New Roman" panose="02020603050405020304" pitchFamily="18" charset="0"/>
                <a:cs typeface="Times New Roman" panose="02020603050405020304" pitchFamily="18" charset="0"/>
              </a:rPr>
              <a:t>Exemple de transformation: </a:t>
            </a:r>
            <a:endParaRPr lang="fr-FR" sz="1600" b="0" i="0" dirty="0">
              <a:solidFill>
                <a:srgbClr val="262626"/>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9ED439-1419-DD4D-4ACE-0E91AC01F7A1}"/>
              </a:ext>
            </a:extLst>
          </p:cNvPr>
          <p:cNvSpPr txBox="1"/>
          <p:nvPr/>
        </p:nvSpPr>
        <p:spPr>
          <a:xfrm>
            <a:off x="1424470" y="181426"/>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a:t>
            </a:r>
            <a:endParaRPr lang="en-US" sz="3200" b="1" dirty="0">
              <a:latin typeface="Times New Roman" panose="02020603050405020304" pitchFamily="18" charset="0"/>
              <a:ea typeface="+mj-ea"/>
              <a:cs typeface="Times New Roman" panose="02020603050405020304" pitchFamily="18" charset="0"/>
            </a:endParaRPr>
          </a:p>
          <a:p>
            <a:r>
              <a:rPr lang="en-ZA" sz="3200" b="1" dirty="0">
                <a:solidFill>
                  <a:schemeClr val="accent1">
                    <a:lumMod val="60000"/>
                    <a:lumOff val="40000"/>
                  </a:schemeClr>
                </a:solidFill>
                <a:latin typeface="Times New Roman" panose="02020603050405020304" pitchFamily="18" charset="0"/>
                <a:ea typeface="+mj-ea"/>
                <a:cs typeface="Times New Roman" panose="02020603050405020304" pitchFamily="18" charset="0"/>
              </a:rPr>
              <a:t> </a:t>
            </a:r>
          </a:p>
        </p:txBody>
      </p:sp>
      <p:pic>
        <p:nvPicPr>
          <p:cNvPr id="4" name="Picture 3" descr="A blue and black target with a dart in the center&#10;&#10;Description automatically generated">
            <a:extLst>
              <a:ext uri="{FF2B5EF4-FFF2-40B4-BE49-F238E27FC236}">
                <a16:creationId xmlns:a16="http://schemas.microsoft.com/office/drawing/2014/main" id="{26042CB6-F292-07AF-D0C5-BF7C73FF13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573" y="2623664"/>
            <a:ext cx="355047" cy="355047"/>
          </a:xfrm>
          <a:prstGeom prst="rect">
            <a:avLst/>
          </a:prstGeom>
        </p:spPr>
      </p:pic>
      <p:pic>
        <p:nvPicPr>
          <p:cNvPr id="12" name="Picture 11" descr="A diagram of data transformation&#10;&#10;Description automatically generated">
            <a:extLst>
              <a:ext uri="{FF2B5EF4-FFF2-40B4-BE49-F238E27FC236}">
                <a16:creationId xmlns:a16="http://schemas.microsoft.com/office/drawing/2014/main" id="{844175E0-02BF-147D-8B1C-2FF20F0C89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4261" y="3239132"/>
            <a:ext cx="6146801" cy="3563749"/>
          </a:xfrm>
          <a:prstGeom prst="rect">
            <a:avLst/>
          </a:prstGeom>
        </p:spPr>
      </p:pic>
      <p:sp>
        <p:nvSpPr>
          <p:cNvPr id="13" name="Slide Number Placeholder 12">
            <a:extLst>
              <a:ext uri="{FF2B5EF4-FFF2-40B4-BE49-F238E27FC236}">
                <a16:creationId xmlns:a16="http://schemas.microsoft.com/office/drawing/2014/main" id="{3442744B-462F-72B8-24A7-1252A1EFEF47}"/>
              </a:ext>
            </a:extLst>
          </p:cNvPr>
          <p:cNvSpPr>
            <a:spLocks noGrp="1"/>
          </p:cNvSpPr>
          <p:nvPr>
            <p:ph type="sldNum" sz="quarter" idx="12"/>
          </p:nvPr>
        </p:nvSpPr>
        <p:spPr/>
        <p:txBody>
          <a:bodyPr/>
          <a:lstStyle/>
          <a:p>
            <a:fld id="{62292133-B7B4-4876-B4EC-8D2F9BE1CBCE}" type="slidenum">
              <a:rPr lang="en-ZA" smtClean="0"/>
              <a:t>13</a:t>
            </a:fld>
            <a:endParaRPr lang="en-ZA"/>
          </a:p>
        </p:txBody>
      </p:sp>
    </p:spTree>
    <p:extLst>
      <p:ext uri="{BB962C8B-B14F-4D97-AF65-F5344CB8AC3E}">
        <p14:creationId xmlns:p14="http://schemas.microsoft.com/office/powerpoint/2010/main" val="1225101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9050" y="5172"/>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373669" y="207930"/>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Normalisation</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18" name="TextBox 17">
            <a:extLst>
              <a:ext uri="{FF2B5EF4-FFF2-40B4-BE49-F238E27FC236}">
                <a16:creationId xmlns:a16="http://schemas.microsoft.com/office/drawing/2014/main" id="{75B4B2A5-F860-2F56-08D7-693314948EDA}"/>
              </a:ext>
            </a:extLst>
          </p:cNvPr>
          <p:cNvSpPr txBox="1"/>
          <p:nvPr/>
        </p:nvSpPr>
        <p:spPr>
          <a:xfrm>
            <a:off x="312912" y="1858168"/>
            <a:ext cx="11566176" cy="1477328"/>
          </a:xfrm>
          <a:prstGeom prst="rect">
            <a:avLst/>
          </a:prstGeom>
          <a:noFill/>
        </p:spPr>
        <p:txBody>
          <a:bodyPr wrap="square">
            <a:spAutoFit/>
          </a:bodyPr>
          <a:lstStyle/>
          <a:p>
            <a:pPr marL="285750" indent="-285750" algn="just">
              <a:buFont typeface="Wingdings" panose="05000000000000000000" pitchFamily="2" charset="2"/>
              <a:buChar char="§"/>
            </a:pPr>
            <a:r>
              <a:rPr lang="fr-FR" b="0" i="0" dirty="0">
                <a:solidFill>
                  <a:srgbClr val="262626"/>
                </a:solidFill>
                <a:effectLst/>
                <a:latin typeface="Times New Roman" panose="02020603050405020304" pitchFamily="18" charset="0"/>
                <a:cs typeface="Times New Roman" panose="02020603050405020304" pitchFamily="18" charset="0"/>
              </a:rPr>
              <a:t>La normalisation est l’une de méthode de transformation des données pour les mettre à une </a:t>
            </a:r>
            <a:r>
              <a:rPr lang="fr-FR" b="1" dirty="0">
                <a:solidFill>
                  <a:srgbClr val="262626"/>
                </a:solidFill>
                <a:effectLst/>
                <a:latin typeface="Times New Roman" panose="02020603050405020304" pitchFamily="18" charset="0"/>
                <a:cs typeface="Times New Roman" panose="02020603050405020304" pitchFamily="18" charset="0"/>
              </a:rPr>
              <a:t>échelle</a:t>
            </a:r>
            <a:r>
              <a:rPr lang="fr-FR" b="0" i="0" dirty="0">
                <a:solidFill>
                  <a:srgbClr val="262626"/>
                </a:solidFill>
                <a:effectLst/>
                <a:latin typeface="Times New Roman" panose="02020603050405020304" pitchFamily="18" charset="0"/>
                <a:cs typeface="Times New Roman" panose="02020603050405020304" pitchFamily="18" charset="0"/>
              </a:rPr>
              <a:t> ou à une </a:t>
            </a:r>
            <a:r>
              <a:rPr lang="fr-FR" b="1" dirty="0">
                <a:solidFill>
                  <a:srgbClr val="262626"/>
                </a:solidFill>
                <a:effectLst/>
                <a:latin typeface="Times New Roman" panose="02020603050405020304" pitchFamily="18" charset="0"/>
                <a:cs typeface="Times New Roman" panose="02020603050405020304" pitchFamily="18" charset="0"/>
              </a:rPr>
              <a:t>plage</a:t>
            </a:r>
            <a:r>
              <a:rPr lang="fr-FR" b="0" i="1" dirty="0">
                <a:solidFill>
                  <a:srgbClr val="262626"/>
                </a:solidFill>
                <a:effectLst/>
                <a:latin typeface="Times New Roman" panose="02020603050405020304" pitchFamily="18" charset="0"/>
                <a:cs typeface="Times New Roman" panose="02020603050405020304" pitchFamily="18" charset="0"/>
              </a:rPr>
              <a:t> </a:t>
            </a:r>
            <a:r>
              <a:rPr lang="fr-FR" b="1" dirty="0">
                <a:solidFill>
                  <a:srgbClr val="262626"/>
                </a:solidFill>
                <a:effectLst/>
                <a:latin typeface="Times New Roman" panose="02020603050405020304" pitchFamily="18" charset="0"/>
                <a:cs typeface="Times New Roman" panose="02020603050405020304" pitchFamily="18" charset="0"/>
              </a:rPr>
              <a:t>uniforme</a:t>
            </a:r>
            <a:r>
              <a:rPr lang="fr-FR" b="0" i="1" dirty="0">
                <a:solidFill>
                  <a:srgbClr val="262626"/>
                </a:solidFill>
                <a:effectLst/>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
            </a:pPr>
            <a:endParaRPr lang="fr-FR" dirty="0">
              <a:solidFill>
                <a:srgbClr val="262626"/>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b="0" i="0" dirty="0">
                <a:solidFill>
                  <a:srgbClr val="262626"/>
                </a:solidFill>
                <a:effectLst/>
                <a:latin typeface="Times New Roman" panose="02020603050405020304" pitchFamily="18" charset="0"/>
                <a:cs typeface="Times New Roman" panose="02020603050405020304" pitchFamily="18" charset="0"/>
              </a:rPr>
              <a:t>L'objectif est de rendre les variables comparables en ajustant leur </a:t>
            </a:r>
            <a:r>
              <a:rPr lang="fr-FR" b="0" dirty="0">
                <a:effectLst/>
                <a:latin typeface="Times New Roman" panose="02020603050405020304" pitchFamily="18" charset="0"/>
                <a:cs typeface="Times New Roman" panose="02020603050405020304" pitchFamily="18" charset="0"/>
              </a:rPr>
              <a:t>échelle</a:t>
            </a:r>
            <a:r>
              <a:rPr lang="fr-FR" b="0" i="0" dirty="0">
                <a:solidFill>
                  <a:srgbClr val="262626"/>
                </a:solidFill>
                <a:effectLst/>
                <a:latin typeface="Times New Roman" panose="02020603050405020304" pitchFamily="18" charset="0"/>
                <a:cs typeface="Times New Roman" panose="02020603050405020304" pitchFamily="18" charset="0"/>
              </a:rPr>
              <a:t>, ce qui est particulièrement important pour les algorithmes </a:t>
            </a:r>
            <a:r>
              <a:rPr lang="fr-FR" b="1" dirty="0">
                <a:effectLst/>
                <a:latin typeface="Times New Roman" panose="02020603050405020304" pitchFamily="18" charset="0"/>
                <a:cs typeface="Times New Roman" panose="02020603050405020304" pitchFamily="18" charset="0"/>
              </a:rPr>
              <a:t>de machine learning </a:t>
            </a:r>
            <a:r>
              <a:rPr lang="fr-FR" b="0" i="0" dirty="0">
                <a:solidFill>
                  <a:srgbClr val="262626"/>
                </a:solidFill>
                <a:effectLst/>
                <a:latin typeface="Times New Roman" panose="02020603050405020304" pitchFamily="18" charset="0"/>
                <a:cs typeface="Times New Roman" panose="02020603050405020304" pitchFamily="18" charset="0"/>
              </a:rPr>
              <a:t>qui sont sensibles à l'échelle des données.</a:t>
            </a:r>
          </a:p>
        </p:txBody>
      </p:sp>
      <p:pic>
        <p:nvPicPr>
          <p:cNvPr id="24" name="Picture 23">
            <a:extLst>
              <a:ext uri="{FF2B5EF4-FFF2-40B4-BE49-F238E27FC236}">
                <a16:creationId xmlns:a16="http://schemas.microsoft.com/office/drawing/2014/main" id="{4AB071D8-01F0-54FE-F8AD-B0D3168E1C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114" y="5538564"/>
            <a:ext cx="786931" cy="339623"/>
          </a:xfrm>
          <a:prstGeom prst="rect">
            <a:avLst/>
          </a:prstGeom>
        </p:spPr>
      </p:pic>
      <p:pic>
        <p:nvPicPr>
          <p:cNvPr id="26" name="Picture 25" descr="A group of apples with green arrow pointing to the right&#10;&#10;Description automatically generated with medium confidence">
            <a:extLst>
              <a:ext uri="{FF2B5EF4-FFF2-40B4-BE49-F238E27FC236}">
                <a16:creationId xmlns:a16="http://schemas.microsoft.com/office/drawing/2014/main" id="{352BD07A-1808-A773-6076-B5955005A4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2019" y="3850150"/>
            <a:ext cx="3993998" cy="2597495"/>
          </a:xfrm>
          <a:prstGeom prst="rect">
            <a:avLst/>
          </a:prstGeom>
        </p:spPr>
      </p:pic>
      <p:sp>
        <p:nvSpPr>
          <p:cNvPr id="27" name="Slide Number Placeholder 26">
            <a:extLst>
              <a:ext uri="{FF2B5EF4-FFF2-40B4-BE49-F238E27FC236}">
                <a16:creationId xmlns:a16="http://schemas.microsoft.com/office/drawing/2014/main" id="{2D09DFB6-3859-03A1-2FD0-5FCE438C9A26}"/>
              </a:ext>
            </a:extLst>
          </p:cNvPr>
          <p:cNvSpPr>
            <a:spLocks noGrp="1"/>
          </p:cNvSpPr>
          <p:nvPr>
            <p:ph type="sldNum" sz="quarter" idx="12"/>
          </p:nvPr>
        </p:nvSpPr>
        <p:spPr/>
        <p:txBody>
          <a:bodyPr/>
          <a:lstStyle/>
          <a:p>
            <a:fld id="{62292133-B7B4-4876-B4EC-8D2F9BE1CBCE}" type="slidenum">
              <a:rPr lang="en-ZA" smtClean="0"/>
              <a:t>14</a:t>
            </a:fld>
            <a:endParaRPr lang="en-ZA"/>
          </a:p>
        </p:txBody>
      </p:sp>
    </p:spTree>
    <p:extLst>
      <p:ext uri="{BB962C8B-B14F-4D97-AF65-F5344CB8AC3E}">
        <p14:creationId xmlns:p14="http://schemas.microsoft.com/office/powerpoint/2010/main" val="1178375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57809"/>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latin typeface="Times New Roman" panose="02020603050405020304" pitchFamily="18" charset="0"/>
              <a:ea typeface="+mj-ea"/>
              <a:cs typeface="Times New Roman" panose="02020603050405020304" pitchFamily="18" charset="0"/>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431236" y="48906"/>
            <a:ext cx="11129064"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Normalisation</a:t>
            </a:r>
          </a:p>
          <a:p>
            <a:r>
              <a:rPr lang="en-ZA" sz="3200" b="1" dirty="0">
                <a:latin typeface="Times New Roman" panose="02020603050405020304" pitchFamily="18" charset="0"/>
                <a:ea typeface="+mj-ea"/>
                <a:cs typeface="Times New Roman" panose="02020603050405020304" pitchFamily="18" charset="0"/>
              </a:rPr>
              <a:t> </a:t>
            </a:r>
          </a:p>
        </p:txBody>
      </p:sp>
      <p:sp>
        <p:nvSpPr>
          <p:cNvPr id="18" name="TextBox 17">
            <a:extLst>
              <a:ext uri="{FF2B5EF4-FFF2-40B4-BE49-F238E27FC236}">
                <a16:creationId xmlns:a16="http://schemas.microsoft.com/office/drawing/2014/main" id="{75B4B2A5-F860-2F56-08D7-693314948EDA}"/>
              </a:ext>
            </a:extLst>
          </p:cNvPr>
          <p:cNvSpPr txBox="1"/>
          <p:nvPr/>
        </p:nvSpPr>
        <p:spPr>
          <a:xfrm>
            <a:off x="1258164" y="2070637"/>
            <a:ext cx="4352278" cy="1754326"/>
          </a:xfrm>
          <a:prstGeom prst="rect">
            <a:avLst/>
          </a:prstGeom>
          <a:noFill/>
        </p:spPr>
        <p:txBody>
          <a:bodyPr wrap="square">
            <a:spAutoFit/>
          </a:bodyPr>
          <a:lstStyle/>
          <a:p>
            <a:pPr algn="just"/>
            <a:r>
              <a:rPr lang="fr-FR" b="1" dirty="0">
                <a:latin typeface="Times New Roman" panose="02020603050405020304" pitchFamily="18" charset="0"/>
                <a:cs typeface="Times New Roman" panose="02020603050405020304" pitchFamily="18" charset="0"/>
              </a:rPr>
              <a:t>N</a:t>
            </a:r>
            <a:r>
              <a:rPr lang="fr-FR" b="1" i="0" dirty="0">
                <a:effectLst/>
                <a:latin typeface="Times New Roman" panose="02020603050405020304" pitchFamily="18" charset="0"/>
                <a:cs typeface="Times New Roman" panose="02020603050405020304" pitchFamily="18" charset="0"/>
              </a:rPr>
              <a:t>ormalisation Min-Max </a:t>
            </a:r>
          </a:p>
          <a:p>
            <a:pPr algn="just"/>
            <a:endParaRPr lang="fr-FR" b="1" dirty="0">
              <a:latin typeface="Times New Roman" panose="02020603050405020304" pitchFamily="18" charset="0"/>
              <a:cs typeface="Times New Roman" panose="02020603050405020304" pitchFamily="18" charset="0"/>
            </a:endParaRPr>
          </a:p>
          <a:p>
            <a:pPr algn="just"/>
            <a:r>
              <a:rPr lang="fr-FR" b="0" i="0" dirty="0">
                <a:effectLst/>
                <a:latin typeface="Times New Roman" panose="02020603050405020304" pitchFamily="18" charset="0"/>
                <a:cs typeface="Times New Roman" panose="02020603050405020304" pitchFamily="18" charset="0"/>
              </a:rPr>
              <a:t>L’idée est de ramener toutes les valeurs de la variable dans l’intervalle [0;1], tout en conservant le rapport des distances entre les valeurs. </a:t>
            </a:r>
          </a:p>
        </p:txBody>
      </p:sp>
      <p:cxnSp>
        <p:nvCxnSpPr>
          <p:cNvPr id="9" name="Straight Connector 8">
            <a:extLst>
              <a:ext uri="{FF2B5EF4-FFF2-40B4-BE49-F238E27FC236}">
                <a16:creationId xmlns:a16="http://schemas.microsoft.com/office/drawing/2014/main" id="{42B5ACB0-2EE1-E82A-11E5-1ED55AE01D7E}"/>
              </a:ext>
            </a:extLst>
          </p:cNvPr>
          <p:cNvCxnSpPr>
            <a:cxnSpLocks/>
          </p:cNvCxnSpPr>
          <p:nvPr/>
        </p:nvCxnSpPr>
        <p:spPr>
          <a:xfrm>
            <a:off x="6119202" y="2351452"/>
            <a:ext cx="0" cy="230933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A9CDE1D-597A-0652-353C-ABD11F814478}"/>
              </a:ext>
            </a:extLst>
          </p:cNvPr>
          <p:cNvSpPr txBox="1"/>
          <p:nvPr/>
        </p:nvSpPr>
        <p:spPr>
          <a:xfrm>
            <a:off x="6707472" y="2069461"/>
            <a:ext cx="4166742" cy="1477328"/>
          </a:xfrm>
          <a:prstGeom prst="rect">
            <a:avLst/>
          </a:prstGeom>
          <a:noFill/>
        </p:spPr>
        <p:txBody>
          <a:bodyPr wrap="square" rtlCol="0">
            <a:spAutoFit/>
          </a:bodyPr>
          <a:lstStyle/>
          <a:p>
            <a:pPr algn="just"/>
            <a:r>
              <a:rPr lang="fr-FR" b="1" i="0" dirty="0">
                <a:solidFill>
                  <a:srgbClr val="262626"/>
                </a:solidFill>
                <a:effectLst/>
                <a:latin typeface="Times New Roman" panose="02020603050405020304" pitchFamily="18" charset="0"/>
                <a:cs typeface="Times New Roman" panose="02020603050405020304" pitchFamily="18" charset="0"/>
              </a:rPr>
              <a:t>Maximum </a:t>
            </a:r>
            <a:r>
              <a:rPr lang="fr-FR" b="1" i="0" dirty="0" err="1">
                <a:solidFill>
                  <a:srgbClr val="262626"/>
                </a:solidFill>
                <a:effectLst/>
                <a:latin typeface="Times New Roman" panose="02020603050405020304" pitchFamily="18" charset="0"/>
                <a:cs typeface="Times New Roman" panose="02020603050405020304" pitchFamily="18" charset="0"/>
              </a:rPr>
              <a:t>Absolute</a:t>
            </a:r>
            <a:r>
              <a:rPr lang="fr-FR" b="1" i="0" dirty="0">
                <a:solidFill>
                  <a:srgbClr val="262626"/>
                </a:solidFill>
                <a:effectLst/>
                <a:latin typeface="Times New Roman" panose="02020603050405020304" pitchFamily="18" charset="0"/>
                <a:cs typeface="Times New Roman" panose="02020603050405020304" pitchFamily="18" charset="0"/>
              </a:rPr>
              <a:t> </a:t>
            </a:r>
            <a:r>
              <a:rPr lang="fr-FR" b="1" i="0" dirty="0" err="1">
                <a:solidFill>
                  <a:srgbClr val="262626"/>
                </a:solidFill>
                <a:effectLst/>
                <a:latin typeface="Times New Roman" panose="02020603050405020304" pitchFamily="18" charset="0"/>
                <a:cs typeface="Times New Roman" panose="02020603050405020304" pitchFamily="18" charset="0"/>
              </a:rPr>
              <a:t>Scaling</a:t>
            </a:r>
            <a:r>
              <a:rPr lang="fr-FR" b="1" dirty="0">
                <a:solidFill>
                  <a:srgbClr val="262626"/>
                </a:solidFill>
                <a:latin typeface="Times New Roman" panose="02020603050405020304" pitchFamily="18" charset="0"/>
                <a:cs typeface="Times New Roman" panose="02020603050405020304" pitchFamily="18" charset="0"/>
              </a:rPr>
              <a:t> </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Cette méthode est utile lorsque vous avez des données comportant plus de zéros( </a:t>
            </a:r>
            <a:r>
              <a:rPr lang="fr-FR" dirty="0" err="1">
                <a:latin typeface="Times New Roman" panose="02020603050405020304" pitchFamily="18" charset="0"/>
                <a:cs typeface="Times New Roman" panose="02020603050405020304" pitchFamily="18" charset="0"/>
              </a:rPr>
              <a:t>sparse</a:t>
            </a:r>
            <a:r>
              <a:rPr lang="fr-FR" dirty="0">
                <a:latin typeface="Times New Roman" panose="02020603050405020304" pitchFamily="18" charset="0"/>
                <a:cs typeface="Times New Roman" panose="02020603050405020304" pitchFamily="18" charset="0"/>
              </a:rPr>
              <a:t> data).</a:t>
            </a:r>
            <a:endParaRPr lang="en-ZA" dirty="0">
              <a:latin typeface="Times New Roman" panose="02020603050405020304" pitchFamily="18" charset="0"/>
              <a:cs typeface="Times New Roman" panose="02020603050405020304" pitchFamily="18" charset="0"/>
            </a:endParaRPr>
          </a:p>
        </p:txBody>
      </p:sp>
      <p:pic>
        <p:nvPicPr>
          <p:cNvPr id="15" name="Picture 14" descr="A black background with white text&#10;&#10;Description automatically generated">
            <a:extLst>
              <a:ext uri="{FF2B5EF4-FFF2-40B4-BE49-F238E27FC236}">
                <a16:creationId xmlns:a16="http://schemas.microsoft.com/office/drawing/2014/main" id="{00E1525E-4F0D-AE1C-CA3B-02FC5A9C57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3577" y="4068422"/>
            <a:ext cx="2652625" cy="699482"/>
          </a:xfrm>
          <a:prstGeom prst="rect">
            <a:avLst/>
          </a:prstGeom>
        </p:spPr>
      </p:pic>
      <p:pic>
        <p:nvPicPr>
          <p:cNvPr id="17" name="Picture 16" descr="A black background with writing&#10;&#10;Description automatically generated">
            <a:extLst>
              <a:ext uri="{FF2B5EF4-FFF2-40B4-BE49-F238E27FC236}">
                <a16:creationId xmlns:a16="http://schemas.microsoft.com/office/drawing/2014/main" id="{6512070C-48CF-9AA4-4426-796AF17111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1041" y="4004070"/>
            <a:ext cx="3050441" cy="921758"/>
          </a:xfrm>
          <a:prstGeom prst="rect">
            <a:avLst/>
          </a:prstGeom>
        </p:spPr>
      </p:pic>
      <p:sp>
        <p:nvSpPr>
          <p:cNvPr id="20" name="TextBox 19">
            <a:extLst>
              <a:ext uri="{FF2B5EF4-FFF2-40B4-BE49-F238E27FC236}">
                <a16:creationId xmlns:a16="http://schemas.microsoft.com/office/drawing/2014/main" id="{0BF309D0-7597-33E6-7900-0AA55E2567FA}"/>
              </a:ext>
            </a:extLst>
          </p:cNvPr>
          <p:cNvSpPr txBox="1"/>
          <p:nvPr/>
        </p:nvSpPr>
        <p:spPr>
          <a:xfrm>
            <a:off x="1301109" y="5533547"/>
            <a:ext cx="8899334" cy="369332"/>
          </a:xfrm>
          <a:prstGeom prst="rect">
            <a:avLst/>
          </a:prstGeom>
          <a:noFill/>
        </p:spPr>
        <p:txBody>
          <a:bodyPr wrap="square" rtlCol="0">
            <a:spAutoFit/>
          </a:bodyPr>
          <a:lstStyle/>
          <a:p>
            <a:r>
              <a:rPr lang="en-ZA" sz="1800" b="1" i="0" dirty="0" err="1">
                <a:solidFill>
                  <a:srgbClr val="262626"/>
                </a:solidFill>
                <a:effectLst/>
                <a:latin typeface="Times New Roman" panose="02020603050405020304" pitchFamily="18" charset="0"/>
                <a:cs typeface="Times New Roman" panose="02020603050405020304" pitchFamily="18" charset="0"/>
              </a:rPr>
              <a:t>Autres</a:t>
            </a:r>
            <a:r>
              <a:rPr lang="en-ZA" sz="1800" b="1" i="0" dirty="0">
                <a:solidFill>
                  <a:srgbClr val="262626"/>
                </a:solidFill>
                <a:effectLst/>
                <a:latin typeface="Times New Roman" panose="02020603050405020304" pitchFamily="18" charset="0"/>
                <a:cs typeface="Times New Roman" panose="02020603050405020304" pitchFamily="18" charset="0"/>
              </a:rPr>
              <a:t> </a:t>
            </a:r>
            <a:r>
              <a:rPr lang="en-ZA" sz="1800" b="1" i="0" dirty="0" err="1">
                <a:solidFill>
                  <a:srgbClr val="262626"/>
                </a:solidFill>
                <a:effectLst/>
                <a:latin typeface="Times New Roman" panose="02020603050405020304" pitchFamily="18" charset="0"/>
                <a:cs typeface="Times New Roman" panose="02020603050405020304" pitchFamily="18" charset="0"/>
              </a:rPr>
              <a:t>méthodes</a:t>
            </a:r>
            <a:r>
              <a:rPr lang="en-ZA" sz="1800" b="1" i="0" dirty="0">
                <a:solidFill>
                  <a:srgbClr val="262626"/>
                </a:solidFill>
                <a:effectLst/>
                <a:latin typeface="Times New Roman" panose="02020603050405020304" pitchFamily="18" charset="0"/>
                <a:cs typeface="Times New Roman" panose="02020603050405020304" pitchFamily="18" charset="0"/>
              </a:rPr>
              <a:t> : </a:t>
            </a:r>
            <a:r>
              <a:rPr lang="en-ZA" sz="1800" i="0" dirty="0">
                <a:solidFill>
                  <a:srgbClr val="262626"/>
                </a:solidFill>
                <a:effectLst/>
                <a:latin typeface="Times New Roman" panose="02020603050405020304" pitchFamily="18" charset="0"/>
                <a:cs typeface="Times New Roman" panose="02020603050405020304" pitchFamily="18" charset="0"/>
              </a:rPr>
              <a:t>Decimal scaling, Z-score normalization.</a:t>
            </a:r>
            <a:endParaRPr lang="en-ZA" dirty="0"/>
          </a:p>
        </p:txBody>
      </p:sp>
      <p:sp>
        <p:nvSpPr>
          <p:cNvPr id="22" name="Slide Number Placeholder 21">
            <a:extLst>
              <a:ext uri="{FF2B5EF4-FFF2-40B4-BE49-F238E27FC236}">
                <a16:creationId xmlns:a16="http://schemas.microsoft.com/office/drawing/2014/main" id="{0B4B121C-1D9E-37BA-66AF-A8022D5EB93B}"/>
              </a:ext>
            </a:extLst>
          </p:cNvPr>
          <p:cNvSpPr>
            <a:spLocks noGrp="1"/>
          </p:cNvSpPr>
          <p:nvPr>
            <p:ph type="sldNum" sz="quarter" idx="12"/>
          </p:nvPr>
        </p:nvSpPr>
        <p:spPr/>
        <p:txBody>
          <a:bodyPr/>
          <a:lstStyle/>
          <a:p>
            <a:fld id="{62292133-B7B4-4876-B4EC-8D2F9BE1CBCE}" type="slidenum">
              <a:rPr lang="en-ZA" smtClean="0"/>
              <a:t>15</a:t>
            </a:fld>
            <a:endParaRPr lang="en-ZA"/>
          </a:p>
        </p:txBody>
      </p:sp>
      <p:sp>
        <p:nvSpPr>
          <p:cNvPr id="2" name="TextBox 1">
            <a:extLst>
              <a:ext uri="{FF2B5EF4-FFF2-40B4-BE49-F238E27FC236}">
                <a16:creationId xmlns:a16="http://schemas.microsoft.com/office/drawing/2014/main" id="{DAB759E8-DE0B-699A-16FD-FE2743786248}"/>
              </a:ext>
            </a:extLst>
          </p:cNvPr>
          <p:cNvSpPr txBox="1"/>
          <p:nvPr/>
        </p:nvSpPr>
        <p:spPr>
          <a:xfrm>
            <a:off x="1169376" y="1126124"/>
            <a:ext cx="3411501" cy="677108"/>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M</a:t>
            </a:r>
            <a:r>
              <a:rPr lang="fr-FR" sz="2000" b="1" i="0" dirty="0">
                <a:effectLst/>
                <a:latin typeface="Times New Roman" panose="02020603050405020304" pitchFamily="18" charset="0"/>
                <a:cs typeface="Times New Roman" panose="02020603050405020304" pitchFamily="18" charset="0"/>
              </a:rPr>
              <a:t>éthodes de normalisation:</a:t>
            </a:r>
            <a:endParaRPr lang="en-US" sz="2000" b="1" dirty="0">
              <a:latin typeface="Times New Roman" panose="02020603050405020304" pitchFamily="18" charset="0"/>
              <a:ea typeface="+mj-ea"/>
              <a:cs typeface="Times New Roman" panose="02020603050405020304" pitchFamily="18" charset="0"/>
            </a:endParaRPr>
          </a:p>
          <a:p>
            <a:endParaRPr lang="en-US" dirty="0"/>
          </a:p>
        </p:txBody>
      </p:sp>
    </p:spTree>
    <p:extLst>
      <p:ext uri="{BB962C8B-B14F-4D97-AF65-F5344CB8AC3E}">
        <p14:creationId xmlns:p14="http://schemas.microsoft.com/office/powerpoint/2010/main" val="1554591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57809"/>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latin typeface="Times New Roman" panose="02020603050405020304" pitchFamily="18" charset="0"/>
              <a:ea typeface="+mj-ea"/>
              <a:cs typeface="Times New Roman" panose="02020603050405020304" pitchFamily="18" charset="0"/>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431236" y="48906"/>
            <a:ext cx="11129064"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Encodage</a:t>
            </a:r>
          </a:p>
          <a:p>
            <a:r>
              <a:rPr lang="en-ZA" sz="3200" b="1" dirty="0">
                <a:latin typeface="Times New Roman" panose="02020603050405020304" pitchFamily="18" charset="0"/>
                <a:ea typeface="+mj-ea"/>
                <a:cs typeface="Times New Roman" panose="02020603050405020304" pitchFamily="18" charset="0"/>
              </a:rPr>
              <a:t> </a:t>
            </a:r>
          </a:p>
        </p:txBody>
      </p:sp>
      <p:sp>
        <p:nvSpPr>
          <p:cNvPr id="22" name="Slide Number Placeholder 21">
            <a:extLst>
              <a:ext uri="{FF2B5EF4-FFF2-40B4-BE49-F238E27FC236}">
                <a16:creationId xmlns:a16="http://schemas.microsoft.com/office/drawing/2014/main" id="{0B4B121C-1D9E-37BA-66AF-A8022D5EB93B}"/>
              </a:ext>
            </a:extLst>
          </p:cNvPr>
          <p:cNvSpPr>
            <a:spLocks noGrp="1"/>
          </p:cNvSpPr>
          <p:nvPr>
            <p:ph type="sldNum" sz="quarter" idx="12"/>
          </p:nvPr>
        </p:nvSpPr>
        <p:spPr/>
        <p:txBody>
          <a:bodyPr/>
          <a:lstStyle/>
          <a:p>
            <a:fld id="{62292133-B7B4-4876-B4EC-8D2F9BE1CBCE}" type="slidenum">
              <a:rPr lang="en-ZA" smtClean="0"/>
              <a:t>16</a:t>
            </a:fld>
            <a:endParaRPr lang="en-ZA"/>
          </a:p>
        </p:txBody>
      </p:sp>
      <p:sp>
        <p:nvSpPr>
          <p:cNvPr id="4" name="TextBox 3">
            <a:extLst>
              <a:ext uri="{FF2B5EF4-FFF2-40B4-BE49-F238E27FC236}">
                <a16:creationId xmlns:a16="http://schemas.microsoft.com/office/drawing/2014/main" id="{FABF7F43-01D7-5075-C28B-A58DE4709E3E}"/>
              </a:ext>
            </a:extLst>
          </p:cNvPr>
          <p:cNvSpPr txBox="1"/>
          <p:nvPr/>
        </p:nvSpPr>
        <p:spPr>
          <a:xfrm>
            <a:off x="349763" y="1532839"/>
            <a:ext cx="10702550" cy="3277820"/>
          </a:xfrm>
          <a:prstGeom prst="rect">
            <a:avLst/>
          </a:prstGeom>
          <a:noFill/>
        </p:spPr>
        <p:txBody>
          <a:bodyPr wrap="square">
            <a:spAutoFit/>
          </a:bodyPr>
          <a:lstStyle/>
          <a:p>
            <a:pPr algn="just">
              <a:lnSpc>
                <a:spcPct val="150000"/>
              </a:lnSpc>
            </a:pPr>
            <a:endParaRPr lang="fr-FR" dirty="0">
              <a:latin typeface="Times New Roman" panose="02020603050405020304" pitchFamily="18" charset="0"/>
              <a:cs typeface="Times New Roman" panose="02020603050405020304" pitchFamily="18" charset="0"/>
            </a:endParaRPr>
          </a:p>
          <a:p>
            <a:pPr algn="just">
              <a:lnSpc>
                <a:spcPct val="150000"/>
              </a:lnSpc>
            </a:pPr>
            <a:r>
              <a:rPr lang="fr-FR" b="1" dirty="0">
                <a:latin typeface="Times New Roman" panose="02020603050405020304" pitchFamily="18" charset="0"/>
                <a:cs typeface="Times New Roman" panose="02020603050405020304" pitchFamily="18" charset="0"/>
              </a:rPr>
              <a:t>Pourquoi l'encodage est-il important ?</a:t>
            </a:r>
          </a:p>
          <a:p>
            <a:pPr algn="just">
              <a:lnSpc>
                <a:spcPct val="150000"/>
              </a:lnSpc>
            </a:pPr>
            <a:endParaRPr lang="fr-FR"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Les algorithmes d'apprentissage automatique fonctionnent principalement avec des valeurs numériques. </a:t>
            </a:r>
          </a:p>
          <a:p>
            <a:pPr algn="just">
              <a:lnSpc>
                <a:spcPct val="150000"/>
              </a:lnSpc>
            </a:pPr>
            <a:endParaRPr lang="fr-FR"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Les variables catégorielles, comme les noms ou les catégories </a:t>
            </a:r>
            <a:r>
              <a:rPr lang="fr-FR" b="1" dirty="0">
                <a:solidFill>
                  <a:srgbClr val="FF0000"/>
                </a:solidFill>
                <a:latin typeface="Times New Roman" panose="02020603050405020304" pitchFamily="18" charset="0"/>
                <a:cs typeface="Times New Roman" panose="02020603050405020304" pitchFamily="18" charset="0"/>
              </a:rPr>
              <a:t>(par exemple, "Homme" ou "Femme", "Rouge" ou "Bleu")</a:t>
            </a:r>
            <a:r>
              <a:rPr lang="fr-FR" dirty="0">
                <a:latin typeface="Times New Roman" panose="02020603050405020304" pitchFamily="18" charset="0"/>
                <a:cs typeface="Times New Roman" panose="02020603050405020304" pitchFamily="18" charset="0"/>
              </a:rPr>
              <a:t>, doivent donc être converties en un format numérique pour être utilisées par les modèles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3432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57809"/>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latin typeface="Times New Roman" panose="02020603050405020304" pitchFamily="18" charset="0"/>
              <a:ea typeface="+mj-ea"/>
              <a:cs typeface="Times New Roman" panose="02020603050405020304" pitchFamily="18" charset="0"/>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431236" y="48906"/>
            <a:ext cx="11129064"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Encodage</a:t>
            </a:r>
          </a:p>
          <a:p>
            <a:r>
              <a:rPr lang="en-ZA" sz="3200" b="1" dirty="0">
                <a:latin typeface="Times New Roman" panose="02020603050405020304" pitchFamily="18" charset="0"/>
                <a:ea typeface="+mj-ea"/>
                <a:cs typeface="Times New Roman" panose="02020603050405020304" pitchFamily="18" charset="0"/>
              </a:rPr>
              <a:t> </a:t>
            </a:r>
          </a:p>
        </p:txBody>
      </p:sp>
      <p:sp>
        <p:nvSpPr>
          <p:cNvPr id="22" name="Slide Number Placeholder 21">
            <a:extLst>
              <a:ext uri="{FF2B5EF4-FFF2-40B4-BE49-F238E27FC236}">
                <a16:creationId xmlns:a16="http://schemas.microsoft.com/office/drawing/2014/main" id="{0B4B121C-1D9E-37BA-66AF-A8022D5EB93B}"/>
              </a:ext>
            </a:extLst>
          </p:cNvPr>
          <p:cNvSpPr>
            <a:spLocks noGrp="1"/>
          </p:cNvSpPr>
          <p:nvPr>
            <p:ph type="sldNum" sz="quarter" idx="12"/>
          </p:nvPr>
        </p:nvSpPr>
        <p:spPr/>
        <p:txBody>
          <a:bodyPr/>
          <a:lstStyle/>
          <a:p>
            <a:fld id="{62292133-B7B4-4876-B4EC-8D2F9BE1CBCE}" type="slidenum">
              <a:rPr lang="en-ZA" smtClean="0"/>
              <a:t>17</a:t>
            </a:fld>
            <a:endParaRPr lang="en-ZA"/>
          </a:p>
        </p:txBody>
      </p:sp>
      <p:sp>
        <p:nvSpPr>
          <p:cNvPr id="4" name="TextBox 3">
            <a:extLst>
              <a:ext uri="{FF2B5EF4-FFF2-40B4-BE49-F238E27FC236}">
                <a16:creationId xmlns:a16="http://schemas.microsoft.com/office/drawing/2014/main" id="{FABF7F43-01D7-5075-C28B-A58DE4709E3E}"/>
              </a:ext>
            </a:extLst>
          </p:cNvPr>
          <p:cNvSpPr txBox="1"/>
          <p:nvPr/>
        </p:nvSpPr>
        <p:spPr>
          <a:xfrm>
            <a:off x="305375" y="1386283"/>
            <a:ext cx="10190347" cy="4801314"/>
          </a:xfrm>
          <a:prstGeom prst="rect">
            <a:avLst/>
          </a:prstGeom>
          <a:noFill/>
        </p:spPr>
        <p:txBody>
          <a:bodyPr wrap="square">
            <a:spAutoFit/>
          </a:bodyPr>
          <a:lstStyle/>
          <a:p>
            <a:pPr algn="just">
              <a:lnSpc>
                <a:spcPct val="150000"/>
              </a:lnSpc>
            </a:pPr>
            <a:endParaRPr lang="fr-FR" sz="2000" b="1" dirty="0">
              <a:latin typeface="Times New Roman" panose="02020603050405020304" pitchFamily="18" charset="0"/>
              <a:cs typeface="Times New Roman" panose="02020603050405020304" pitchFamily="18" charset="0"/>
            </a:endParaRPr>
          </a:p>
          <a:p>
            <a:pPr algn="just"/>
            <a:r>
              <a:rPr lang="fr-FR" sz="2000" b="1" dirty="0">
                <a:latin typeface="Times New Roman" panose="02020603050405020304" pitchFamily="18" charset="0"/>
                <a:cs typeface="Times New Roman" panose="02020603050405020304" pitchFamily="18" charset="0"/>
              </a:rPr>
              <a:t>Des méthodes courantes d'encodage de données :</a:t>
            </a:r>
          </a:p>
          <a:p>
            <a:pPr algn="just"/>
            <a:endParaRPr lang="fr-FR"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Label </a:t>
            </a:r>
            <a:r>
              <a:rPr lang="fr-FR" sz="2000" b="1" dirty="0" err="1">
                <a:latin typeface="Times New Roman" panose="02020603050405020304" pitchFamily="18" charset="0"/>
                <a:cs typeface="Times New Roman" panose="02020603050405020304" pitchFamily="18" charset="0"/>
              </a:rPr>
              <a:t>Encoding</a:t>
            </a:r>
            <a:r>
              <a:rPr lang="fr-FR" sz="2000" b="1" dirty="0">
                <a:latin typeface="Times New Roman" panose="02020603050405020304" pitchFamily="18" charset="0"/>
                <a:cs typeface="Times New Roman" panose="02020603050405020304" pitchFamily="18" charset="0"/>
              </a:rPr>
              <a:t> (Encodage par étiquettes) :</a:t>
            </a:r>
          </a:p>
          <a:p>
            <a:pPr algn="just"/>
            <a:endParaRPr lang="fr-FR"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Cette méthode attribue un entier unique à chaque catégorie.</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latin typeface="Times New Roman" panose="02020603050405020304" pitchFamily="18" charset="0"/>
                <a:cs typeface="Times New Roman" panose="02020603050405020304" pitchFamily="18" charset="0"/>
              </a:rPr>
              <a:t>Exemple: </a:t>
            </a:r>
            <a:r>
              <a:rPr lang="fr-FR" sz="2000" dirty="0">
                <a:latin typeface="Times New Roman" panose="02020603050405020304" pitchFamily="18" charset="0"/>
                <a:cs typeface="Times New Roman" panose="02020603050405020304" pitchFamily="18" charset="0"/>
              </a:rPr>
              <a:t>pour une colonne "Couleur" avec les valeurs ["Rouge", "Bleu", "Vert"], le label </a:t>
            </a:r>
            <a:r>
              <a:rPr lang="fr-FR" sz="2000" dirty="0" err="1">
                <a:latin typeface="Times New Roman" panose="02020603050405020304" pitchFamily="18" charset="0"/>
                <a:cs typeface="Times New Roman" panose="02020603050405020304" pitchFamily="18" charset="0"/>
              </a:rPr>
              <a:t>encoding</a:t>
            </a:r>
            <a:r>
              <a:rPr lang="fr-FR" sz="2000" dirty="0">
                <a:latin typeface="Times New Roman" panose="02020603050405020304" pitchFamily="18" charset="0"/>
                <a:cs typeface="Times New Roman" panose="02020603050405020304" pitchFamily="18" charset="0"/>
              </a:rPr>
              <a:t> peut attribuer :</a:t>
            </a:r>
          </a:p>
          <a:p>
            <a:endParaRPr lang="fr-FR" sz="2000" dirty="0">
              <a:solidFill>
                <a:srgbClr val="FF0000"/>
              </a:solidFill>
              <a:latin typeface="Times New Roman" panose="02020603050405020304" pitchFamily="18" charset="0"/>
              <a:cs typeface="Times New Roman" panose="02020603050405020304" pitchFamily="18" charset="0"/>
            </a:endParaRPr>
          </a:p>
          <a:p>
            <a:pPr lvl="1"/>
            <a:r>
              <a:rPr lang="fr-FR" sz="2000" b="1" dirty="0">
                <a:solidFill>
                  <a:srgbClr val="FF0000"/>
                </a:solidFill>
                <a:latin typeface="Times New Roman" panose="02020603050405020304" pitchFamily="18" charset="0"/>
                <a:cs typeface="Times New Roman" panose="02020603050405020304" pitchFamily="18" charset="0"/>
              </a:rPr>
              <a:t>"Rouge" → 0</a:t>
            </a:r>
          </a:p>
          <a:p>
            <a:pPr lvl="1"/>
            <a:r>
              <a:rPr lang="fr-FR" sz="2000" b="1" dirty="0">
                <a:solidFill>
                  <a:srgbClr val="FF0000"/>
                </a:solidFill>
                <a:latin typeface="Times New Roman" panose="02020603050405020304" pitchFamily="18" charset="0"/>
                <a:cs typeface="Times New Roman" panose="02020603050405020304" pitchFamily="18" charset="0"/>
              </a:rPr>
              <a:t>"Bleu" → 1</a:t>
            </a:r>
          </a:p>
          <a:p>
            <a:pPr lvl="1"/>
            <a:r>
              <a:rPr lang="fr-FR" sz="2000" b="1" dirty="0">
                <a:solidFill>
                  <a:srgbClr val="FF0000"/>
                </a:solidFill>
                <a:latin typeface="Times New Roman" panose="02020603050405020304" pitchFamily="18" charset="0"/>
                <a:cs typeface="Times New Roman" panose="02020603050405020304" pitchFamily="18" charset="0"/>
              </a:rPr>
              <a:t>"Vert" → 2</a:t>
            </a:r>
          </a:p>
          <a:p>
            <a:pPr lvl="1"/>
            <a:endParaRPr lang="fr-FR"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795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57809"/>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latin typeface="Times New Roman" panose="02020603050405020304" pitchFamily="18" charset="0"/>
              <a:ea typeface="+mj-ea"/>
              <a:cs typeface="Times New Roman" panose="02020603050405020304" pitchFamily="18" charset="0"/>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431236" y="48906"/>
            <a:ext cx="11129064"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Encodage</a:t>
            </a:r>
          </a:p>
          <a:p>
            <a:r>
              <a:rPr lang="en-ZA" sz="3200" b="1" dirty="0">
                <a:latin typeface="Times New Roman" panose="02020603050405020304" pitchFamily="18" charset="0"/>
                <a:ea typeface="+mj-ea"/>
                <a:cs typeface="Times New Roman" panose="02020603050405020304" pitchFamily="18" charset="0"/>
              </a:rPr>
              <a:t> </a:t>
            </a:r>
          </a:p>
        </p:txBody>
      </p:sp>
      <p:sp>
        <p:nvSpPr>
          <p:cNvPr id="22" name="Slide Number Placeholder 21">
            <a:extLst>
              <a:ext uri="{FF2B5EF4-FFF2-40B4-BE49-F238E27FC236}">
                <a16:creationId xmlns:a16="http://schemas.microsoft.com/office/drawing/2014/main" id="{0B4B121C-1D9E-37BA-66AF-A8022D5EB93B}"/>
              </a:ext>
            </a:extLst>
          </p:cNvPr>
          <p:cNvSpPr>
            <a:spLocks noGrp="1"/>
          </p:cNvSpPr>
          <p:nvPr>
            <p:ph type="sldNum" sz="quarter" idx="12"/>
          </p:nvPr>
        </p:nvSpPr>
        <p:spPr/>
        <p:txBody>
          <a:bodyPr/>
          <a:lstStyle/>
          <a:p>
            <a:fld id="{62292133-B7B4-4876-B4EC-8D2F9BE1CBCE}" type="slidenum">
              <a:rPr lang="en-ZA" smtClean="0"/>
              <a:t>18</a:t>
            </a:fld>
            <a:endParaRPr lang="en-ZA"/>
          </a:p>
        </p:txBody>
      </p:sp>
      <p:sp>
        <p:nvSpPr>
          <p:cNvPr id="4" name="TextBox 3">
            <a:extLst>
              <a:ext uri="{FF2B5EF4-FFF2-40B4-BE49-F238E27FC236}">
                <a16:creationId xmlns:a16="http://schemas.microsoft.com/office/drawing/2014/main" id="{FABF7F43-01D7-5075-C28B-A58DE4709E3E}"/>
              </a:ext>
            </a:extLst>
          </p:cNvPr>
          <p:cNvSpPr txBox="1"/>
          <p:nvPr/>
        </p:nvSpPr>
        <p:spPr>
          <a:xfrm>
            <a:off x="349763" y="1071200"/>
            <a:ext cx="9947176" cy="4755148"/>
          </a:xfrm>
          <a:prstGeom prst="rect">
            <a:avLst/>
          </a:prstGeom>
          <a:noFill/>
        </p:spPr>
        <p:txBody>
          <a:bodyPr wrap="square">
            <a:spAutoFit/>
          </a:bodyPr>
          <a:lstStyle/>
          <a:p>
            <a:pPr algn="just">
              <a:lnSpc>
                <a:spcPct val="150000"/>
              </a:lnSpc>
            </a:pPr>
            <a:endParaRPr lang="fr-FR"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sz="2000" b="1" dirty="0" err="1">
                <a:latin typeface="Times New Roman" panose="02020603050405020304" pitchFamily="18" charset="0"/>
                <a:cs typeface="Times New Roman" panose="02020603050405020304" pitchFamily="18" charset="0"/>
              </a:rPr>
              <a:t>One-Hot</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Encoding</a:t>
            </a:r>
            <a:r>
              <a:rPr lang="fr-FR" sz="2000" b="1" dirty="0">
                <a:latin typeface="Times New Roman" panose="02020603050405020304" pitchFamily="18" charset="0"/>
                <a:cs typeface="Times New Roman" panose="02020603050405020304" pitchFamily="18" charset="0"/>
              </a:rPr>
              <a:t> (Encodage binaire) :</a:t>
            </a:r>
          </a:p>
          <a:p>
            <a:pPr algn="just"/>
            <a:endParaRPr lang="fr-FR" sz="20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Cette méthode crée une colonne binaire pour chaque catégorie unique. Chaque catégorie est représentée par une seule colonne avec la valeur "1" pour indiquer la présence et "0" pour l'absence.</a:t>
            </a:r>
          </a:p>
          <a:p>
            <a:pPr algn="just"/>
            <a:endParaRPr lang="fr-FR"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fr-FR" sz="2000" b="1" dirty="0">
                <a:latin typeface="Times New Roman" panose="02020603050405020304" pitchFamily="18" charset="0"/>
                <a:cs typeface="Times New Roman" panose="02020603050405020304" pitchFamily="18" charset="0"/>
              </a:rPr>
              <a:t>Exemple: </a:t>
            </a:r>
            <a:r>
              <a:rPr lang="fr-FR" sz="2000" dirty="0">
                <a:latin typeface="Times New Roman" panose="02020603050405020304" pitchFamily="18" charset="0"/>
                <a:cs typeface="Times New Roman" panose="02020603050405020304" pitchFamily="18" charset="0"/>
              </a:rPr>
              <a:t>pour le même exemple "Couleur" avec les valeurs ["Rouge", "Bleu", "Vert"], cela produirait :</a:t>
            </a:r>
          </a:p>
          <a:p>
            <a:pPr algn="just"/>
            <a:endParaRPr lang="fr-FR" sz="2000" dirty="0">
              <a:latin typeface="Times New Roman" panose="02020603050405020304" pitchFamily="18" charset="0"/>
              <a:cs typeface="Times New Roman" panose="02020603050405020304" pitchFamily="18" charset="0"/>
            </a:endParaRPr>
          </a:p>
          <a:p>
            <a:pPr lvl="1" algn="just"/>
            <a:r>
              <a:rPr lang="fr-FR" sz="2000" b="1" dirty="0">
                <a:solidFill>
                  <a:srgbClr val="FF0000"/>
                </a:solidFill>
                <a:latin typeface="Times New Roman" panose="02020603050405020304" pitchFamily="18" charset="0"/>
                <a:cs typeface="Times New Roman" panose="02020603050405020304" pitchFamily="18" charset="0"/>
              </a:rPr>
              <a:t>" Rouge "</a:t>
            </a:r>
            <a:r>
              <a:rPr lang="fr-FR" sz="2000" dirty="0">
                <a:solidFill>
                  <a:srgbClr val="FF0000"/>
                </a:solidFill>
                <a:latin typeface="Times New Roman" panose="02020603050405020304" pitchFamily="18" charset="0"/>
                <a:cs typeface="Times New Roman" panose="02020603050405020304" pitchFamily="18" charset="0"/>
              </a:rPr>
              <a:t> : [1, 0, 0]</a:t>
            </a:r>
          </a:p>
          <a:p>
            <a:pPr lvl="1" algn="just"/>
            <a:r>
              <a:rPr lang="fr-FR" sz="2000" b="1" dirty="0">
                <a:solidFill>
                  <a:srgbClr val="FF0000"/>
                </a:solidFill>
                <a:latin typeface="Times New Roman" panose="02020603050405020304" pitchFamily="18" charset="0"/>
                <a:cs typeface="Times New Roman" panose="02020603050405020304" pitchFamily="18" charset="0"/>
              </a:rPr>
              <a:t>" Bleu "</a:t>
            </a:r>
            <a:r>
              <a:rPr lang="fr-FR" sz="2000" dirty="0">
                <a:solidFill>
                  <a:srgbClr val="FF0000"/>
                </a:solidFill>
                <a:latin typeface="Times New Roman" panose="02020603050405020304" pitchFamily="18" charset="0"/>
                <a:cs typeface="Times New Roman" panose="02020603050405020304" pitchFamily="18" charset="0"/>
              </a:rPr>
              <a:t> : [0, 1, 0]</a:t>
            </a:r>
          </a:p>
          <a:p>
            <a:pPr lvl="1" algn="just"/>
            <a:r>
              <a:rPr lang="fr-FR" sz="2000" b="1" dirty="0">
                <a:solidFill>
                  <a:srgbClr val="FF0000"/>
                </a:solidFill>
                <a:latin typeface="Times New Roman" panose="02020603050405020304" pitchFamily="18" charset="0"/>
                <a:cs typeface="Times New Roman" panose="02020603050405020304" pitchFamily="18" charset="0"/>
              </a:rPr>
              <a:t>" Vert "</a:t>
            </a:r>
            <a:r>
              <a:rPr lang="fr-FR" sz="2000" dirty="0">
                <a:solidFill>
                  <a:srgbClr val="FF0000"/>
                </a:solidFill>
                <a:latin typeface="Times New Roman" panose="02020603050405020304" pitchFamily="18" charset="0"/>
                <a:cs typeface="Times New Roman" panose="02020603050405020304" pitchFamily="18" charset="0"/>
              </a:rPr>
              <a:t> : [0, 0, 1]</a:t>
            </a:r>
          </a:p>
          <a:p>
            <a:pPr lvl="1" algn="just"/>
            <a:endParaRPr lang="fr-FR"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177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66687"/>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b="1" dirty="0">
              <a:latin typeface="Times New Roman" panose="02020603050405020304" pitchFamily="18" charset="0"/>
              <a:ea typeface="+mj-ea"/>
              <a:cs typeface="Times New Roman" panose="02020603050405020304" pitchFamily="18" charset="0"/>
            </a:endParaRPr>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431236" y="48906"/>
            <a:ext cx="11129064"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Encodage</a:t>
            </a:r>
          </a:p>
          <a:p>
            <a:r>
              <a:rPr lang="en-ZA" sz="3200" b="1" dirty="0">
                <a:latin typeface="Times New Roman" panose="02020603050405020304" pitchFamily="18" charset="0"/>
                <a:ea typeface="+mj-ea"/>
                <a:cs typeface="Times New Roman" panose="02020603050405020304" pitchFamily="18" charset="0"/>
              </a:rPr>
              <a:t> </a:t>
            </a:r>
          </a:p>
        </p:txBody>
      </p:sp>
      <p:sp>
        <p:nvSpPr>
          <p:cNvPr id="22" name="Slide Number Placeholder 21">
            <a:extLst>
              <a:ext uri="{FF2B5EF4-FFF2-40B4-BE49-F238E27FC236}">
                <a16:creationId xmlns:a16="http://schemas.microsoft.com/office/drawing/2014/main" id="{0B4B121C-1D9E-37BA-66AF-A8022D5EB93B}"/>
              </a:ext>
            </a:extLst>
          </p:cNvPr>
          <p:cNvSpPr>
            <a:spLocks noGrp="1"/>
          </p:cNvSpPr>
          <p:nvPr>
            <p:ph type="sldNum" sz="quarter" idx="12"/>
          </p:nvPr>
        </p:nvSpPr>
        <p:spPr/>
        <p:txBody>
          <a:bodyPr/>
          <a:lstStyle/>
          <a:p>
            <a:fld id="{62292133-B7B4-4876-B4EC-8D2F9BE1CBCE}" type="slidenum">
              <a:rPr lang="en-ZA" smtClean="0"/>
              <a:t>19</a:t>
            </a:fld>
            <a:endParaRPr lang="en-ZA"/>
          </a:p>
        </p:txBody>
      </p:sp>
      <p:sp>
        <p:nvSpPr>
          <p:cNvPr id="4" name="TextBox 3">
            <a:extLst>
              <a:ext uri="{FF2B5EF4-FFF2-40B4-BE49-F238E27FC236}">
                <a16:creationId xmlns:a16="http://schemas.microsoft.com/office/drawing/2014/main" id="{FABF7F43-01D7-5075-C28B-A58DE4709E3E}"/>
              </a:ext>
            </a:extLst>
          </p:cNvPr>
          <p:cNvSpPr txBox="1"/>
          <p:nvPr/>
        </p:nvSpPr>
        <p:spPr>
          <a:xfrm>
            <a:off x="349763" y="1532839"/>
            <a:ext cx="9713113" cy="4385816"/>
          </a:xfrm>
          <a:prstGeom prst="rect">
            <a:avLst/>
          </a:prstGeom>
          <a:noFill/>
        </p:spPr>
        <p:txBody>
          <a:bodyPr wrap="square">
            <a:spAutoFit/>
          </a:bodyPr>
          <a:lstStyle/>
          <a:p>
            <a:pPr algn="just">
              <a:lnSpc>
                <a:spcPct val="150000"/>
              </a:lnSpc>
            </a:pPr>
            <a:endParaRPr lang="fr-FR"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b="1" dirty="0" err="1">
                <a:latin typeface="Times New Roman" panose="02020603050405020304" pitchFamily="18" charset="0"/>
                <a:cs typeface="Times New Roman" panose="02020603050405020304" pitchFamily="18" charset="0"/>
              </a:rPr>
              <a:t>Binary</a:t>
            </a: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Encoding</a:t>
            </a:r>
            <a:r>
              <a:rPr lang="fr-FR" b="1" dirty="0">
                <a:latin typeface="Times New Roman" panose="02020603050405020304" pitchFamily="18" charset="0"/>
                <a:cs typeface="Times New Roman" panose="02020603050405020304" pitchFamily="18" charset="0"/>
              </a:rPr>
              <a:t> (Encodage binaire sur les catégories) :</a:t>
            </a:r>
          </a:p>
          <a:p>
            <a:pPr algn="just"/>
            <a:endParaRPr lang="fr-FR"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Une alternative au </a:t>
            </a:r>
            <a:r>
              <a:rPr lang="fr-FR" sz="2000" dirty="0" err="1">
                <a:latin typeface="Times New Roman" panose="02020603050405020304" pitchFamily="18" charset="0"/>
                <a:cs typeface="Times New Roman" panose="02020603050405020304" pitchFamily="18" charset="0"/>
              </a:rPr>
              <a:t>one-hot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encoding</a:t>
            </a:r>
            <a:r>
              <a:rPr lang="fr-FR" sz="2000" dirty="0">
                <a:latin typeface="Times New Roman" panose="02020603050405020304" pitchFamily="18" charset="0"/>
                <a:cs typeface="Times New Roman" panose="02020603050405020304" pitchFamily="18" charset="0"/>
              </a:rPr>
              <a:t> qui réduit le nombre de colonnes. Chaque catégorie est convertie en une représentation binaire, puis chaque bit est stocké dans une colonne séparée.</a:t>
            </a:r>
          </a:p>
          <a:p>
            <a:pPr algn="just"/>
            <a:endParaRPr lang="fr-FR"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fr-FR" sz="2000" b="1" dirty="0">
                <a:latin typeface="Times New Roman" panose="02020603050405020304" pitchFamily="18" charset="0"/>
                <a:cs typeface="Times New Roman" panose="02020603050405020304" pitchFamily="18" charset="0"/>
              </a:rPr>
              <a:t>Exemple</a:t>
            </a:r>
            <a:r>
              <a:rPr lang="fr-FR" sz="2000" dirty="0">
                <a:latin typeface="Times New Roman" panose="02020603050405020304" pitchFamily="18" charset="0"/>
                <a:cs typeface="Times New Roman" panose="02020603050405020304" pitchFamily="18" charset="0"/>
              </a:rPr>
              <a:t>, si une colonne "Couleur" a trois catégories :</a:t>
            </a:r>
          </a:p>
          <a:p>
            <a:pPr algn="just"/>
            <a:endParaRPr lang="fr-FR" sz="2000" dirty="0">
              <a:latin typeface="Times New Roman" panose="02020603050405020304" pitchFamily="18" charset="0"/>
              <a:cs typeface="Times New Roman" panose="02020603050405020304" pitchFamily="18" charset="0"/>
            </a:endParaRPr>
          </a:p>
          <a:p>
            <a:pPr lvl="1" algn="just"/>
            <a:r>
              <a:rPr lang="fr-FR" sz="2000" b="1" dirty="0">
                <a:solidFill>
                  <a:srgbClr val="FF0000"/>
                </a:solidFill>
                <a:latin typeface="Times New Roman" panose="02020603050405020304" pitchFamily="18" charset="0"/>
                <a:cs typeface="Times New Roman" panose="02020603050405020304" pitchFamily="18" charset="0"/>
              </a:rPr>
              <a:t>"Rouge" → 1 → 001</a:t>
            </a:r>
          </a:p>
          <a:p>
            <a:pPr lvl="1" algn="just"/>
            <a:r>
              <a:rPr lang="fr-FR" sz="2000" b="1" dirty="0">
                <a:solidFill>
                  <a:srgbClr val="FF0000"/>
                </a:solidFill>
                <a:latin typeface="Times New Roman" panose="02020603050405020304" pitchFamily="18" charset="0"/>
                <a:cs typeface="Times New Roman" panose="02020603050405020304" pitchFamily="18" charset="0"/>
              </a:rPr>
              <a:t>"Bleu" → 2 → 010</a:t>
            </a:r>
          </a:p>
          <a:p>
            <a:pPr lvl="1" algn="just"/>
            <a:r>
              <a:rPr lang="fr-FR" sz="2000" b="1" dirty="0">
                <a:solidFill>
                  <a:srgbClr val="FF0000"/>
                </a:solidFill>
                <a:latin typeface="Times New Roman" panose="02020603050405020304" pitchFamily="18" charset="0"/>
                <a:cs typeface="Times New Roman" panose="02020603050405020304" pitchFamily="18" charset="0"/>
              </a:rPr>
              <a:t>"Vert" → 3 → 011</a:t>
            </a:r>
          </a:p>
          <a:p>
            <a:pPr lvl="1" algn="just"/>
            <a:endParaRPr lang="fr-FR"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159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9050" y="5172"/>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550416" y="1234286"/>
            <a:ext cx="10144088" cy="5957400"/>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fr-FR" sz="2000" b="1" dirty="0">
                <a:latin typeface="Times New Roman" panose="02020603050405020304" pitchFamily="18" charset="0"/>
                <a:cs typeface="Times New Roman" panose="02020603050405020304" pitchFamily="18" charset="0"/>
              </a:rPr>
              <a:t>L'agrégation des données</a:t>
            </a:r>
            <a:r>
              <a:rPr lang="fr-FR" sz="2000" dirty="0">
                <a:latin typeface="Times New Roman" panose="02020603050405020304" pitchFamily="18" charset="0"/>
                <a:cs typeface="Times New Roman" panose="02020603050405020304" pitchFamily="18" charset="0"/>
              </a:rPr>
              <a:t>: est le processus de collecte de données à partir de diverses sources et de stockage dans un format unique. les données sont collectées, stockées, analysées et présentées sous forme de rapport ou de résumé. Il aide à collecter plus d'informations sur un cluster de données particulier. </a:t>
            </a:r>
          </a:p>
          <a:p>
            <a:pPr algn="just">
              <a:lnSpc>
                <a:spcPct val="150000"/>
              </a:lnSpc>
              <a:buFont typeface="Arial" panose="020B0604020202020204" pitchFamily="34" charset="0"/>
              <a:buChar char="•"/>
            </a:pPr>
            <a:endParaRPr lang="fr-FR"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fr-FR" sz="2000" b="1" i="0" dirty="0">
                <a:effectLst/>
                <a:latin typeface="Times New Roman" panose="02020603050405020304" pitchFamily="18" charset="0"/>
                <a:cs typeface="Times New Roman" panose="02020603050405020304" pitchFamily="18" charset="0"/>
              </a:rPr>
              <a:t>Discrétisation de données: </a:t>
            </a:r>
            <a:r>
              <a:rPr lang="fr-FR" sz="2000" dirty="0">
                <a:solidFill>
                  <a:srgbClr val="262626"/>
                </a:solidFill>
                <a:latin typeface="Times New Roman" panose="02020603050405020304" pitchFamily="18" charset="0"/>
                <a:cs typeface="Times New Roman" panose="02020603050405020304" pitchFamily="18" charset="0"/>
              </a:rPr>
              <a:t>i</a:t>
            </a:r>
            <a:r>
              <a:rPr lang="fr-FR" sz="2000" b="0" i="0" dirty="0">
                <a:solidFill>
                  <a:srgbClr val="262626"/>
                </a:solidFill>
                <a:effectLst/>
                <a:latin typeface="Times New Roman" panose="02020603050405020304" pitchFamily="18" charset="0"/>
                <a:cs typeface="Times New Roman" panose="02020603050405020304" pitchFamily="18" charset="0"/>
              </a:rPr>
              <a:t>l s'agit d'un processus de conversion de données continues en un ensemble d'intervalles de données. Les valeurs d'attribut continues sont remplacées par de petites étiquettes d'intervalle. </a:t>
            </a:r>
          </a:p>
          <a:p>
            <a:pPr marL="342900" indent="-342900" algn="just">
              <a:lnSpc>
                <a:spcPct val="150000"/>
              </a:lnSpc>
              <a:buFont typeface="Wingdings" panose="05000000000000000000" pitchFamily="2" charset="2"/>
              <a:buChar char="§"/>
            </a:pPr>
            <a:endParaRPr lang="fr-FR" sz="2000" b="0" i="0" dirty="0">
              <a:solidFill>
                <a:srgbClr val="262626"/>
              </a:solidFill>
              <a:effectLst/>
              <a:latin typeface="Times New Roman" panose="02020603050405020304" pitchFamily="18" charset="0"/>
              <a:cs typeface="Times New Roman" panose="02020603050405020304" pitchFamily="18" charset="0"/>
            </a:endParaRPr>
          </a:p>
          <a:p>
            <a:pPr algn="just">
              <a:lnSpc>
                <a:spcPct val="150000"/>
              </a:lnSpc>
            </a:pPr>
            <a:r>
              <a:rPr lang="fr-FR" sz="2000" b="0" i="0" dirty="0">
                <a:solidFill>
                  <a:srgbClr val="262626"/>
                </a:solidFill>
                <a:effectLst/>
                <a:latin typeface="Times New Roman" panose="02020603050405020304" pitchFamily="18" charset="0"/>
                <a:cs typeface="Times New Roman" panose="02020603050405020304" pitchFamily="18" charset="0"/>
              </a:rPr>
              <a:t>Cela rend les données plus faciles à étudier et à analyser. Si un attribut continu est géré par une tâche de Machine Learning, ses valeurs discrètes peuvent être remplacées par des attributs de qualité constante. </a:t>
            </a:r>
            <a:br>
              <a:rPr lang="fr-FR" sz="1600" dirty="0">
                <a:latin typeface="Times New Roman" panose="02020603050405020304" pitchFamily="18" charset="0"/>
                <a:cs typeface="Times New Roman" panose="02020603050405020304" pitchFamily="18" charset="0"/>
              </a:rPr>
            </a:br>
            <a:endParaRPr lang="fr-FR" sz="1600" b="0" i="0" dirty="0">
              <a:solidFill>
                <a:srgbClr val="262626"/>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9ED439-1419-DD4D-4ACE-0E91AC01F7A1}"/>
              </a:ext>
            </a:extLst>
          </p:cNvPr>
          <p:cNvSpPr txBox="1"/>
          <p:nvPr/>
        </p:nvSpPr>
        <p:spPr>
          <a:xfrm>
            <a:off x="1285163" y="163569"/>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Autres méthodes</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8E4EB5FA-2837-8C27-5784-B98F75999AA5}"/>
              </a:ext>
            </a:extLst>
          </p:cNvPr>
          <p:cNvSpPr>
            <a:spLocks noGrp="1"/>
          </p:cNvSpPr>
          <p:nvPr>
            <p:ph type="sldNum" sz="quarter" idx="12"/>
          </p:nvPr>
        </p:nvSpPr>
        <p:spPr/>
        <p:txBody>
          <a:bodyPr/>
          <a:lstStyle/>
          <a:p>
            <a:fld id="{62292133-B7B4-4876-B4EC-8D2F9BE1CBCE}" type="slidenum">
              <a:rPr lang="en-ZA" smtClean="0"/>
              <a:t>20</a:t>
            </a:fld>
            <a:endParaRPr lang="en-ZA"/>
          </a:p>
        </p:txBody>
      </p:sp>
    </p:spTree>
    <p:extLst>
      <p:ext uri="{BB962C8B-B14F-4D97-AF65-F5344CB8AC3E}">
        <p14:creationId xmlns:p14="http://schemas.microsoft.com/office/powerpoint/2010/main" val="2967044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9050" y="5172"/>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426128" y="1714953"/>
            <a:ext cx="11487705" cy="3724096"/>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fr-FR" sz="2000" b="1" i="0" dirty="0">
                <a:effectLst/>
                <a:latin typeface="Times New Roman" panose="02020603050405020304" pitchFamily="18" charset="0"/>
                <a:cs typeface="Times New Roman" panose="02020603050405020304" pitchFamily="18" charset="0"/>
              </a:rPr>
              <a:t>Généralisation des données :  </a:t>
            </a:r>
            <a:r>
              <a:rPr lang="fr-FR" sz="2000" b="0" i="0" dirty="0">
                <a:solidFill>
                  <a:srgbClr val="262626"/>
                </a:solidFill>
                <a:effectLst/>
                <a:latin typeface="Times New Roman" panose="02020603050405020304" pitchFamily="18" charset="0"/>
                <a:cs typeface="Times New Roman" panose="02020603050405020304" pitchFamily="18" charset="0"/>
              </a:rPr>
              <a:t>Dans ce processus, les attributs de données de bas niveau sont transformés en attributs de données de haut niveau à l'aide de hiérarchies de concepts. Cette conversion d'un niveau inférieur à un niveau conceptuel supérieur est utile pour obtenir une image plus claire des données. </a:t>
            </a:r>
          </a:p>
          <a:p>
            <a:pPr marL="342900" indent="-342900" algn="just">
              <a:lnSpc>
                <a:spcPct val="150000"/>
              </a:lnSpc>
              <a:buFont typeface="Wingdings" panose="05000000000000000000" pitchFamily="2" charset="2"/>
              <a:buChar char="§"/>
            </a:pPr>
            <a:r>
              <a:rPr lang="fr-FR" sz="2000" b="1" dirty="0">
                <a:solidFill>
                  <a:srgbClr val="262626"/>
                </a:solidFill>
                <a:latin typeface="Times New Roman" panose="02020603050405020304" pitchFamily="18" charset="0"/>
                <a:cs typeface="Times New Roman" panose="02020603050405020304" pitchFamily="18" charset="0"/>
              </a:rPr>
              <a:t>E</a:t>
            </a:r>
            <a:r>
              <a:rPr lang="fr-FR" sz="2000" b="1" i="0" dirty="0">
                <a:solidFill>
                  <a:srgbClr val="262626"/>
                </a:solidFill>
                <a:effectLst/>
                <a:latin typeface="Times New Roman" panose="02020603050405020304" pitchFamily="18" charset="0"/>
                <a:cs typeface="Times New Roman" panose="02020603050405020304" pitchFamily="18" charset="0"/>
              </a:rPr>
              <a:t>xemple : </a:t>
            </a:r>
          </a:p>
          <a:p>
            <a:pPr algn="just">
              <a:lnSpc>
                <a:spcPct val="150000"/>
              </a:lnSpc>
            </a:pPr>
            <a:r>
              <a:rPr lang="fr-FR" sz="2000" dirty="0">
                <a:solidFill>
                  <a:srgbClr val="262626"/>
                </a:solidFill>
                <a:latin typeface="Times New Roman" panose="02020603050405020304" pitchFamily="18" charset="0"/>
                <a:cs typeface="Times New Roman" panose="02020603050405020304" pitchFamily="18" charset="0"/>
              </a:rPr>
              <a:t>L</a:t>
            </a:r>
            <a:r>
              <a:rPr lang="fr-FR" sz="2000" b="0" i="0" dirty="0">
                <a:solidFill>
                  <a:srgbClr val="262626"/>
                </a:solidFill>
                <a:effectLst/>
                <a:latin typeface="Times New Roman" panose="02020603050405020304" pitchFamily="18" charset="0"/>
                <a:cs typeface="Times New Roman" panose="02020603050405020304" pitchFamily="18" charset="0"/>
              </a:rPr>
              <a:t>es données d'âge peuvent être sous la forme (20, 30) dans un ensemble de données. </a:t>
            </a:r>
          </a:p>
          <a:p>
            <a:pPr algn="just">
              <a:lnSpc>
                <a:spcPct val="150000"/>
              </a:lnSpc>
            </a:pPr>
            <a:r>
              <a:rPr lang="fr-FR" sz="2000" b="0" i="0" dirty="0">
                <a:solidFill>
                  <a:srgbClr val="262626"/>
                </a:solidFill>
                <a:effectLst/>
                <a:latin typeface="Times New Roman" panose="02020603050405020304" pitchFamily="18" charset="0"/>
                <a:cs typeface="Times New Roman" panose="02020603050405020304" pitchFamily="18" charset="0"/>
              </a:rPr>
              <a:t>Il se transforme en un niveau conceptuel supérieur en une valeur catégorielle (jeune, vieux). </a:t>
            </a:r>
          </a:p>
          <a:p>
            <a:pPr algn="just">
              <a:lnSpc>
                <a:spcPct val="150000"/>
              </a:lnSpc>
              <a:buFont typeface="Arial" panose="020B0604020202020204" pitchFamily="34" charset="0"/>
              <a:buChar char="•"/>
            </a:pPr>
            <a:endParaRPr lang="fr-FR" sz="1600" b="0" i="0" dirty="0">
              <a:solidFill>
                <a:srgbClr val="262626"/>
              </a:solidFill>
              <a:effectLst/>
              <a:latin typeface="Times New Roman" panose="02020603050405020304" pitchFamily="18" charset="0"/>
              <a:cs typeface="Times New Roman" panose="02020603050405020304" pitchFamily="18" charset="0"/>
            </a:endParaRPr>
          </a:p>
          <a:p>
            <a:br>
              <a:rPr lang="fr-FR" sz="1600" dirty="0"/>
            </a:br>
            <a:endParaRPr lang="fr-FR" sz="1600" b="0" i="0" dirty="0">
              <a:solidFill>
                <a:srgbClr val="262626"/>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9ED439-1419-DD4D-4ACE-0E91AC01F7A1}"/>
              </a:ext>
            </a:extLst>
          </p:cNvPr>
          <p:cNvSpPr txBox="1"/>
          <p:nvPr/>
        </p:nvSpPr>
        <p:spPr>
          <a:xfrm>
            <a:off x="1320767" y="202286"/>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Data Transformation : Autres méthodes</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F64E5919-18FB-6BDB-819C-D78A807842FC}"/>
              </a:ext>
            </a:extLst>
          </p:cNvPr>
          <p:cNvSpPr>
            <a:spLocks noGrp="1"/>
          </p:cNvSpPr>
          <p:nvPr>
            <p:ph type="sldNum" sz="quarter" idx="12"/>
          </p:nvPr>
        </p:nvSpPr>
        <p:spPr/>
        <p:txBody>
          <a:bodyPr/>
          <a:lstStyle/>
          <a:p>
            <a:fld id="{62292133-B7B4-4876-B4EC-8D2F9BE1CBCE}" type="slidenum">
              <a:rPr lang="en-ZA" smtClean="0"/>
              <a:t>21</a:t>
            </a:fld>
            <a:endParaRPr lang="en-ZA"/>
          </a:p>
        </p:txBody>
      </p:sp>
    </p:spTree>
    <p:extLst>
      <p:ext uri="{BB962C8B-B14F-4D97-AF65-F5344CB8AC3E}">
        <p14:creationId xmlns:p14="http://schemas.microsoft.com/office/powerpoint/2010/main" val="3049975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426129" y="1554920"/>
            <a:ext cx="11274640" cy="2031325"/>
          </a:xfrm>
          <a:prstGeom prst="rect">
            <a:avLst/>
          </a:prstGeom>
          <a:noFill/>
        </p:spPr>
        <p:txBody>
          <a:bodyPr wrap="square">
            <a:spAutoFit/>
          </a:bodyPr>
          <a:lstStyle/>
          <a:p>
            <a:pPr marL="285750" indent="-285750" algn="just">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Feature </a:t>
            </a:r>
            <a:r>
              <a:rPr lang="fr-FR" b="1" i="0" dirty="0" err="1">
                <a:solidFill>
                  <a:srgbClr val="262626"/>
                </a:solidFill>
                <a:effectLst/>
                <a:latin typeface="Times New Roman" panose="02020603050405020304" pitchFamily="18" charset="0"/>
                <a:cs typeface="Times New Roman" panose="02020603050405020304" pitchFamily="18" charset="0"/>
              </a:rPr>
              <a:t>Selection</a:t>
            </a:r>
            <a:r>
              <a:rPr lang="fr-FR" b="1" i="0" dirty="0">
                <a:solidFill>
                  <a:srgbClr val="262626"/>
                </a:solidFill>
                <a:effectLst/>
                <a:latin typeface="Times New Roman" panose="02020603050405020304" pitchFamily="18" charset="0"/>
                <a:cs typeface="Times New Roman" panose="02020603050405020304" pitchFamily="18" charset="0"/>
              </a:rPr>
              <a:t> </a:t>
            </a:r>
            <a:r>
              <a:rPr lang="fr-FR" b="0" i="0" dirty="0">
                <a:solidFill>
                  <a:srgbClr val="262626"/>
                </a:solidFill>
                <a:effectLst/>
                <a:latin typeface="Times New Roman" panose="02020603050405020304" pitchFamily="18" charset="0"/>
                <a:cs typeface="Times New Roman" panose="02020603050405020304" pitchFamily="18" charset="0"/>
              </a:rPr>
              <a:t>est un processus dans lequel vous sélectionnez automatiquement les </a:t>
            </a:r>
            <a:r>
              <a:rPr lang="fr-FR" dirty="0">
                <a:solidFill>
                  <a:srgbClr val="262626"/>
                </a:solidFill>
                <a:latin typeface="Times New Roman" panose="02020603050405020304" pitchFamily="18" charset="0"/>
                <a:cs typeface="Times New Roman" panose="02020603050405020304" pitchFamily="18" charset="0"/>
              </a:rPr>
              <a:t>F</a:t>
            </a:r>
            <a:r>
              <a:rPr lang="fr-FR" b="0" i="0" dirty="0">
                <a:solidFill>
                  <a:srgbClr val="262626"/>
                </a:solidFill>
                <a:effectLst/>
                <a:latin typeface="Times New Roman" panose="02020603050405020304" pitchFamily="18" charset="0"/>
                <a:cs typeface="Times New Roman" panose="02020603050405020304" pitchFamily="18" charset="0"/>
              </a:rPr>
              <a:t>eatures de vos données qui contribuent le plus à la variable </a:t>
            </a:r>
            <a:r>
              <a:rPr lang="fr-FR" b="1" i="0" dirty="0">
                <a:solidFill>
                  <a:srgbClr val="262626"/>
                </a:solidFill>
                <a:effectLst/>
                <a:latin typeface="Times New Roman" panose="02020603050405020304" pitchFamily="18" charset="0"/>
                <a:cs typeface="Times New Roman" panose="02020603050405020304" pitchFamily="18" charset="0"/>
              </a:rPr>
              <a:t>de prédiction </a:t>
            </a:r>
            <a:r>
              <a:rPr lang="fr-FR" b="0" i="0" dirty="0">
                <a:solidFill>
                  <a:srgbClr val="262626"/>
                </a:solidFill>
                <a:effectLst/>
                <a:latin typeface="Times New Roman" panose="02020603050405020304" pitchFamily="18" charset="0"/>
                <a:cs typeface="Times New Roman" panose="02020603050405020304" pitchFamily="18" charset="0"/>
              </a:rPr>
              <a:t>ou à la sortie qui vous intéresse. </a:t>
            </a:r>
          </a:p>
          <a:p>
            <a:pPr algn="just"/>
            <a:endParaRPr lang="fr-FR" b="0" i="0" dirty="0">
              <a:solidFill>
                <a:srgbClr val="262626"/>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b="0" i="0" dirty="0">
                <a:solidFill>
                  <a:srgbClr val="262626"/>
                </a:solidFill>
                <a:effectLst/>
                <a:latin typeface="Times New Roman" panose="02020603050405020304" pitchFamily="18" charset="0"/>
                <a:cs typeface="Times New Roman" panose="02020603050405020304" pitchFamily="18" charset="0"/>
              </a:rPr>
              <a:t>Le fait d'avoir des caractéristiques </a:t>
            </a:r>
            <a:r>
              <a:rPr lang="fr-FR" b="1" i="0" dirty="0">
                <a:solidFill>
                  <a:srgbClr val="262626"/>
                </a:solidFill>
                <a:effectLst/>
                <a:latin typeface="Times New Roman" panose="02020603050405020304" pitchFamily="18" charset="0"/>
                <a:cs typeface="Times New Roman" panose="02020603050405020304" pitchFamily="18" charset="0"/>
              </a:rPr>
              <a:t>non pertinentes</a:t>
            </a:r>
            <a:r>
              <a:rPr lang="fr-FR" b="0" i="0" dirty="0">
                <a:solidFill>
                  <a:srgbClr val="262626"/>
                </a:solidFill>
                <a:effectLst/>
                <a:latin typeface="Times New Roman" panose="02020603050405020304" pitchFamily="18" charset="0"/>
                <a:cs typeface="Times New Roman" panose="02020603050405020304" pitchFamily="18" charset="0"/>
              </a:rPr>
              <a:t> dans vos données peut diminuer la </a:t>
            </a:r>
            <a:r>
              <a:rPr lang="fr-FR" b="1" i="0" dirty="0">
                <a:solidFill>
                  <a:srgbClr val="262626"/>
                </a:solidFill>
                <a:effectLst/>
                <a:latin typeface="Times New Roman" panose="02020603050405020304" pitchFamily="18" charset="0"/>
                <a:cs typeface="Times New Roman" panose="02020603050405020304" pitchFamily="18" charset="0"/>
              </a:rPr>
              <a:t>précision</a:t>
            </a:r>
            <a:r>
              <a:rPr lang="fr-FR" b="0" i="0" dirty="0">
                <a:solidFill>
                  <a:srgbClr val="262626"/>
                </a:solidFill>
                <a:effectLst/>
                <a:latin typeface="Times New Roman" panose="02020603050405020304" pitchFamily="18" charset="0"/>
                <a:cs typeface="Times New Roman" panose="02020603050405020304" pitchFamily="18" charset="0"/>
              </a:rPr>
              <a:t> de nombreux modèles</a:t>
            </a:r>
            <a:r>
              <a:rPr lang="fr-FR" dirty="0">
                <a:solidFill>
                  <a:srgbClr val="262626"/>
                </a:solidFill>
                <a:latin typeface="Times New Roman" panose="02020603050405020304" pitchFamily="18" charset="0"/>
                <a:cs typeface="Times New Roman" panose="02020603050405020304" pitchFamily="18" charset="0"/>
              </a:rPr>
              <a:t>.</a:t>
            </a:r>
          </a:p>
          <a:p>
            <a:pPr algn="just"/>
            <a:endParaRPr lang="fr-FR" dirty="0">
              <a:solidFill>
                <a:srgbClr val="262626"/>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fr-FR" dirty="0">
                <a:solidFill>
                  <a:srgbClr val="262626"/>
                </a:solidFill>
                <a:latin typeface="Times New Roman" panose="02020603050405020304" pitchFamily="18" charset="0"/>
                <a:cs typeface="Times New Roman" panose="02020603050405020304" pitchFamily="18" charset="0"/>
              </a:rPr>
              <a:t>E</a:t>
            </a:r>
            <a:r>
              <a:rPr lang="fr-FR" b="0" i="0" dirty="0">
                <a:solidFill>
                  <a:srgbClr val="262626"/>
                </a:solidFill>
                <a:effectLst/>
                <a:latin typeface="Times New Roman" panose="02020603050405020304" pitchFamily="18" charset="0"/>
                <a:cs typeface="Times New Roman" panose="02020603050405020304" pitchFamily="18" charset="0"/>
              </a:rPr>
              <a:t>n particulier les algorithmes linéaires comme </a:t>
            </a:r>
            <a:r>
              <a:rPr lang="fr-FR" b="1" i="0" dirty="0">
                <a:solidFill>
                  <a:srgbClr val="262626"/>
                </a:solidFill>
                <a:effectLst/>
                <a:latin typeface="Times New Roman" panose="02020603050405020304" pitchFamily="18" charset="0"/>
                <a:cs typeface="Times New Roman" panose="02020603050405020304" pitchFamily="18" charset="0"/>
              </a:rPr>
              <a:t>la régression linéaire </a:t>
            </a:r>
            <a:r>
              <a:rPr lang="fr-FR" b="0" i="0" dirty="0">
                <a:solidFill>
                  <a:srgbClr val="262626"/>
                </a:solidFill>
                <a:effectLst/>
                <a:latin typeface="Times New Roman" panose="02020603050405020304" pitchFamily="18" charset="0"/>
                <a:cs typeface="Times New Roman" panose="02020603050405020304" pitchFamily="18" charset="0"/>
              </a:rPr>
              <a:t>et </a:t>
            </a:r>
            <a:r>
              <a:rPr lang="fr-FR" b="1" i="0" dirty="0">
                <a:solidFill>
                  <a:srgbClr val="262626"/>
                </a:solidFill>
                <a:effectLst/>
                <a:latin typeface="Times New Roman" panose="02020603050405020304" pitchFamily="18" charset="0"/>
                <a:cs typeface="Times New Roman" panose="02020603050405020304" pitchFamily="18" charset="0"/>
              </a:rPr>
              <a:t>logistique</a:t>
            </a:r>
            <a:r>
              <a:rPr lang="fr-FR" b="0" i="0" dirty="0">
                <a:solidFill>
                  <a:srgbClr val="262626"/>
                </a:solidFill>
                <a:effectLst/>
                <a:latin typeface="Times New Roman" panose="02020603050405020304" pitchFamily="18" charset="0"/>
                <a:cs typeface="Times New Roman" panose="02020603050405020304" pitchFamily="18" charset="0"/>
              </a:rPr>
              <a:t>. </a:t>
            </a:r>
          </a:p>
        </p:txBody>
      </p:sp>
      <p:sp>
        <p:nvSpPr>
          <p:cNvPr id="8" name="TextBox 7">
            <a:extLst>
              <a:ext uri="{FF2B5EF4-FFF2-40B4-BE49-F238E27FC236}">
                <a16:creationId xmlns:a16="http://schemas.microsoft.com/office/drawing/2014/main" id="{619ED439-1419-DD4D-4ACE-0E91AC01F7A1}"/>
              </a:ext>
            </a:extLst>
          </p:cNvPr>
          <p:cNvSpPr txBox="1"/>
          <p:nvPr/>
        </p:nvSpPr>
        <p:spPr>
          <a:xfrm>
            <a:off x="1301717" y="208242"/>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Feature </a:t>
            </a:r>
            <a:r>
              <a:rPr lang="fr-FR" sz="3200" b="1" dirty="0" err="1">
                <a:latin typeface="Times New Roman" panose="02020603050405020304" pitchFamily="18" charset="0"/>
                <a:ea typeface="+mj-ea"/>
                <a:cs typeface="Times New Roman" panose="02020603050405020304" pitchFamily="18" charset="0"/>
              </a:rPr>
              <a:t>Selection</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pic>
        <p:nvPicPr>
          <p:cNvPr id="4" name="Picture 3" descr="A diagram of a model of a model&#10;&#10;Description automatically generated with medium confidence">
            <a:extLst>
              <a:ext uri="{FF2B5EF4-FFF2-40B4-BE49-F238E27FC236}">
                <a16:creationId xmlns:a16="http://schemas.microsoft.com/office/drawing/2014/main" id="{8BC70CC1-A1B5-9A25-6050-74A1F6517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1809" y="3391276"/>
            <a:ext cx="9088229" cy="3403490"/>
          </a:xfrm>
          <a:prstGeom prst="rect">
            <a:avLst/>
          </a:prstGeom>
        </p:spPr>
      </p:pic>
      <p:sp>
        <p:nvSpPr>
          <p:cNvPr id="9" name="Slide Number Placeholder 8">
            <a:extLst>
              <a:ext uri="{FF2B5EF4-FFF2-40B4-BE49-F238E27FC236}">
                <a16:creationId xmlns:a16="http://schemas.microsoft.com/office/drawing/2014/main" id="{36BBAD24-7DD2-C193-B1F5-EF07EEE9D834}"/>
              </a:ext>
            </a:extLst>
          </p:cNvPr>
          <p:cNvSpPr>
            <a:spLocks noGrp="1"/>
          </p:cNvSpPr>
          <p:nvPr>
            <p:ph type="sldNum" sz="quarter" idx="12"/>
          </p:nvPr>
        </p:nvSpPr>
        <p:spPr/>
        <p:txBody>
          <a:bodyPr/>
          <a:lstStyle/>
          <a:p>
            <a:fld id="{62292133-B7B4-4876-B4EC-8D2F9BE1CBCE}" type="slidenum">
              <a:rPr lang="en-ZA" smtClean="0"/>
              <a:t>22</a:t>
            </a:fld>
            <a:endParaRPr lang="en-ZA"/>
          </a:p>
        </p:txBody>
      </p:sp>
    </p:spTree>
    <p:extLst>
      <p:ext uri="{BB962C8B-B14F-4D97-AF65-F5344CB8AC3E}">
        <p14:creationId xmlns:p14="http://schemas.microsoft.com/office/powerpoint/2010/main" val="699380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0" y="-17756"/>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622851" y="1837520"/>
            <a:ext cx="10654749" cy="3139321"/>
          </a:xfrm>
          <a:prstGeom prst="rect">
            <a:avLst/>
          </a:prstGeom>
          <a:noFill/>
        </p:spPr>
        <p:txBody>
          <a:bodyPr wrap="square">
            <a:spAutoFit/>
          </a:bodyPr>
          <a:lstStyle/>
          <a:p>
            <a:pPr marL="342900" indent="-342900">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Méthodes basées sur les filtres : </a:t>
            </a:r>
            <a:r>
              <a:rPr lang="fr-FR" i="0" dirty="0">
                <a:solidFill>
                  <a:srgbClr val="262626"/>
                </a:solidFill>
                <a:effectLst/>
                <a:latin typeface="Times New Roman" panose="02020603050405020304" pitchFamily="18" charset="0"/>
                <a:cs typeface="Times New Roman" panose="02020603050405020304" pitchFamily="18" charset="0"/>
              </a:rPr>
              <a:t>Utilisent des critères statistiques pour sélectionner les caractéristiques de manière  indépendante du modèle.</a:t>
            </a:r>
            <a:endParaRPr lang="fr-FR" dirty="0">
              <a:solidFill>
                <a:srgbClr val="262626"/>
              </a:solidFill>
              <a:latin typeface="Times New Roman" panose="02020603050405020304" pitchFamily="18" charset="0"/>
              <a:cs typeface="Times New Roman" panose="02020603050405020304" pitchFamily="18" charset="0"/>
            </a:endParaRPr>
          </a:p>
          <a:p>
            <a:endParaRPr lang="fr-FR" i="0" dirty="0">
              <a:solidFill>
                <a:srgbClr val="262626"/>
              </a:solidFill>
              <a:effectLst/>
              <a:latin typeface="Times New Roman" panose="02020603050405020304" pitchFamily="18" charset="0"/>
              <a:cs typeface="Times New Roman" panose="02020603050405020304" pitchFamily="18" charset="0"/>
            </a:endParaRPr>
          </a:p>
          <a:p>
            <a:endParaRPr lang="fr-FR" i="0" dirty="0">
              <a:solidFill>
                <a:srgbClr val="262626"/>
              </a:solidFill>
              <a:effectLst/>
              <a:latin typeface="Times New Roman" panose="02020603050405020304" pitchFamily="18" charset="0"/>
              <a:cs typeface="Times New Roman" panose="02020603050405020304" pitchFamily="18" charset="0"/>
            </a:endParaRPr>
          </a:p>
          <a:p>
            <a:r>
              <a:rPr lang="fr-FR" i="0" dirty="0">
                <a:solidFill>
                  <a:srgbClr val="262626"/>
                </a:solidFill>
                <a:effectLst/>
                <a:latin typeface="Times New Roman" panose="02020603050405020304" pitchFamily="18" charset="0"/>
                <a:cs typeface="Times New Roman" panose="02020603050405020304" pitchFamily="18" charset="0"/>
              </a:rPr>
              <a:t> </a:t>
            </a:r>
          </a:p>
          <a:p>
            <a:endParaRPr lang="fr-FR" dirty="0">
              <a:solidFill>
                <a:srgbClr val="262626"/>
              </a:solidFill>
              <a:latin typeface="Times New Roman" panose="02020603050405020304" pitchFamily="18" charset="0"/>
              <a:cs typeface="Times New Roman" panose="02020603050405020304" pitchFamily="18" charset="0"/>
            </a:endParaRPr>
          </a:p>
          <a:p>
            <a:endParaRPr lang="fr-FR" i="0" dirty="0">
              <a:solidFill>
                <a:srgbClr val="262626"/>
              </a:solidFill>
              <a:effectLst/>
              <a:latin typeface="Times New Roman" panose="02020603050405020304" pitchFamily="18" charset="0"/>
              <a:cs typeface="Times New Roman" panose="02020603050405020304" pitchFamily="18" charset="0"/>
            </a:endParaRPr>
          </a:p>
          <a:p>
            <a:endParaRPr lang="fr-FR" i="0" dirty="0">
              <a:solidFill>
                <a:srgbClr val="262626"/>
              </a:solidFill>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Méthodes basées sur les </a:t>
            </a:r>
            <a:r>
              <a:rPr lang="fr-FR" b="1" i="0" dirty="0" err="1">
                <a:solidFill>
                  <a:srgbClr val="262626"/>
                </a:solidFill>
                <a:effectLst/>
                <a:latin typeface="Times New Roman" panose="02020603050405020304" pitchFamily="18" charset="0"/>
                <a:cs typeface="Times New Roman" panose="02020603050405020304" pitchFamily="18" charset="0"/>
              </a:rPr>
              <a:t>wrappers</a:t>
            </a:r>
            <a:r>
              <a:rPr lang="fr-FR" b="1" i="0" dirty="0">
                <a:solidFill>
                  <a:srgbClr val="262626"/>
                </a:solidFill>
                <a:effectLst/>
                <a:latin typeface="Times New Roman" panose="02020603050405020304" pitchFamily="18" charset="0"/>
                <a:cs typeface="Times New Roman" panose="02020603050405020304" pitchFamily="18" charset="0"/>
              </a:rPr>
              <a:t> : </a:t>
            </a:r>
            <a:r>
              <a:rPr lang="fr-FR" i="0" dirty="0">
                <a:solidFill>
                  <a:srgbClr val="262626"/>
                </a:solidFill>
                <a:effectLst/>
                <a:latin typeface="Times New Roman" panose="02020603050405020304" pitchFamily="18" charset="0"/>
                <a:cs typeface="Times New Roman" panose="02020603050405020304" pitchFamily="18" charset="0"/>
              </a:rPr>
              <a:t>Évaluent la performance du modèle en utilisant différents sous-ensembles de caractéristiques et sélectionnent celui qui donne les meilleurs résultats.</a:t>
            </a:r>
          </a:p>
          <a:p>
            <a:endParaRPr lang="fr-FR" i="0" dirty="0">
              <a:solidFill>
                <a:srgbClr val="262626"/>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9ED439-1419-DD4D-4ACE-0E91AC01F7A1}"/>
              </a:ext>
            </a:extLst>
          </p:cNvPr>
          <p:cNvSpPr txBox="1"/>
          <p:nvPr/>
        </p:nvSpPr>
        <p:spPr>
          <a:xfrm>
            <a:off x="1358210" y="184725"/>
            <a:ext cx="10245725" cy="584775"/>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Feature </a:t>
            </a:r>
            <a:r>
              <a:rPr lang="fr-FR" sz="3200" b="1" dirty="0" err="1">
                <a:latin typeface="Times New Roman" panose="02020603050405020304" pitchFamily="18" charset="0"/>
                <a:ea typeface="+mj-ea"/>
                <a:cs typeface="Times New Roman" panose="02020603050405020304" pitchFamily="18" charset="0"/>
              </a:rPr>
              <a:t>Selection</a:t>
            </a:r>
            <a:r>
              <a:rPr lang="fr-FR" sz="3200" b="1" dirty="0">
                <a:latin typeface="Times New Roman" panose="02020603050405020304" pitchFamily="18" charset="0"/>
                <a:ea typeface="+mj-ea"/>
                <a:cs typeface="Times New Roman" panose="02020603050405020304" pitchFamily="18" charset="0"/>
              </a:rPr>
              <a:t> </a:t>
            </a:r>
            <a:r>
              <a:rPr lang="en-US" sz="3200" b="1" dirty="0">
                <a:latin typeface="Times New Roman" panose="02020603050405020304" pitchFamily="18" charset="0"/>
                <a:ea typeface="+mj-ea"/>
                <a:cs typeface="Times New Roman" panose="02020603050405020304" pitchFamily="18" charset="0"/>
              </a:rPr>
              <a:t>: </a:t>
            </a:r>
            <a:r>
              <a:rPr lang="en-ZA" sz="3200" b="1" dirty="0" err="1">
                <a:latin typeface="Times New Roman" panose="02020603050405020304" pitchFamily="18" charset="0"/>
                <a:ea typeface="+mj-ea"/>
                <a:cs typeface="Times New Roman" panose="02020603050405020304" pitchFamily="18" charset="0"/>
              </a:rPr>
              <a:t>Méthodes</a:t>
            </a:r>
            <a:endParaRPr lang="en-ZA" sz="3200" b="1" dirty="0">
              <a:latin typeface="Times New Roman" panose="02020603050405020304" pitchFamily="18" charset="0"/>
              <a:ea typeface="+mj-ea"/>
              <a:cs typeface="Times New Roman" panose="02020603050405020304" pitchFamily="18" charset="0"/>
            </a:endParaRPr>
          </a:p>
        </p:txBody>
      </p:sp>
      <p:pic>
        <p:nvPicPr>
          <p:cNvPr id="9" name="Picture 8" descr="A diagram of a blue and yellow box&#10;&#10;Description automatically generated with medium confidence">
            <a:extLst>
              <a:ext uri="{FF2B5EF4-FFF2-40B4-BE49-F238E27FC236}">
                <a16:creationId xmlns:a16="http://schemas.microsoft.com/office/drawing/2014/main" id="{59B3CF4A-FE15-760D-7572-1B098B0B8B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1148" y="2874901"/>
            <a:ext cx="6319354" cy="806726"/>
          </a:xfrm>
          <a:prstGeom prst="rect">
            <a:avLst/>
          </a:prstGeom>
        </p:spPr>
      </p:pic>
      <p:pic>
        <p:nvPicPr>
          <p:cNvPr id="11" name="Picture 10" descr="A black screen with white text&#10;&#10;Description automatically generated">
            <a:extLst>
              <a:ext uri="{FF2B5EF4-FFF2-40B4-BE49-F238E27FC236}">
                <a16:creationId xmlns:a16="http://schemas.microsoft.com/office/drawing/2014/main" id="{389201A6-77AD-0B36-3D93-EE5EFBA45B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170" y="4893288"/>
            <a:ext cx="5358503" cy="1611008"/>
          </a:xfrm>
          <a:prstGeom prst="rect">
            <a:avLst/>
          </a:prstGeom>
        </p:spPr>
      </p:pic>
      <p:sp>
        <p:nvSpPr>
          <p:cNvPr id="12" name="Slide Number Placeholder 11">
            <a:extLst>
              <a:ext uri="{FF2B5EF4-FFF2-40B4-BE49-F238E27FC236}">
                <a16:creationId xmlns:a16="http://schemas.microsoft.com/office/drawing/2014/main" id="{9EFDE7B6-99B1-EC80-908C-3E5A245739DF}"/>
              </a:ext>
            </a:extLst>
          </p:cNvPr>
          <p:cNvSpPr>
            <a:spLocks noGrp="1"/>
          </p:cNvSpPr>
          <p:nvPr>
            <p:ph type="sldNum" sz="quarter" idx="12"/>
          </p:nvPr>
        </p:nvSpPr>
        <p:spPr/>
        <p:txBody>
          <a:bodyPr/>
          <a:lstStyle/>
          <a:p>
            <a:fld id="{62292133-B7B4-4876-B4EC-8D2F9BE1CBCE}" type="slidenum">
              <a:rPr lang="en-ZA" smtClean="0"/>
              <a:t>23</a:t>
            </a:fld>
            <a:endParaRPr lang="en-ZA"/>
          </a:p>
        </p:txBody>
      </p:sp>
    </p:spTree>
    <p:extLst>
      <p:ext uri="{BB962C8B-B14F-4D97-AF65-F5344CB8AC3E}">
        <p14:creationId xmlns:p14="http://schemas.microsoft.com/office/powerpoint/2010/main" val="684642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357809"/>
            <a:ext cx="12192000" cy="72262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201393" y="194678"/>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Feature </a:t>
            </a:r>
            <a:r>
              <a:rPr lang="fr-FR" sz="3200" b="1" dirty="0" err="1">
                <a:latin typeface="Times New Roman" panose="02020603050405020304" pitchFamily="18" charset="0"/>
                <a:ea typeface="+mj-ea"/>
                <a:cs typeface="Times New Roman" panose="02020603050405020304" pitchFamily="18" charset="0"/>
              </a:rPr>
              <a:t>Selection</a:t>
            </a:r>
            <a:r>
              <a:rPr lang="fr-FR" sz="3200" b="1" dirty="0">
                <a:latin typeface="Times New Roman" panose="02020603050405020304" pitchFamily="18" charset="0"/>
                <a:ea typeface="+mj-ea"/>
                <a:cs typeface="Times New Roman" panose="02020603050405020304" pitchFamily="18" charset="0"/>
              </a:rPr>
              <a:t> : Méthode </a:t>
            </a:r>
            <a:r>
              <a:rPr lang="en-US" sz="3200" b="1" dirty="0">
                <a:latin typeface="Times New Roman" panose="02020603050405020304" pitchFamily="18" charset="0"/>
                <a:cs typeface="Times New Roman" panose="02020603050405020304" pitchFamily="18" charset="0"/>
              </a:rPr>
              <a:t>Chi-carré </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18" name="TextBox 17">
            <a:extLst>
              <a:ext uri="{FF2B5EF4-FFF2-40B4-BE49-F238E27FC236}">
                <a16:creationId xmlns:a16="http://schemas.microsoft.com/office/drawing/2014/main" id="{75B4B2A5-F860-2F56-08D7-693314948EDA}"/>
              </a:ext>
            </a:extLst>
          </p:cNvPr>
          <p:cNvSpPr txBox="1"/>
          <p:nvPr/>
        </p:nvSpPr>
        <p:spPr>
          <a:xfrm>
            <a:off x="441783" y="1405537"/>
            <a:ext cx="10245725" cy="5047536"/>
          </a:xfrm>
          <a:prstGeom prst="rect">
            <a:avLst/>
          </a:prstGeom>
          <a:noFill/>
        </p:spPr>
        <p:txBody>
          <a:bodyPr wrap="square">
            <a:spAutoFit/>
          </a:bodyPr>
          <a:lstStyle/>
          <a:p>
            <a:pPr algn="just"/>
            <a:endParaRPr lang="fr-FR"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dirty="0">
                <a:latin typeface="Times New Roman" panose="02020603050405020304" pitchFamily="18" charset="0"/>
                <a:cs typeface="Times New Roman" panose="02020603050405020304" pitchFamily="18" charset="0"/>
              </a:rPr>
              <a:t>Le test du Chi-carré est une méthode de sélection de caractéristiques utilisée principalement pour les données catégorielles. </a:t>
            </a:r>
          </a:p>
          <a:p>
            <a:pPr marL="285750" indent="-285750">
              <a:buFont typeface="Wingdings" panose="05000000000000000000" pitchFamily="2" charset="2"/>
              <a:buChar char="§"/>
            </a:pPr>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dirty="0">
                <a:latin typeface="Times New Roman" panose="02020603050405020304" pitchFamily="18" charset="0"/>
                <a:cs typeface="Times New Roman" panose="02020603050405020304" pitchFamily="18" charset="0"/>
              </a:rPr>
              <a:t>Il mesure l'indépendance entre deux variables, généralement une caractéristique et la classe cible, en évaluant la différence entre les fréquences observées et attendues.</a:t>
            </a:r>
          </a:p>
          <a:p>
            <a:pPr marL="347472" algn="just" latinLnBrk="0">
              <a:spcBef>
                <a:spcPts val="0"/>
              </a:spcBef>
              <a:spcAft>
                <a:spcPts val="0"/>
              </a:spcAft>
            </a:pPr>
            <a:endParaRPr lang="fr-FR" dirty="0">
              <a:latin typeface="Times New Roman" panose="02020603050405020304" pitchFamily="18" charset="0"/>
              <a:cs typeface="Times New Roman" panose="02020603050405020304" pitchFamily="18" charset="0"/>
            </a:endParaRPr>
          </a:p>
          <a:p>
            <a:pPr marL="347472" algn="just" latinLnBrk="0">
              <a:spcBef>
                <a:spcPts val="0"/>
              </a:spcBef>
              <a:spcAft>
                <a:spcPts val="0"/>
              </a:spcAft>
            </a:pPr>
            <a:r>
              <a:rPr lang="fr-FR" sz="1600" b="1" dirty="0">
                <a:latin typeface="Times New Roman" panose="02020603050405020304" pitchFamily="18" charset="0"/>
                <a:cs typeface="Times New Roman" panose="02020603050405020304" pitchFamily="18" charset="0"/>
              </a:rPr>
              <a:t>Sélection de caractéristiques avec Chi-carré en machine </a:t>
            </a:r>
            <a:r>
              <a:rPr lang="fr-FR" sz="1600" b="1" dirty="0" err="1">
                <a:latin typeface="Times New Roman" panose="02020603050405020304" pitchFamily="18" charset="0"/>
                <a:cs typeface="Times New Roman" panose="02020603050405020304" pitchFamily="18" charset="0"/>
              </a:rPr>
              <a:t>learning</a:t>
            </a:r>
            <a:r>
              <a:rPr lang="fr-FR" sz="1600" b="1" dirty="0">
                <a:latin typeface="Times New Roman" panose="02020603050405020304" pitchFamily="18" charset="0"/>
                <a:cs typeface="Times New Roman" panose="02020603050405020304" pitchFamily="18" charset="0"/>
              </a:rPr>
              <a:t>:</a:t>
            </a:r>
          </a:p>
          <a:p>
            <a:pPr marL="347472" algn="just" latinLnBrk="0">
              <a:spcBef>
                <a:spcPts val="0"/>
              </a:spcBef>
              <a:spcAft>
                <a:spcPts val="0"/>
              </a:spcAft>
            </a:pPr>
            <a:endParaRPr lang="fr-FR" dirty="0">
              <a:latin typeface="Times New Roman" panose="02020603050405020304" pitchFamily="18" charset="0"/>
              <a:cs typeface="Times New Roman" panose="02020603050405020304" pitchFamily="18" charset="0"/>
            </a:endParaRPr>
          </a:p>
          <a:p>
            <a:pPr marL="804672" lvl="1"/>
            <a:r>
              <a:rPr lang="fr-FR" b="1" dirty="0">
                <a:latin typeface="Times New Roman" panose="02020603050405020304" pitchFamily="18" charset="0"/>
                <a:cs typeface="Times New Roman" panose="02020603050405020304" pitchFamily="18" charset="0"/>
              </a:rPr>
              <a:t>1- Hypothèse : </a:t>
            </a:r>
            <a:r>
              <a:rPr lang="fr-FR" dirty="0">
                <a:latin typeface="Times New Roman" panose="02020603050405020304" pitchFamily="18" charset="0"/>
                <a:cs typeface="Times New Roman" panose="02020603050405020304" pitchFamily="18" charset="0"/>
              </a:rPr>
              <a:t>On part de l'hypothèse nulle selon laquelle la caractéristique est indépendante de la classe cible.</a:t>
            </a:r>
          </a:p>
          <a:p>
            <a:pPr marL="347472" latinLnBrk="0">
              <a:spcBef>
                <a:spcPts val="0"/>
              </a:spcBef>
              <a:spcAft>
                <a:spcPts val="0"/>
              </a:spcAft>
            </a:pPr>
            <a:endParaRPr lang="fr-FR" dirty="0">
              <a:latin typeface="Times New Roman" panose="02020603050405020304" pitchFamily="18" charset="0"/>
              <a:cs typeface="Times New Roman" panose="02020603050405020304" pitchFamily="18" charset="0"/>
            </a:endParaRPr>
          </a:p>
          <a:p>
            <a:pPr marL="804672" lvl="1"/>
            <a:r>
              <a:rPr lang="fr-FR" b="1" dirty="0">
                <a:latin typeface="Times New Roman" panose="02020603050405020304" pitchFamily="18" charset="0"/>
                <a:cs typeface="Times New Roman" panose="02020603050405020304" pitchFamily="18" charset="0"/>
              </a:rPr>
              <a:t>2- Calcul : </a:t>
            </a:r>
            <a:r>
              <a:rPr lang="fr-FR" dirty="0">
                <a:latin typeface="Times New Roman" panose="02020603050405020304" pitchFamily="18" charset="0"/>
                <a:cs typeface="Times New Roman" panose="02020603050405020304" pitchFamily="18" charset="0"/>
              </a:rPr>
              <a:t>Le test Chi-carré compare les valeurs observées avec celles attendues pour évaluer l'indépendance.</a:t>
            </a:r>
          </a:p>
          <a:p>
            <a:pPr marL="347472" latinLnBrk="0">
              <a:spcBef>
                <a:spcPts val="0"/>
              </a:spcBef>
              <a:spcAft>
                <a:spcPts val="0"/>
              </a:spcAft>
            </a:pPr>
            <a:endParaRPr lang="fr-FR" dirty="0">
              <a:latin typeface="Times New Roman" panose="02020603050405020304" pitchFamily="18" charset="0"/>
              <a:cs typeface="Times New Roman" panose="02020603050405020304" pitchFamily="18" charset="0"/>
            </a:endParaRPr>
          </a:p>
          <a:p>
            <a:pPr marL="804672" lvl="1"/>
            <a:r>
              <a:rPr lang="fr-FR" b="1" dirty="0">
                <a:latin typeface="Times New Roman" panose="02020603050405020304" pitchFamily="18" charset="0"/>
                <a:cs typeface="Times New Roman" panose="02020603050405020304" pitchFamily="18" charset="0"/>
              </a:rPr>
              <a:t>3- Résultat : </a:t>
            </a:r>
            <a:r>
              <a:rPr lang="fr-FR" dirty="0">
                <a:latin typeface="Times New Roman" panose="02020603050405020304" pitchFamily="18" charset="0"/>
                <a:cs typeface="Times New Roman" panose="02020603050405020304" pitchFamily="18" charset="0"/>
              </a:rPr>
              <a:t>Une petite valeur du test Chi-carré indique que la caractéristique est indépendante de la classe cible, tandis qu'une grande valeur indique une dépendance donc utile pour la classification.</a:t>
            </a:r>
          </a:p>
          <a:p>
            <a:endParaRPr lang="fr-FR"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C61FB9D-2A55-ADAB-11B4-3E112B40C459}"/>
              </a:ext>
            </a:extLst>
          </p:cNvPr>
          <p:cNvSpPr>
            <a:spLocks noGrp="1"/>
          </p:cNvSpPr>
          <p:nvPr>
            <p:ph type="sldNum" sz="quarter" idx="12"/>
          </p:nvPr>
        </p:nvSpPr>
        <p:spPr/>
        <p:txBody>
          <a:bodyPr/>
          <a:lstStyle/>
          <a:p>
            <a:fld id="{62292133-B7B4-4876-B4EC-8D2F9BE1CBCE}" type="slidenum">
              <a:rPr lang="en-ZA" smtClean="0"/>
              <a:t>24</a:t>
            </a:fld>
            <a:endParaRPr lang="en-ZA"/>
          </a:p>
        </p:txBody>
      </p:sp>
    </p:spTree>
    <p:extLst>
      <p:ext uri="{BB962C8B-B14F-4D97-AF65-F5344CB8AC3E}">
        <p14:creationId xmlns:p14="http://schemas.microsoft.com/office/powerpoint/2010/main" val="2855560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6350" y="5172"/>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501FD9F-E3C9-ED2F-E7AD-ED21EDDF072C}"/>
              </a:ext>
            </a:extLst>
          </p:cNvPr>
          <p:cNvSpPr txBox="1"/>
          <p:nvPr/>
        </p:nvSpPr>
        <p:spPr>
          <a:xfrm>
            <a:off x="650858" y="1476779"/>
            <a:ext cx="10907868" cy="2120068"/>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fr-FR" b="0" i="0" dirty="0">
                <a:solidFill>
                  <a:srgbClr val="262626"/>
                </a:solidFill>
                <a:effectLst/>
                <a:latin typeface="Times New Roman" panose="02020603050405020304" pitchFamily="18" charset="0"/>
                <a:cs typeface="Times New Roman" panose="02020603050405020304" pitchFamily="18" charset="0"/>
              </a:rPr>
              <a:t>Nous savons que les algorithmes d'apprentissage automatique utilisent certaines données d'entrée pour produire des résultats. </a:t>
            </a:r>
          </a:p>
          <a:p>
            <a:pPr algn="just">
              <a:lnSpc>
                <a:spcPct val="150000"/>
              </a:lnSpc>
            </a:pPr>
            <a:endParaRPr lang="fr-FR" b="0" i="0" dirty="0">
              <a:solidFill>
                <a:srgbClr val="262626"/>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fr-FR" b="0" i="0" dirty="0">
                <a:solidFill>
                  <a:srgbClr val="262626"/>
                </a:solidFill>
                <a:effectLst/>
                <a:latin typeface="Times New Roman" panose="02020603050405020304" pitchFamily="18" charset="0"/>
                <a:cs typeface="Times New Roman" panose="02020603050405020304" pitchFamily="18" charset="0"/>
              </a:rPr>
              <a:t>Mais bien souvent, les données qui vous ont été fournies peuvent ne pas être suffisantes pour concevoir un bon modèle d'apprentissage automatique. C’est là que la puissance du feature engineering entre en jeu. </a:t>
            </a:r>
          </a:p>
        </p:txBody>
      </p:sp>
      <p:sp>
        <p:nvSpPr>
          <p:cNvPr id="8" name="TextBox 7">
            <a:extLst>
              <a:ext uri="{FF2B5EF4-FFF2-40B4-BE49-F238E27FC236}">
                <a16:creationId xmlns:a16="http://schemas.microsoft.com/office/drawing/2014/main" id="{619ED439-1419-DD4D-4ACE-0E91AC01F7A1}"/>
              </a:ext>
            </a:extLst>
          </p:cNvPr>
          <p:cNvSpPr txBox="1"/>
          <p:nvPr/>
        </p:nvSpPr>
        <p:spPr>
          <a:xfrm>
            <a:off x="-587652" y="173614"/>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		Feature Engineering</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pic>
        <p:nvPicPr>
          <p:cNvPr id="9" name="Picture 8" descr="A diagram of a process&#10;&#10;Description automatically generated">
            <a:extLst>
              <a:ext uri="{FF2B5EF4-FFF2-40B4-BE49-F238E27FC236}">
                <a16:creationId xmlns:a16="http://schemas.microsoft.com/office/drawing/2014/main" id="{576F5897-4028-6480-9400-20D86E5F1D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9882" y="3891315"/>
            <a:ext cx="4742726" cy="2405186"/>
          </a:xfrm>
          <a:prstGeom prst="rect">
            <a:avLst/>
          </a:prstGeom>
        </p:spPr>
      </p:pic>
      <p:sp>
        <p:nvSpPr>
          <p:cNvPr id="10" name="Slide Number Placeholder 9">
            <a:extLst>
              <a:ext uri="{FF2B5EF4-FFF2-40B4-BE49-F238E27FC236}">
                <a16:creationId xmlns:a16="http://schemas.microsoft.com/office/drawing/2014/main" id="{670CEEC4-F378-5914-2F28-FD08188A98CB}"/>
              </a:ext>
            </a:extLst>
          </p:cNvPr>
          <p:cNvSpPr>
            <a:spLocks noGrp="1"/>
          </p:cNvSpPr>
          <p:nvPr>
            <p:ph type="sldNum" sz="quarter" idx="12"/>
          </p:nvPr>
        </p:nvSpPr>
        <p:spPr/>
        <p:txBody>
          <a:bodyPr/>
          <a:lstStyle/>
          <a:p>
            <a:fld id="{62292133-B7B4-4876-B4EC-8D2F9BE1CBCE}" type="slidenum">
              <a:rPr lang="en-ZA" smtClean="0"/>
              <a:t>25</a:t>
            </a:fld>
            <a:endParaRPr lang="en-ZA"/>
          </a:p>
        </p:txBody>
      </p:sp>
    </p:spTree>
    <p:extLst>
      <p:ext uri="{BB962C8B-B14F-4D97-AF65-F5344CB8AC3E}">
        <p14:creationId xmlns:p14="http://schemas.microsoft.com/office/powerpoint/2010/main" val="3494004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6350" y="5172"/>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360753" y="175782"/>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Feature Engineering</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2" name="TextBox 1">
            <a:extLst>
              <a:ext uri="{FF2B5EF4-FFF2-40B4-BE49-F238E27FC236}">
                <a16:creationId xmlns:a16="http://schemas.microsoft.com/office/drawing/2014/main" id="{56C8EE4E-51B3-D19B-ED6B-EA66A0DE68D8}"/>
              </a:ext>
            </a:extLst>
          </p:cNvPr>
          <p:cNvSpPr txBox="1"/>
          <p:nvPr/>
        </p:nvSpPr>
        <p:spPr>
          <a:xfrm>
            <a:off x="347709" y="1423610"/>
            <a:ext cx="11496582" cy="532453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Exemple de techniques de Feature Engineering : </a:t>
            </a:r>
          </a:p>
          <a:p>
            <a:pPr algn="just">
              <a:lnSpc>
                <a:spcPct val="150000"/>
              </a:lnSpc>
            </a:pPr>
            <a:r>
              <a:rPr lang="fr-FR" b="0" i="0" dirty="0">
                <a:solidFill>
                  <a:srgbClr val="262626"/>
                </a:solidFill>
                <a:effectLst/>
                <a:latin typeface="Times New Roman" panose="02020603050405020304" pitchFamily="18" charset="0"/>
                <a:cs typeface="Times New Roman" panose="02020603050405020304" pitchFamily="18" charset="0"/>
              </a:rPr>
              <a:t>Somme, soustraction, moyenne, min, max, produit, quotient du groupe de </a:t>
            </a:r>
            <a:r>
              <a:rPr lang="fr-FR" b="0" i="0" dirty="0" err="1">
                <a:solidFill>
                  <a:srgbClr val="262626"/>
                </a:solidFill>
                <a:effectLst/>
                <a:latin typeface="Times New Roman" panose="02020603050405020304" pitchFamily="18" charset="0"/>
                <a:cs typeface="Times New Roman" panose="02020603050405020304" pitchFamily="18" charset="0"/>
              </a:rPr>
              <a:t>features</a:t>
            </a:r>
            <a:r>
              <a:rPr lang="fr-FR" b="0" i="0" dirty="0">
                <a:solidFill>
                  <a:srgbClr val="262626"/>
                </a:solidFill>
                <a:effectLst/>
                <a:latin typeface="Times New Roman" panose="02020603050405020304" pitchFamily="18" charset="0"/>
                <a:cs typeface="Times New Roman" panose="02020603050405020304" pitchFamily="18" charset="0"/>
              </a:rPr>
              <a:t>.</a:t>
            </a:r>
          </a:p>
          <a:p>
            <a:pPr algn="just">
              <a:lnSpc>
                <a:spcPct val="150000"/>
              </a:lnSpc>
            </a:pPr>
            <a:r>
              <a:rPr lang="fr-FR" b="0" i="0" dirty="0">
                <a:solidFill>
                  <a:srgbClr val="262626"/>
                </a:solidFill>
                <a:effectLst/>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Extraction de Features à partir d’un texte:</a:t>
            </a:r>
          </a:p>
          <a:p>
            <a:pPr algn="just">
              <a:lnSpc>
                <a:spcPct val="150000"/>
              </a:lnSpc>
            </a:pPr>
            <a:endParaRPr lang="fr-FR" b="1" i="0" dirty="0">
              <a:solidFill>
                <a:srgbClr val="262626"/>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fr-FR" b="1" i="0" dirty="0">
                <a:solidFill>
                  <a:srgbClr val="262626"/>
                </a:solidFill>
                <a:effectLst/>
                <a:latin typeface="Times New Roman" panose="02020603050405020304" pitchFamily="18" charset="0"/>
                <a:cs typeface="Times New Roman" panose="02020603050405020304" pitchFamily="18" charset="0"/>
              </a:rPr>
              <a:t>Bag of </a:t>
            </a:r>
            <a:r>
              <a:rPr lang="fr-FR" b="1" i="0" dirty="0" err="1">
                <a:solidFill>
                  <a:srgbClr val="262626"/>
                </a:solidFill>
                <a:effectLst/>
                <a:latin typeface="Times New Roman" panose="02020603050405020304" pitchFamily="18" charset="0"/>
                <a:cs typeface="Times New Roman" panose="02020603050405020304" pitchFamily="18" charset="0"/>
              </a:rPr>
              <a:t>words</a:t>
            </a:r>
            <a:r>
              <a:rPr lang="fr-FR" b="1" i="0" dirty="0">
                <a:solidFill>
                  <a:srgbClr val="262626"/>
                </a:solidFill>
                <a:effectLst/>
                <a:latin typeface="Times New Roman" panose="02020603050405020304" pitchFamily="18" charset="0"/>
                <a:cs typeface="Times New Roman" panose="02020603050405020304" pitchFamily="18" charset="0"/>
              </a:rPr>
              <a:t>: </a:t>
            </a:r>
            <a:r>
              <a:rPr lang="fr-FR" b="0" i="0" dirty="0">
                <a:solidFill>
                  <a:srgbClr val="262626"/>
                </a:solidFill>
                <a:effectLst/>
                <a:latin typeface="Times New Roman" panose="02020603050405020304" pitchFamily="18" charset="0"/>
                <a:cs typeface="Times New Roman" panose="02020603050405020304" pitchFamily="18" charset="0"/>
              </a:rPr>
              <a:t>est une représentation de texte qui décrit l'occurrence de mots dans un document. </a:t>
            </a:r>
          </a:p>
          <a:p>
            <a:pPr marL="285750" indent="-285750" algn="just">
              <a:lnSpc>
                <a:spcPct val="150000"/>
              </a:lnSpc>
              <a:buFont typeface="Wingdings" panose="05000000000000000000" pitchFamily="2" charset="2"/>
              <a:buChar char="ü"/>
            </a:pPr>
            <a:r>
              <a:rPr lang="fr-FR" b="1" i="0" dirty="0">
                <a:solidFill>
                  <a:srgbClr val="262626"/>
                </a:solidFill>
                <a:effectLst/>
                <a:latin typeface="Times New Roman" panose="02020603050405020304" pitchFamily="18" charset="0"/>
                <a:cs typeface="Times New Roman" panose="02020603050405020304" pitchFamily="18" charset="0"/>
              </a:rPr>
              <a:t>Word2vec: </a:t>
            </a:r>
            <a:r>
              <a:rPr lang="fr-FR" b="0" i="0" dirty="0">
                <a:solidFill>
                  <a:srgbClr val="262626"/>
                </a:solidFill>
                <a:effectLst/>
                <a:latin typeface="Times New Roman" panose="02020603050405020304" pitchFamily="18" charset="0"/>
                <a:cs typeface="Times New Roman" panose="02020603050405020304" pitchFamily="18" charset="0"/>
              </a:rPr>
              <a:t>Il repose sur des réseaux de neurones à deux couches et cherche à apprendre les représentations vectorielles des mots composant un texte, de telle sorte que les mots qui partagent des contextes similaires soient représentés par des vecteurs numériques proches. </a:t>
            </a:r>
          </a:p>
          <a:p>
            <a:pPr marL="285750" indent="-285750" algn="just">
              <a:lnSpc>
                <a:spcPct val="150000"/>
              </a:lnSpc>
              <a:buFont typeface="Wingdings" panose="05000000000000000000" pitchFamily="2" charset="2"/>
              <a:buChar char="ü"/>
            </a:pPr>
            <a:r>
              <a:rPr lang="fr-FR" b="1" dirty="0">
                <a:solidFill>
                  <a:srgbClr val="262626"/>
                </a:solidFill>
                <a:latin typeface="Times New Roman" panose="02020603050405020304" pitchFamily="18" charset="0"/>
                <a:cs typeface="Times New Roman" panose="02020603050405020304" pitchFamily="18" charset="0"/>
              </a:rPr>
              <a:t>T</a:t>
            </a:r>
            <a:r>
              <a:rPr lang="fr-FR" b="1" i="0" dirty="0">
                <a:solidFill>
                  <a:srgbClr val="262626"/>
                </a:solidFill>
                <a:effectLst/>
                <a:latin typeface="Times New Roman" panose="02020603050405020304" pitchFamily="18" charset="0"/>
                <a:cs typeface="Times New Roman" panose="02020603050405020304" pitchFamily="18" charset="0"/>
              </a:rPr>
              <a:t>opic extraction: </a:t>
            </a:r>
            <a:r>
              <a:rPr lang="fr-FR" b="0" i="0" dirty="0">
                <a:solidFill>
                  <a:srgbClr val="262626"/>
                </a:solidFill>
                <a:effectLst/>
                <a:latin typeface="Times New Roman" panose="02020603050405020304" pitchFamily="18" charset="0"/>
                <a:cs typeface="Times New Roman" panose="02020603050405020304" pitchFamily="18" charset="0"/>
              </a:rPr>
              <a:t>extraire les sujets principaux à partir d'un texte</a:t>
            </a:r>
          </a:p>
          <a:p>
            <a:pPr algn="just">
              <a:lnSpc>
                <a:spcPct val="150000"/>
              </a:lnSpc>
            </a:pPr>
            <a:endParaRPr lang="fr-FR" b="0" i="0" dirty="0">
              <a:solidFill>
                <a:srgbClr val="262626"/>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fr-FR" b="1" i="0" dirty="0">
                <a:solidFill>
                  <a:srgbClr val="262626"/>
                </a:solidFill>
                <a:effectLst/>
                <a:latin typeface="Times New Roman" panose="02020603050405020304" pitchFamily="18" charset="0"/>
                <a:cs typeface="Times New Roman" panose="02020603050405020304" pitchFamily="18" charset="0"/>
              </a:rPr>
              <a:t>Extraction des </a:t>
            </a:r>
            <a:r>
              <a:rPr lang="fr-FR" b="1" i="0" dirty="0" err="1">
                <a:solidFill>
                  <a:srgbClr val="262626"/>
                </a:solidFill>
                <a:effectLst/>
                <a:latin typeface="Times New Roman" panose="02020603050405020304" pitchFamily="18" charset="0"/>
                <a:cs typeface="Times New Roman" panose="02020603050405020304" pitchFamily="18" charset="0"/>
              </a:rPr>
              <a:t>features</a:t>
            </a:r>
            <a:r>
              <a:rPr lang="fr-FR" b="1" i="0" dirty="0">
                <a:solidFill>
                  <a:srgbClr val="262626"/>
                </a:solidFill>
                <a:effectLst/>
                <a:latin typeface="Times New Roman" panose="02020603050405020304" pitchFamily="18" charset="0"/>
                <a:cs typeface="Times New Roman" panose="02020603050405020304" pitchFamily="18" charset="0"/>
              </a:rPr>
              <a:t> à partir d’une image: </a:t>
            </a:r>
            <a:r>
              <a:rPr lang="fr-FR" b="0" i="0" dirty="0">
                <a:solidFill>
                  <a:srgbClr val="262626"/>
                </a:solidFill>
                <a:effectLst/>
                <a:latin typeface="Times New Roman" panose="02020603050405020304" pitchFamily="18" charset="0"/>
                <a:cs typeface="Times New Roman" panose="02020603050405020304" pitchFamily="18" charset="0"/>
              </a:rPr>
              <a:t>Variance, Ecart type, </a:t>
            </a:r>
            <a:r>
              <a:rPr lang="fr-FR" b="0" i="0" dirty="0" err="1">
                <a:solidFill>
                  <a:srgbClr val="262626"/>
                </a:solidFill>
                <a:effectLst/>
                <a:latin typeface="Times New Roman" panose="02020603050405020304" pitchFamily="18" charset="0"/>
                <a:cs typeface="Times New Roman" panose="02020603050405020304" pitchFamily="18" charset="0"/>
              </a:rPr>
              <a:t>Skewness</a:t>
            </a:r>
            <a:r>
              <a:rPr lang="fr-FR" b="0" i="0" dirty="0">
                <a:solidFill>
                  <a:srgbClr val="262626"/>
                </a:solidFill>
                <a:effectLst/>
                <a:latin typeface="Times New Roman" panose="02020603050405020304" pitchFamily="18" charset="0"/>
                <a:cs typeface="Times New Roman" panose="02020603050405020304" pitchFamily="18" charset="0"/>
              </a:rPr>
              <a:t>, Kurtosis</a:t>
            </a:r>
          </a:p>
          <a:p>
            <a:endParaRPr lang="en-ZA" sz="1600" dirty="0"/>
          </a:p>
        </p:txBody>
      </p:sp>
      <p:sp>
        <p:nvSpPr>
          <p:cNvPr id="4" name="Slide Number Placeholder 3">
            <a:extLst>
              <a:ext uri="{FF2B5EF4-FFF2-40B4-BE49-F238E27FC236}">
                <a16:creationId xmlns:a16="http://schemas.microsoft.com/office/drawing/2014/main" id="{73D30635-73CD-2899-EE91-51A9B3CE0DBB}"/>
              </a:ext>
            </a:extLst>
          </p:cNvPr>
          <p:cNvSpPr>
            <a:spLocks noGrp="1"/>
          </p:cNvSpPr>
          <p:nvPr>
            <p:ph type="sldNum" sz="quarter" idx="12"/>
          </p:nvPr>
        </p:nvSpPr>
        <p:spPr/>
        <p:txBody>
          <a:bodyPr/>
          <a:lstStyle/>
          <a:p>
            <a:fld id="{62292133-B7B4-4876-B4EC-8D2F9BE1CBCE}" type="slidenum">
              <a:rPr lang="en-ZA" smtClean="0"/>
              <a:t>26</a:t>
            </a:fld>
            <a:endParaRPr lang="en-ZA"/>
          </a:p>
        </p:txBody>
      </p:sp>
    </p:spTree>
    <p:extLst>
      <p:ext uri="{BB962C8B-B14F-4D97-AF65-F5344CB8AC3E}">
        <p14:creationId xmlns:p14="http://schemas.microsoft.com/office/powerpoint/2010/main" val="571875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3D94CC-5AB3-F37F-00F4-9E5152127EE1}"/>
              </a:ext>
            </a:extLst>
          </p:cNvPr>
          <p:cNvSpPr/>
          <p:nvPr/>
        </p:nvSpPr>
        <p:spPr>
          <a:xfrm>
            <a:off x="-16554" y="-1270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2">
            <a:extLst>
              <a:ext uri="{FF2B5EF4-FFF2-40B4-BE49-F238E27FC236}">
                <a16:creationId xmlns:a16="http://schemas.microsoft.com/office/drawing/2014/main" id="{E241D304-0E94-D26D-5E17-B3B3C6B4E7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2876" y="12700"/>
            <a:ext cx="2141824" cy="1100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C6D3F5C-6CA8-7C79-4E08-8E96943F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54" y="12474"/>
            <a:ext cx="1268609" cy="10035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9ED439-1419-DD4D-4ACE-0E91AC01F7A1}"/>
              </a:ext>
            </a:extLst>
          </p:cNvPr>
          <p:cNvSpPr txBox="1"/>
          <p:nvPr/>
        </p:nvSpPr>
        <p:spPr>
          <a:xfrm>
            <a:off x="1360753" y="175782"/>
            <a:ext cx="10245725" cy="1077218"/>
          </a:xfrm>
          <a:prstGeom prst="rect">
            <a:avLst/>
          </a:prstGeom>
          <a:noFill/>
        </p:spPr>
        <p:txBody>
          <a:bodyPr wrap="square">
            <a:spAutoFit/>
          </a:bodyPr>
          <a:lstStyle/>
          <a:p>
            <a:r>
              <a:rPr lang="fr-FR" sz="3200" b="1" dirty="0">
                <a:latin typeface="Times New Roman" panose="02020603050405020304" pitchFamily="18" charset="0"/>
                <a:ea typeface="+mj-ea"/>
                <a:cs typeface="Times New Roman" panose="02020603050405020304" pitchFamily="18" charset="0"/>
              </a:rPr>
              <a:t>Réduction de dimension</a:t>
            </a:r>
            <a:endParaRPr lang="en-US" sz="3200" b="1" dirty="0">
              <a:latin typeface="Times New Roman" panose="02020603050405020304" pitchFamily="18" charset="0"/>
              <a:ea typeface="+mj-ea"/>
              <a:cs typeface="Times New Roman" panose="02020603050405020304" pitchFamily="18" charset="0"/>
            </a:endParaRPr>
          </a:p>
          <a:p>
            <a:r>
              <a:rPr lang="en-ZA" sz="3200" b="1" dirty="0">
                <a:latin typeface="Times New Roman" panose="02020603050405020304" pitchFamily="18" charset="0"/>
                <a:ea typeface="+mj-ea"/>
                <a:cs typeface="Times New Roman" panose="02020603050405020304" pitchFamily="18" charset="0"/>
              </a:rPr>
              <a:t> </a:t>
            </a:r>
          </a:p>
        </p:txBody>
      </p:sp>
      <p:sp>
        <p:nvSpPr>
          <p:cNvPr id="2" name="TextBox 1">
            <a:extLst>
              <a:ext uri="{FF2B5EF4-FFF2-40B4-BE49-F238E27FC236}">
                <a16:creationId xmlns:a16="http://schemas.microsoft.com/office/drawing/2014/main" id="{56C8EE4E-51B3-D19B-ED6B-EA66A0DE68D8}"/>
              </a:ext>
            </a:extLst>
          </p:cNvPr>
          <p:cNvSpPr txBox="1"/>
          <p:nvPr/>
        </p:nvSpPr>
        <p:spPr>
          <a:xfrm>
            <a:off x="347709" y="1534268"/>
            <a:ext cx="11496582" cy="3785652"/>
          </a:xfrm>
          <a:prstGeom prst="rect">
            <a:avLst/>
          </a:prstGeom>
          <a:noFill/>
        </p:spPr>
        <p:txBody>
          <a:bodyPr wrap="square" rtlCol="0">
            <a:spAutoFit/>
          </a:bodyPr>
          <a:lstStyle/>
          <a:p>
            <a:pPr marL="342900" indent="-342900" algn="l" rtl="0" fontAlgn="base">
              <a:buFont typeface="Wingdings" panose="05000000000000000000" pitchFamily="2" charset="2"/>
              <a:buChar char="§"/>
            </a:pPr>
            <a:r>
              <a:rPr lang="fr-FR" sz="2000" i="0" dirty="0">
                <a:effectLst/>
                <a:latin typeface="Times New Roman" panose="02020603050405020304" pitchFamily="18" charset="0"/>
                <a:cs typeface="Times New Roman" panose="02020603050405020304" pitchFamily="18" charset="0"/>
              </a:rPr>
              <a:t>La réduction de dimension est une technique cruciale en apprentissage automatique et en analyse de données, surtout lorsque le jeu de données contient un grand nombre de variables ou de caractéristiques. </a:t>
            </a:r>
          </a:p>
          <a:p>
            <a:pPr algn="l" rtl="0" fontAlgn="base"/>
            <a:endParaRPr lang="fr-FR" sz="2000" i="0" dirty="0">
              <a:effectLst/>
              <a:latin typeface="Times New Roman" panose="02020603050405020304" pitchFamily="18" charset="0"/>
              <a:cs typeface="Times New Roman" panose="02020603050405020304" pitchFamily="18" charset="0"/>
            </a:endParaRPr>
          </a:p>
          <a:p>
            <a:pPr marL="342900" indent="-342900" algn="l" rtl="0" fontAlgn="base">
              <a:buFont typeface="Wingdings" panose="05000000000000000000" pitchFamily="2" charset="2"/>
              <a:buChar char="§"/>
            </a:pPr>
            <a:r>
              <a:rPr lang="fr-FR" sz="2000" i="0" dirty="0">
                <a:effectLst/>
                <a:latin typeface="Times New Roman" panose="02020603050405020304" pitchFamily="18" charset="0"/>
                <a:cs typeface="Times New Roman" panose="02020603050405020304" pitchFamily="18" charset="0"/>
              </a:rPr>
              <a:t>Cela permet de diminuer la complexité du modèle, d'améliorer la performance et d'éviter le surapprentissage (</a:t>
            </a:r>
            <a:r>
              <a:rPr lang="fr-FR" sz="2000" i="0" dirty="0" err="1">
                <a:effectLst/>
                <a:latin typeface="Times New Roman" panose="02020603050405020304" pitchFamily="18" charset="0"/>
                <a:cs typeface="Times New Roman" panose="02020603050405020304" pitchFamily="18" charset="0"/>
              </a:rPr>
              <a:t>overfitting</a:t>
            </a:r>
            <a:r>
              <a:rPr lang="fr-FR" sz="2000" i="0" dirty="0">
                <a:effectLst/>
                <a:latin typeface="Times New Roman" panose="02020603050405020304" pitchFamily="18" charset="0"/>
                <a:cs typeface="Times New Roman" panose="02020603050405020304" pitchFamily="18" charset="0"/>
              </a:rPr>
              <a:t>). </a:t>
            </a:r>
          </a:p>
          <a:p>
            <a:pPr algn="l" rtl="0" fontAlgn="base"/>
            <a:endParaRPr lang="fr-FR" sz="2000" i="0" dirty="0">
              <a:effectLst/>
              <a:latin typeface="Times New Roman" panose="02020603050405020304" pitchFamily="18" charset="0"/>
              <a:cs typeface="Times New Roman" panose="02020603050405020304" pitchFamily="18" charset="0"/>
            </a:endParaRPr>
          </a:p>
          <a:p>
            <a:pPr algn="l" rtl="0" fontAlgn="base"/>
            <a:r>
              <a:rPr lang="fr-FR" sz="2000" b="1" i="0" dirty="0">
                <a:effectLst/>
                <a:latin typeface="Times New Roman" panose="02020603050405020304" pitchFamily="18" charset="0"/>
                <a:cs typeface="Times New Roman" panose="02020603050405020304" pitchFamily="18" charset="0"/>
              </a:rPr>
              <a:t>Exemple de  techniques de réduction de dimension :</a:t>
            </a:r>
          </a:p>
          <a:p>
            <a:pPr algn="l" fontAlgn="base"/>
            <a:br>
              <a:rPr lang="fr-FR" sz="2000" i="0" dirty="0">
                <a:effectLst/>
                <a:latin typeface="Times New Roman" panose="02020603050405020304" pitchFamily="18" charset="0"/>
                <a:cs typeface="Times New Roman" panose="02020603050405020304" pitchFamily="18" charset="0"/>
              </a:rPr>
            </a:br>
            <a:endParaRPr lang="fr-FR" sz="2000" i="0" dirty="0">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PCA (Principal Component </a:t>
            </a:r>
            <a:r>
              <a:rPr lang="fr-FR" sz="2000" dirty="0" err="1">
                <a:latin typeface="Times New Roman" panose="02020603050405020304" pitchFamily="18" charset="0"/>
                <a:cs typeface="Times New Roman" panose="02020603050405020304" pitchFamily="18" charset="0"/>
              </a:rPr>
              <a:t>Analysis</a:t>
            </a:r>
            <a:r>
              <a:rPr lang="fr-FR" sz="2000" dirty="0">
                <a:latin typeface="Times New Roman" panose="02020603050405020304" pitchFamily="18" charset="0"/>
                <a:cs typeface="Times New Roman" panose="02020603050405020304" pitchFamily="18" charset="0"/>
              </a:rPr>
              <a:t>)</a:t>
            </a:r>
            <a:br>
              <a:rPr lang="fr-FR" sz="2000" i="0" dirty="0">
                <a:effectLst/>
                <a:latin typeface="Times New Roman" panose="02020603050405020304" pitchFamily="18" charset="0"/>
                <a:cs typeface="Times New Roman" panose="02020603050405020304" pitchFamily="18" charset="0"/>
              </a:rPr>
            </a:br>
            <a:endParaRPr lang="fr-FR" sz="2000" i="0" dirty="0">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ü"/>
            </a:pPr>
            <a:r>
              <a:rPr lang="fr-FR" sz="2000" i="0" dirty="0">
                <a:effectLst/>
                <a:latin typeface="Times New Roman" panose="02020603050405020304" pitchFamily="18" charset="0"/>
                <a:cs typeface="Times New Roman" panose="02020603050405020304" pitchFamily="18" charset="0"/>
              </a:rPr>
              <a:t>LDA (</a:t>
            </a:r>
            <a:r>
              <a:rPr lang="fr-FR" sz="2000" i="0" dirty="0" err="1">
                <a:effectLst/>
                <a:latin typeface="Times New Roman" panose="02020603050405020304" pitchFamily="18" charset="0"/>
                <a:cs typeface="Times New Roman" panose="02020603050405020304" pitchFamily="18" charset="0"/>
              </a:rPr>
              <a:t>Linear</a:t>
            </a:r>
            <a:r>
              <a:rPr lang="fr-FR" sz="2000" i="0" dirty="0">
                <a:effectLst/>
                <a:latin typeface="Times New Roman" panose="02020603050405020304" pitchFamily="18" charset="0"/>
                <a:cs typeface="Times New Roman" panose="02020603050405020304" pitchFamily="18" charset="0"/>
              </a:rPr>
              <a:t> Discriminant </a:t>
            </a:r>
            <a:r>
              <a:rPr lang="fr-FR" sz="2000" i="0" dirty="0" err="1">
                <a:effectLst/>
                <a:latin typeface="Times New Roman" panose="02020603050405020304" pitchFamily="18" charset="0"/>
                <a:cs typeface="Times New Roman" panose="02020603050405020304" pitchFamily="18" charset="0"/>
              </a:rPr>
              <a:t>Analysis</a:t>
            </a:r>
            <a:r>
              <a:rPr lang="fr-FR" sz="2000" i="0" dirty="0">
                <a:effectLst/>
                <a:latin typeface="Times New Roman" panose="02020603050405020304" pitchFamily="18" charset="0"/>
                <a:cs typeface="Times New Roman" panose="02020603050405020304" pitchFamily="18" charset="0"/>
              </a:rPr>
              <a:t>)</a:t>
            </a:r>
            <a:endParaRPr lang="en-ZA"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3D30635-73CD-2899-EE91-51A9B3CE0DBB}"/>
              </a:ext>
            </a:extLst>
          </p:cNvPr>
          <p:cNvSpPr>
            <a:spLocks noGrp="1"/>
          </p:cNvSpPr>
          <p:nvPr>
            <p:ph type="sldNum" sz="quarter" idx="12"/>
          </p:nvPr>
        </p:nvSpPr>
        <p:spPr/>
        <p:txBody>
          <a:bodyPr/>
          <a:lstStyle/>
          <a:p>
            <a:fld id="{62292133-B7B4-4876-B4EC-8D2F9BE1CBCE}" type="slidenum">
              <a:rPr lang="en-ZA" smtClean="0"/>
              <a:t>27</a:t>
            </a:fld>
            <a:endParaRPr lang="en-ZA"/>
          </a:p>
        </p:txBody>
      </p:sp>
    </p:spTree>
    <p:extLst>
      <p:ext uri="{BB962C8B-B14F-4D97-AF65-F5344CB8AC3E}">
        <p14:creationId xmlns:p14="http://schemas.microsoft.com/office/powerpoint/2010/main" val="2041445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1768</TotalTime>
  <Words>2049</Words>
  <Application>Microsoft Office PowerPoint</Application>
  <PresentationFormat>Widescreen</PresentationFormat>
  <Paragraphs>284</Paragraphs>
  <Slides>27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DM Sans</vt:lpstr>
      <vt:lpstr>Times New Roman</vt:lpstr>
      <vt:lpstr>Wingdings</vt:lpstr>
      <vt:lpstr>Office Theme</vt:lpstr>
      <vt:lpstr>PowerPoint Presentation</vt:lpstr>
      <vt:lpstr>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hrizi dorsaf</dc:creator>
  <cp:lastModifiedBy>hrizi dorsaf</cp:lastModifiedBy>
  <cp:revision>36</cp:revision>
  <dcterms:created xsi:type="dcterms:W3CDTF">2024-09-12T16:26:34Z</dcterms:created>
  <dcterms:modified xsi:type="dcterms:W3CDTF">2024-09-16T05:22:54Z</dcterms:modified>
</cp:coreProperties>
</file>