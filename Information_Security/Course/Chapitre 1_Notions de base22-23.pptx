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715000" cx="9144000"/>
  <p:notesSz cx="6858000" cy="9144000"/>
  <p:embeddedFontLst>
    <p:embeddedFont>
      <p:font typeface="Raleway Black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1" roundtripDataSignature="AMtx7mg8HGWq+7AutkvnLChbeJg9gLTS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894F05-FE03-4F92-BFBE-139F8EE33B82}">
  <a:tblStyle styleId="{2E894F05-FE03-4F92-BFBE-139F8EE33B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ACC62834-487B-4B7E-929C-ED28A57DBB5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RalewayBlack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J aime bien qu’on réecrive ensemble ce slide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La partie 1:  Pour les risques en général après critique il y a majeur, mineur et alerte.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Logistique: c est en relation avec le déplacement des biens et je ne vois pas comment on a classé tous ces risques en tant que risques logistiques.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Ce que je propose est de donner une idée générale sur comment réaliser une classification des risques ensuite donner un exemple qui peut être la partie 1 du slide après sa modification.  Ceci peut être un résumé de cette méthode, prise du site (https://blog.netwrix.fr/2019/04/03/comment-realiser-une-evaluation-des-risques-informatiques/):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Quels sont les actifs informatiques critiques de votre organisation ? Autrement dit, quelles sont les données dont l’exposition aurait un impact majeur sur les activités de votre entreprise 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Quels sont les cinq principaux processus métier qui utilisent ou requièrent ces informations 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Quelles menaces peuvent perturber ces fonctions métier 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fois que vous savez ce que vous devez protéger, vous pouvez commencer à élaborer des stratégies. Mais avant de consacrer un euro de votre budget ou une heure de votre temps à mettre en œuvre une solution de réduction des risques, vous devez être en mesure de répondre aux questions suivantes 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 risque réduisez-vous 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S’agit-il du risque de sécurité le plus prioritaire 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réduisez-vous de la manière la plus rentable qui soit 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Ces questions touchent au cœur du problème : le risque lui-même.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623888" y="1424783"/>
            <a:ext cx="7886700" cy="23772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623888" y="3824554"/>
            <a:ext cx="7886700" cy="1250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628650" y="1521354"/>
            <a:ext cx="38862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29150" y="1521354"/>
            <a:ext cx="38862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629841" y="304272"/>
            <a:ext cx="7886700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629842" y="1400969"/>
            <a:ext cx="3868340" cy="6865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629842" y="2087563"/>
            <a:ext cx="3868340" cy="307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29151" y="1400969"/>
            <a:ext cx="3887391" cy="6865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29151" y="2087563"/>
            <a:ext cx="3887391" cy="307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887391" y="822856"/>
            <a:ext cx="4629150" cy="4061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629841" y="1714500"/>
            <a:ext cx="2949178" cy="3176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3887391" y="822856"/>
            <a:ext cx="4629150" cy="406135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629841" y="1714500"/>
            <a:ext cx="2949178" cy="3176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758943" y="-608938"/>
            <a:ext cx="362611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5107915" y="1740033"/>
            <a:ext cx="484319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107415" y="-174492"/>
            <a:ext cx="484319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Number title">
  <p:cSld name="3_Number 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5"/>
          <p:cNvSpPr txBox="1"/>
          <p:nvPr>
            <p:ph idx="1" type="body"/>
          </p:nvPr>
        </p:nvSpPr>
        <p:spPr>
          <a:xfrm>
            <a:off x="2550807" y="605691"/>
            <a:ext cx="4059970" cy="50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667"/>
              <a:buNone/>
              <a:defRPr b="1" i="0" sz="4667">
                <a:solidFill>
                  <a:schemeClr val="accen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2" type="body"/>
          </p:nvPr>
        </p:nvSpPr>
        <p:spPr>
          <a:xfrm>
            <a:off x="2550807" y="1182071"/>
            <a:ext cx="4059969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i="0" sz="1600">
                <a:solidFill>
                  <a:srgbClr val="262626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7" name="Google Shape;87;p35"/>
          <p:cNvCxnSpPr/>
          <p:nvPr/>
        </p:nvCxnSpPr>
        <p:spPr>
          <a:xfrm rot="10800000">
            <a:off x="4580790" y="1778001"/>
            <a:ext cx="0" cy="3087217"/>
          </a:xfrm>
          <a:prstGeom prst="straightConnector1">
            <a:avLst/>
          </a:prstGeom>
          <a:noFill/>
          <a:ln cap="flat" cmpd="sng" w="9525">
            <a:solidFill>
              <a:srgbClr val="2F5496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88" name="Google Shape;88;p35"/>
          <p:cNvSpPr txBox="1"/>
          <p:nvPr>
            <p:ph idx="3" type="body"/>
          </p:nvPr>
        </p:nvSpPr>
        <p:spPr>
          <a:xfrm>
            <a:off x="2550807" y="1778001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b="1" i="0" sz="4000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4" type="body"/>
          </p:nvPr>
        </p:nvSpPr>
        <p:spPr>
          <a:xfrm>
            <a:off x="4695089" y="1778001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i="0" sz="1600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5" type="body"/>
          </p:nvPr>
        </p:nvSpPr>
        <p:spPr>
          <a:xfrm>
            <a:off x="2550807" y="2627922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b="1" i="0" sz="4000">
                <a:solidFill>
                  <a:schemeClr val="accent3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6" type="body"/>
          </p:nvPr>
        </p:nvSpPr>
        <p:spPr>
          <a:xfrm>
            <a:off x="4695089" y="2627922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i="0" sz="1600">
                <a:solidFill>
                  <a:schemeClr val="accent3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7" type="body"/>
          </p:nvPr>
        </p:nvSpPr>
        <p:spPr>
          <a:xfrm>
            <a:off x="4695089" y="2198078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4000"/>
              <a:buNone/>
              <a:defRPr b="1" i="0" sz="4000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8" type="body"/>
          </p:nvPr>
        </p:nvSpPr>
        <p:spPr>
          <a:xfrm>
            <a:off x="2542014" y="2198078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b="1" i="0" sz="1600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5"/>
          <p:cNvSpPr txBox="1"/>
          <p:nvPr>
            <p:ph idx="9" type="body"/>
          </p:nvPr>
        </p:nvSpPr>
        <p:spPr>
          <a:xfrm>
            <a:off x="4695089" y="3057771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4000"/>
              <a:buNone/>
              <a:defRPr b="1" i="0" sz="4000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5"/>
          <p:cNvSpPr txBox="1"/>
          <p:nvPr>
            <p:ph idx="13" type="body"/>
          </p:nvPr>
        </p:nvSpPr>
        <p:spPr>
          <a:xfrm>
            <a:off x="2542014" y="3057771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b="1" i="0" sz="1600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4" type="body"/>
          </p:nvPr>
        </p:nvSpPr>
        <p:spPr>
          <a:xfrm>
            <a:off x="2550807" y="3497386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b="1" i="0" sz="4000">
                <a:solidFill>
                  <a:schemeClr val="accent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idx="15" type="body"/>
          </p:nvPr>
        </p:nvSpPr>
        <p:spPr>
          <a:xfrm>
            <a:off x="4695089" y="3497386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b="1" i="0" sz="1600">
                <a:solidFill>
                  <a:schemeClr val="accent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16" type="body"/>
          </p:nvPr>
        </p:nvSpPr>
        <p:spPr>
          <a:xfrm>
            <a:off x="4695089" y="3937003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4000"/>
              <a:buNone/>
              <a:defRPr b="1" i="0" sz="4000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17" type="body"/>
          </p:nvPr>
        </p:nvSpPr>
        <p:spPr>
          <a:xfrm>
            <a:off x="2542014" y="3937003"/>
            <a:ext cx="1915686" cy="283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b="1" i="0" sz="1600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115616" y="1849388"/>
            <a:ext cx="6858000" cy="1435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b="1" lang="fr-FR" sz="4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Chapitre 1: Notions de base de la sécurité informatique</a:t>
            </a:r>
            <a:endParaRPr b="1" sz="44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143000" y="3709946"/>
            <a:ext cx="6858000" cy="1379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fr-FR" sz="2000">
                <a:latin typeface="Times New Roman"/>
                <a:ea typeface="Times New Roman"/>
                <a:cs typeface="Times New Roman"/>
                <a:sym typeface="Times New Roman"/>
              </a:rPr>
              <a:t>ème</a:t>
            </a: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 Année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Esprit 2022/2023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771800" y="759976"/>
            <a:ext cx="36558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E20000"/>
                </a:solidFill>
                <a:latin typeface="Calibri"/>
                <a:ea typeface="Calibri"/>
                <a:cs typeface="Calibri"/>
                <a:sym typeface="Calibri"/>
              </a:rPr>
              <a:t>Sécurité Informatique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634997" y="509416"/>
            <a:ext cx="7772400" cy="619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fr-FR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du chapitre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478256" y="1273324"/>
            <a:ext cx="8208545" cy="424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Introduction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Objectifs de la sécurité informatique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Terminologies 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Règles de base de la sécurité informatique</a:t>
            </a:r>
            <a:endParaRPr/>
          </a:p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8565401" y="5165224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634997" y="481236"/>
            <a:ext cx="7772400" cy="634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8565401" y="5195303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51520" y="4657700"/>
            <a:ext cx="8748464" cy="954107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La sécurité informatique consiste à la protection :des systèmes , de l'information et des services</a:t>
            </a:r>
            <a:endParaRPr sz="28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lang="fr-FR">
                <a:solidFill>
                  <a:srgbClr val="1E4E79"/>
                </a:solidFill>
              </a:rPr>
              <a:t>Système Informatique (SI)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fr-FR">
                <a:solidFill>
                  <a:srgbClr val="1E4E79"/>
                </a:solidFill>
              </a:rPr>
              <a:t>Des équipements informatiques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fr-FR">
                <a:solidFill>
                  <a:srgbClr val="1E4E79"/>
                </a:solidFill>
              </a:rPr>
              <a:t>Des systèmes d’exploitation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fr-FR">
                <a:solidFill>
                  <a:srgbClr val="1E4E79"/>
                </a:solidFill>
              </a:rPr>
              <a:t>Des applications et des logiciels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lang="fr-FR">
                <a:solidFill>
                  <a:srgbClr val="1E4E79"/>
                </a:solidFill>
              </a:rPr>
              <a:t>Ces ressources sont exposées </a:t>
            </a:r>
            <a:r>
              <a:rPr lang="fr-FR">
                <a:solidFill>
                  <a:srgbClr val="1E4E79"/>
                </a:solidFill>
              </a:rPr>
              <a:t>à plusieurs</a:t>
            </a:r>
            <a:r>
              <a:rPr lang="fr-FR">
                <a:solidFill>
                  <a:srgbClr val="1E4E79"/>
                </a:solidFill>
              </a:rPr>
              <a:t> risques et attaques.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634997" y="509416"/>
            <a:ext cx="7772400" cy="619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fr-FR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du chapitre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478256" y="1273324"/>
            <a:ext cx="8208545" cy="424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Introduction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Objectifs de la sécurité informatique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Terminologies 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Règles de base de la sécurité informatique</a:t>
            </a:r>
            <a:endParaRPr/>
          </a:p>
        </p:txBody>
      </p:sp>
      <p:sp>
        <p:nvSpPr>
          <p:cNvPr id="128" name="Google Shape;128;p4"/>
          <p:cNvSpPr txBox="1"/>
          <p:nvPr>
            <p:ph idx="12" type="sldNum"/>
          </p:nvPr>
        </p:nvSpPr>
        <p:spPr>
          <a:xfrm>
            <a:off x="8565401" y="5165224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57158" y="2428872"/>
            <a:ext cx="8286808" cy="571504"/>
          </a:xfrm>
          <a:prstGeom prst="rect">
            <a:avLst/>
          </a:prstGeom>
          <a:solidFill>
            <a:srgbClr val="FF0000">
              <a:alpha val="23921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5"/>
          <p:cNvGrpSpPr/>
          <p:nvPr/>
        </p:nvGrpSpPr>
        <p:grpSpPr>
          <a:xfrm>
            <a:off x="3723464" y="928848"/>
            <a:ext cx="5097010" cy="4649391"/>
            <a:chOff x="159576" y="303596"/>
            <a:chExt cx="5097010" cy="4649391"/>
          </a:xfrm>
        </p:grpSpPr>
        <p:sp>
          <p:nvSpPr>
            <p:cNvPr id="136" name="Google Shape;136;p5"/>
            <p:cNvSpPr/>
            <p:nvPr/>
          </p:nvSpPr>
          <p:spPr>
            <a:xfrm>
              <a:off x="1954022" y="2324128"/>
              <a:ext cx="1458505" cy="1458505"/>
            </a:xfrm>
            <a:prstGeom prst="ellipse">
              <a:avLst/>
            </a:prstGeom>
            <a:gradFill>
              <a:gsLst>
                <a:gs pos="0">
                  <a:srgbClr val="A6B6DE">
                    <a:alpha val="49803"/>
                  </a:srgbClr>
                </a:gs>
                <a:gs pos="50000">
                  <a:srgbClr val="97AAD8">
                    <a:alpha val="49803"/>
                  </a:srgbClr>
                </a:gs>
                <a:gs pos="100000">
                  <a:srgbClr val="859CD6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2167615" y="2537721"/>
              <a:ext cx="1031319" cy="1031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225" lIns="62225" spcFirstLastPara="1" rIns="62225" wrap="square" tIns="6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4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DIC</a:t>
              </a:r>
              <a:endParaRPr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538928" y="303596"/>
              <a:ext cx="2288693" cy="2288693"/>
            </a:xfrm>
            <a:prstGeom prst="ellipse">
              <a:avLst/>
            </a:prstGeom>
            <a:gradFill>
              <a:gsLst>
                <a:gs pos="0">
                  <a:srgbClr val="A5DAD8">
                    <a:alpha val="49803"/>
                  </a:srgbClr>
                </a:gs>
                <a:gs pos="50000">
                  <a:srgbClr val="97D3D1">
                    <a:alpha val="49803"/>
                  </a:srgbClr>
                </a:gs>
                <a:gs pos="100000">
                  <a:srgbClr val="85D1CD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1874099" y="638767"/>
              <a:ext cx="1618351" cy="1618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Disponibilité </a:t>
              </a:r>
              <a:r>
                <a:rPr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: Propriété d'accessibilité au </a:t>
              </a:r>
              <a:r>
                <a:rPr b="1"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service</a:t>
              </a:r>
              <a:r>
                <a:rPr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 au moment voulu </a:t>
              </a:r>
              <a:endParaRPr sz="17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2967893" y="2664291"/>
              <a:ext cx="2288693" cy="2288693"/>
            </a:xfrm>
            <a:prstGeom prst="ellipse">
              <a:avLst/>
            </a:prstGeom>
            <a:gradFill>
              <a:gsLst>
                <a:gs pos="0">
                  <a:srgbClr val="A5D7AF">
                    <a:alpha val="49803"/>
                  </a:srgbClr>
                </a:gs>
                <a:gs pos="50000">
                  <a:srgbClr val="97CFA3">
                    <a:alpha val="49803"/>
                  </a:srgbClr>
                </a:gs>
                <a:gs pos="100000">
                  <a:srgbClr val="84CC93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3303064" y="2999462"/>
              <a:ext cx="1618351" cy="1618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Intégrité</a:t>
              </a:r>
              <a:r>
                <a:rPr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: Propriété d'exactitude et de complétude des </a:t>
              </a:r>
              <a:r>
                <a:rPr b="1"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informations</a:t>
              </a:r>
              <a:r>
                <a:rPr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7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159576" y="2664294"/>
              <a:ext cx="2288693" cy="2288693"/>
            </a:xfrm>
            <a:prstGeom prst="ellipse">
              <a:avLst/>
            </a:prstGeom>
            <a:gradFill>
              <a:gsLst>
                <a:gs pos="0">
                  <a:srgbClr val="B3D3A4">
                    <a:alpha val="49803"/>
                  </a:srgbClr>
                </a:gs>
                <a:gs pos="50000">
                  <a:srgbClr val="A7CB97">
                    <a:alpha val="49803"/>
                  </a:srgbClr>
                </a:gs>
                <a:gs pos="100000">
                  <a:srgbClr val="9AC684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494747" y="2999465"/>
              <a:ext cx="1618351" cy="1618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Confidentialité</a:t>
              </a:r>
              <a:r>
                <a:rPr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: Les </a:t>
              </a:r>
              <a:r>
                <a:rPr b="1"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données</a:t>
              </a:r>
              <a:r>
                <a:rPr lang="fr-FR" sz="17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 ne peuvent être accessibles qu'aux personnes autorisées.</a:t>
              </a:r>
              <a:endParaRPr sz="17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592474" y="5185277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1043608" y="481236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b="1" lang="fr-FR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objectifs de sécurité </a:t>
            </a:r>
            <a:endParaRPr b="1" sz="36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6" name="Google Shape;146;p5"/>
          <p:cNvGrpSpPr/>
          <p:nvPr/>
        </p:nvGrpSpPr>
        <p:grpSpPr>
          <a:xfrm>
            <a:off x="684231" y="2140877"/>
            <a:ext cx="2994975" cy="2010398"/>
            <a:chOff x="1864" y="2368"/>
            <a:chExt cx="2994975" cy="2010398"/>
          </a:xfrm>
        </p:grpSpPr>
        <p:sp>
          <p:nvSpPr>
            <p:cNvPr id="147" name="Google Shape;147;p5"/>
            <p:cNvSpPr/>
            <p:nvPr/>
          </p:nvSpPr>
          <p:spPr>
            <a:xfrm>
              <a:off x="1864" y="2368"/>
              <a:ext cx="2994975" cy="93943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471583" y="2368"/>
              <a:ext cx="2055537" cy="93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20300" spcFirstLastPara="1" rIns="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Comment définir le niveau de sécurité d’un S.I. ? </a:t>
              </a:r>
              <a:endParaRPr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864" y="1073328"/>
              <a:ext cx="2994975" cy="93943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471583" y="1073328"/>
              <a:ext cx="2055537" cy="93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20300" spcFirstLastPara="1" rIns="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Comment évaluer si ce système est correctement sécurisé ?</a:t>
              </a:r>
              <a:endParaRPr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oint D'Interrogation Question - Image gratuite sur Pixabay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703" y="1149557"/>
            <a:ext cx="878641" cy="878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fe.png" id="152" name="Google Shape;1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229" y="1206852"/>
            <a:ext cx="1137847" cy="1097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857224" y="304272"/>
            <a:ext cx="7658126" cy="110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lang="fr-FR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Critères complémentaires</a:t>
            </a:r>
            <a:endParaRPr b="1" sz="4000"/>
          </a:p>
        </p:txBody>
      </p:sp>
      <p:grpSp>
        <p:nvGrpSpPr>
          <p:cNvPr id="158" name="Google Shape;158;p6"/>
          <p:cNvGrpSpPr/>
          <p:nvPr/>
        </p:nvGrpSpPr>
        <p:grpSpPr>
          <a:xfrm>
            <a:off x="630008" y="1520960"/>
            <a:ext cx="8405128" cy="3627166"/>
            <a:chOff x="1358" y="135"/>
            <a:chExt cx="8405128" cy="3627166"/>
          </a:xfrm>
        </p:grpSpPr>
        <p:sp>
          <p:nvSpPr>
            <p:cNvPr id="159" name="Google Shape;159;p6"/>
            <p:cNvSpPr/>
            <p:nvPr/>
          </p:nvSpPr>
          <p:spPr>
            <a:xfrm>
              <a:off x="1358" y="135"/>
              <a:ext cx="8405128" cy="122583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37261" y="36038"/>
              <a:ext cx="8333322" cy="1154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4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Besoins Complémentaires:</a:t>
              </a: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1358" y="1501850"/>
              <a:ext cx="1976746" cy="212545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59255" y="1559747"/>
              <a:ext cx="1860952" cy="200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L’authentification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Avoir l’assurance de l’identité d’une personne (ou d’un serveur) avec qui on échange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2144152" y="1501850"/>
              <a:ext cx="1976746" cy="212545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2202049" y="1559747"/>
              <a:ext cx="1860952" cy="200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non répudiation</a:t>
              </a:r>
              <a:r>
                <a:rPr lang="fr-FR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Avoir l’assurance que l’expéditeur d’un document ne puisse nier l’avoir envoyé ou que le destinataire ne puisse nier l’avoir reçu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4286946" y="1501850"/>
              <a:ext cx="1976746" cy="212545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4344843" y="1559747"/>
              <a:ext cx="1860952" cy="200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L’horodatage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Avoir l’assurance de la date et l’heure de l’exécution d’une action (envoi, réception, signature, …) sur un document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6429740" y="1501850"/>
              <a:ext cx="1976746" cy="212545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6487637" y="1559747"/>
              <a:ext cx="1860952" cy="200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Contrôle d’accès </a:t>
              </a:r>
              <a:r>
                <a:rPr lang="fr-FR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Avoir </a:t>
              </a:r>
              <a:r>
                <a:rPr b="0" i="0" lang="fr-FR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 droit de consulter et d’utiliser des informations et ressources via une autorisation </a:t>
              </a:r>
              <a:r>
                <a:rPr lang="fr-FR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idx="1" type="body"/>
          </p:nvPr>
        </p:nvSpPr>
        <p:spPr>
          <a:xfrm>
            <a:off x="288757" y="1173078"/>
            <a:ext cx="8617619" cy="11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fr-FR">
                <a:solidFill>
                  <a:srgbClr val="1E4E79"/>
                </a:solidFill>
              </a:rPr>
              <a:t>Un Système d’Information a besoin de mécanismes de sécurité qui ont pour objectif d’assurer de garantir les propriétés DIC sur le S.I. </a:t>
            </a:r>
            <a:endParaRPr b="1" i="1">
              <a:solidFill>
                <a:srgbClr val="1E4E79"/>
              </a:solidFill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5344" l="6133" r="7599" t="4993"/>
          <a:stretch/>
        </p:blipFill>
        <p:spPr>
          <a:xfrm>
            <a:off x="5718091" y="2713484"/>
            <a:ext cx="3318405" cy="201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>
            <p:ph idx="12" type="sldNum"/>
          </p:nvPr>
        </p:nvSpPr>
        <p:spPr>
          <a:xfrm>
            <a:off x="8601498" y="5195303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827584" y="481236"/>
            <a:ext cx="79928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b="1" lang="fr-FR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 de sécurité à mettre en place</a:t>
            </a:r>
            <a:endParaRPr b="1"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8" name="Google Shape;178;p7"/>
          <p:cNvGrpSpPr/>
          <p:nvPr/>
        </p:nvGrpSpPr>
        <p:grpSpPr>
          <a:xfrm>
            <a:off x="179512" y="1944774"/>
            <a:ext cx="5532119" cy="3625651"/>
            <a:chOff x="0" y="23378"/>
            <a:chExt cx="5532119" cy="3625651"/>
          </a:xfrm>
        </p:grpSpPr>
        <p:sp>
          <p:nvSpPr>
            <p:cNvPr id="179" name="Google Shape;179;p7"/>
            <p:cNvSpPr/>
            <p:nvPr/>
          </p:nvSpPr>
          <p:spPr>
            <a:xfrm>
              <a:off x="0" y="23378"/>
              <a:ext cx="5532119" cy="479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FCAE9"/>
                </a:gs>
                <a:gs pos="50000">
                  <a:srgbClr val="A0C1E4"/>
                </a:gs>
                <a:gs pos="100000">
                  <a:srgbClr val="8FB8E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 txBox="1"/>
            <p:nvPr/>
          </p:nvSpPr>
          <p:spPr>
            <a:xfrm>
              <a:off x="23417" y="46795"/>
              <a:ext cx="5485285" cy="432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Techniques : </a:t>
              </a:r>
              <a:r>
                <a:rPr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les solutions matérielles et logicielles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0" y="503078"/>
              <a:ext cx="5532119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 txBox="1"/>
            <p:nvPr/>
          </p:nvSpPr>
          <p:spPr>
            <a:xfrm>
              <a:off x="0" y="503078"/>
              <a:ext cx="5532119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175625" spcFirstLastPara="1" rIns="142225" wrap="square" tIns="254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Antivirus, Antispam, Firewall, contrôleur d’accès, etc.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0" y="834279"/>
              <a:ext cx="5532119" cy="479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FCAE9"/>
                </a:gs>
                <a:gs pos="50000">
                  <a:srgbClr val="A0C1E4"/>
                </a:gs>
                <a:gs pos="100000">
                  <a:srgbClr val="8FB8E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23417" y="857696"/>
              <a:ext cx="5485285" cy="432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Humains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0" y="1313979"/>
              <a:ext cx="5532119" cy="50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0" y="1313979"/>
              <a:ext cx="5532119" cy="50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175625" spcFirstLastPara="1" rIns="142225" wrap="square" tIns="254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Direction informatique: Assure le bon fonctionnement des applications, contrôler les accès aux systèmes, etc.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0" y="1821129"/>
              <a:ext cx="5532119" cy="479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FCAE9"/>
                </a:gs>
                <a:gs pos="50000">
                  <a:srgbClr val="A0C1E4"/>
                </a:gs>
                <a:gs pos="100000">
                  <a:srgbClr val="8FB8E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23417" y="1844546"/>
              <a:ext cx="5485285" cy="432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Organisationnels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0" y="2300829"/>
              <a:ext cx="5532119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0" y="2300829"/>
              <a:ext cx="5532119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175625" spcFirstLastPara="1" rIns="142225" wrap="square" tIns="254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Etablissement de la politique et l’organisation de la sécurité.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0" y="2632029"/>
              <a:ext cx="5532119" cy="479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FCAE9"/>
                </a:gs>
                <a:gs pos="50000">
                  <a:srgbClr val="A0C1E4"/>
                </a:gs>
                <a:gs pos="100000">
                  <a:srgbClr val="8FB8E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23417" y="2655446"/>
              <a:ext cx="5485285" cy="432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Juridiques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0" y="3169329"/>
              <a:ext cx="5532119" cy="479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23417" y="3192746"/>
              <a:ext cx="5485285" cy="432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Règlement, autorisation et sanctions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>
            <p:ph type="title"/>
          </p:nvPr>
        </p:nvSpPr>
        <p:spPr>
          <a:xfrm>
            <a:off x="634997" y="509416"/>
            <a:ext cx="7772400" cy="619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fr-FR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du chapitre</a:t>
            </a:r>
            <a:endParaRPr/>
          </a:p>
        </p:txBody>
      </p:sp>
      <p:sp>
        <p:nvSpPr>
          <p:cNvPr id="200" name="Google Shape;200;p8"/>
          <p:cNvSpPr txBox="1"/>
          <p:nvPr>
            <p:ph idx="1" type="body"/>
          </p:nvPr>
        </p:nvSpPr>
        <p:spPr>
          <a:xfrm>
            <a:off x="478256" y="1273324"/>
            <a:ext cx="8208545" cy="424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Introduction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Objectifs de la sécurité informatique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Terminologies 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Règles de base de la sécurité informatique</a:t>
            </a:r>
            <a:endParaRPr/>
          </a:p>
        </p:txBody>
      </p:sp>
      <p:sp>
        <p:nvSpPr>
          <p:cNvPr id="201" name="Google Shape;201;p8"/>
          <p:cNvSpPr txBox="1"/>
          <p:nvPr>
            <p:ph idx="12" type="sldNum"/>
          </p:nvPr>
        </p:nvSpPr>
        <p:spPr>
          <a:xfrm>
            <a:off x="8565401" y="5165224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57158" y="3357566"/>
            <a:ext cx="8286808" cy="571504"/>
          </a:xfrm>
          <a:prstGeom prst="rect">
            <a:avLst/>
          </a:prstGeom>
          <a:solidFill>
            <a:srgbClr val="FF0000">
              <a:alpha val="23921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idx="12" type="sldNum"/>
          </p:nvPr>
        </p:nvSpPr>
        <p:spPr>
          <a:xfrm>
            <a:off x="8556377" y="5205328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99592" y="553244"/>
            <a:ext cx="59046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Vocabulaire et terminologie</a:t>
            </a:r>
            <a:endParaRPr b="1"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9" name="Google Shape;209;p9"/>
          <p:cNvGrpSpPr/>
          <p:nvPr/>
        </p:nvGrpSpPr>
        <p:grpSpPr>
          <a:xfrm>
            <a:off x="963" y="1346945"/>
            <a:ext cx="9035532" cy="4089229"/>
            <a:chOff x="963" y="1612"/>
            <a:chExt cx="9035532" cy="4089229"/>
          </a:xfrm>
        </p:grpSpPr>
        <p:sp>
          <p:nvSpPr>
            <p:cNvPr id="210" name="Google Shape;210;p9"/>
            <p:cNvSpPr/>
            <p:nvPr/>
          </p:nvSpPr>
          <p:spPr>
            <a:xfrm rot="5400000">
              <a:off x="5229571" y="-3199000"/>
              <a:ext cx="538086" cy="70738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CD3EA">
                <a:alpha val="89803"/>
              </a:srgb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9"/>
            <p:cNvSpPr txBox="1"/>
            <p:nvPr/>
          </p:nvSpPr>
          <p:spPr>
            <a:xfrm>
              <a:off x="1961698" y="95140"/>
              <a:ext cx="7047567" cy="485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Une faille ou une faiblesse qui permet de contourner la sécurité d’un SI.</a:t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963" y="1612"/>
              <a:ext cx="1960733" cy="672608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 txBox="1"/>
            <p:nvPr/>
          </p:nvSpPr>
          <p:spPr>
            <a:xfrm>
              <a:off x="33797" y="34446"/>
              <a:ext cx="1895065" cy="60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Vulnérabilité</a:t>
              </a:r>
              <a:endParaRPr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 rot="5400000">
              <a:off x="5229571" y="-2515676"/>
              <a:ext cx="538086" cy="70738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BDDE8">
                <a:alpha val="89803"/>
              </a:srgbClr>
            </a:solidFill>
            <a:ln cap="flat" cmpd="sng" w="12700">
              <a:solidFill>
                <a:srgbClr val="CBDDE8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 txBox="1"/>
            <p:nvPr/>
          </p:nvSpPr>
          <p:spPr>
            <a:xfrm>
              <a:off x="1961698" y="778464"/>
              <a:ext cx="7047567" cy="485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36000" lvl="1" marL="36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500"/>
                <a:buFont typeface="Calibri"/>
                <a:buChar char="•"/>
              </a:pPr>
              <a:r>
                <a:rPr b="0" i="0" lang="fr-FR" sz="15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Un événement ou une action présentant un danger pour les actifs informationnels. </a:t>
              </a:r>
              <a:endParaRPr/>
            </a:p>
            <a:p>
              <a:pPr indent="-36000" lvl="1" marL="36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500"/>
                <a:buFont typeface="Calibri"/>
                <a:buChar char="•"/>
              </a:pPr>
              <a:r>
                <a:rPr b="0" i="0" lang="fr-FR" sz="15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La sécurité n’est pas encore compromise, mais le potentiel d’attaque est réel</a:t>
              </a: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963" y="684937"/>
              <a:ext cx="1960733" cy="672608"/>
            </a:xfrm>
            <a:prstGeom prst="roundRect">
              <a:avLst>
                <a:gd fmla="val 16667" name="adj"/>
              </a:avLst>
            </a:prstGeom>
            <a:solidFill>
              <a:srgbClr val="43A2B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 txBox="1"/>
            <p:nvPr/>
          </p:nvSpPr>
          <p:spPr>
            <a:xfrm>
              <a:off x="33797" y="717771"/>
              <a:ext cx="1895065" cy="60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1" i="0" lang="fr-FR" sz="18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enace</a:t>
              </a:r>
              <a:endParaRPr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 rot="5400000">
              <a:off x="5229571" y="-1832352"/>
              <a:ext cx="538086" cy="70738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BE7E5">
                <a:alpha val="89803"/>
              </a:srgbClr>
            </a:solidFill>
            <a:ln cap="flat" cmpd="sng" w="12700">
              <a:solidFill>
                <a:srgbClr val="CBE7E5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 txBox="1"/>
            <p:nvPr/>
          </p:nvSpPr>
          <p:spPr>
            <a:xfrm>
              <a:off x="1961698" y="1461788"/>
              <a:ext cx="7047567" cy="485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Une situation d’exposition à un certain type de danger (menace)</a:t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963" y="1368261"/>
              <a:ext cx="1960733" cy="672608"/>
            </a:xfrm>
            <a:prstGeom prst="roundRect">
              <a:avLst>
                <a:gd fmla="val 16667" name="adj"/>
              </a:avLst>
            </a:prstGeom>
            <a:solidFill>
              <a:srgbClr val="43BAA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9"/>
            <p:cNvSpPr txBox="1"/>
            <p:nvPr/>
          </p:nvSpPr>
          <p:spPr>
            <a:xfrm>
              <a:off x="33797" y="1401095"/>
              <a:ext cx="1895065" cy="60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Risque</a:t>
              </a:r>
              <a:endParaRPr b="1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 rot="5400000">
              <a:off x="5156802" y="-1159357"/>
              <a:ext cx="651085" cy="709449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BE5D9">
                <a:alpha val="89803"/>
              </a:srgbClr>
            </a:solidFill>
            <a:ln cap="flat" cmpd="sng" w="12700">
              <a:solidFill>
                <a:srgbClr val="CBE5D9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9"/>
            <p:cNvSpPr txBox="1"/>
            <p:nvPr/>
          </p:nvSpPr>
          <p:spPr>
            <a:xfrm>
              <a:off x="1935098" y="2094130"/>
              <a:ext cx="7062711" cy="587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Changement négatif pénalisant le niveau des objectifs métiers atteints</a:t>
              </a:r>
              <a:endParaRPr/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963" y="2051585"/>
              <a:ext cx="1934133" cy="672608"/>
            </a:xfrm>
            <a:prstGeom prst="roundRect">
              <a:avLst>
                <a:gd fmla="val 16667" name="adj"/>
              </a:avLst>
            </a:prstGeom>
            <a:solidFill>
              <a:srgbClr val="44B57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33797" y="2084419"/>
              <a:ext cx="1868465" cy="60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Impact</a:t>
              </a:r>
              <a:endParaRPr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5400000">
              <a:off x="5197616" y="-494167"/>
              <a:ext cx="538086" cy="713076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BE4CE">
                <a:alpha val="89803"/>
              </a:srgbClr>
            </a:solidFill>
            <a:ln cap="flat" cmpd="sng" w="12700">
              <a:solidFill>
                <a:srgbClr val="CBE4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9"/>
            <p:cNvSpPr txBox="1"/>
            <p:nvPr/>
          </p:nvSpPr>
          <p:spPr>
            <a:xfrm>
              <a:off x="1901279" y="2828437"/>
              <a:ext cx="7104495" cy="485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Une personne ou un élément qui a le pouvoir de mener une menace </a:t>
              </a:r>
              <a:endParaRPr/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963" y="2734909"/>
              <a:ext cx="1900314" cy="672608"/>
            </a:xfrm>
            <a:prstGeom prst="roundRect">
              <a:avLst>
                <a:gd fmla="val 16667" name="adj"/>
              </a:avLst>
            </a:prstGeom>
            <a:solidFill>
              <a:srgbClr val="46AF4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33797" y="2767743"/>
              <a:ext cx="1834646" cy="60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Attaquant</a:t>
              </a:r>
              <a:endParaRPr b="0" i="0" sz="18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5400000">
              <a:off x="5230535" y="217620"/>
              <a:ext cx="538086" cy="70738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2E2CB">
                <a:alpha val="89803"/>
              </a:srgbClr>
            </a:solidFill>
            <a:ln cap="flat" cmpd="sng" w="12700">
              <a:solidFill>
                <a:srgbClr val="D2E2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1962662" y="3511761"/>
              <a:ext cx="7047567" cy="485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4E79"/>
                </a:buClr>
                <a:buSzPts val="1600"/>
                <a:buFont typeface="Calibri"/>
                <a:buChar char="•"/>
              </a:pPr>
              <a:r>
                <a:rPr b="0" i="0" lang="fr-FR" sz="1600" u="none" cap="none" strike="noStrike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Fonctions et mécanismes dédiés pour assurer la sécurité d’un SI</a:t>
              </a:r>
              <a:endParaRPr b="0" i="0" sz="1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963" y="3418233"/>
              <a:ext cx="1960733" cy="672608"/>
            </a:xfrm>
            <a:prstGeom prst="roundRect">
              <a:avLst>
                <a:gd fmla="val 16667" name="adj"/>
              </a:avLst>
            </a:prstGeom>
            <a:solidFill>
              <a:srgbClr val="6FAA47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9"/>
            <p:cNvSpPr txBox="1"/>
            <p:nvPr/>
          </p:nvSpPr>
          <p:spPr>
            <a:xfrm>
              <a:off x="33797" y="3451067"/>
              <a:ext cx="1895065" cy="60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rgbClr val="1E4E79"/>
                  </a:solidFill>
                  <a:latin typeface="Calibri"/>
                  <a:ea typeface="Calibri"/>
                  <a:cs typeface="Calibri"/>
                  <a:sym typeface="Calibri"/>
                </a:rPr>
                <a:t>Contre-mesures</a:t>
              </a:r>
              <a:endParaRPr b="0" i="0" sz="18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10"/>
          <p:cNvGraphicFramePr/>
          <p:nvPr/>
        </p:nvGraphicFramePr>
        <p:xfrm>
          <a:off x="107504" y="12013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{2E894F05-FE03-4F92-BFBE-139F8EE33B82}</a:tableStyleId>
              </a:tblPr>
              <a:tblGrid>
                <a:gridCol w="1872200"/>
                <a:gridCol w="5069100"/>
              </a:tblGrid>
              <a:tr h="48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cap="none" strike="noStrike">
                          <a:solidFill>
                            <a:srgbClr val="1E4E79"/>
                          </a:solidFill>
                        </a:rPr>
                        <a:t>Types de vulnérabilité</a:t>
                      </a:r>
                      <a:endParaRPr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solidFill>
                            <a:srgbClr val="1E4E79"/>
                          </a:solidFill>
                        </a:rPr>
                        <a:t>Exemple </a:t>
                      </a:r>
                      <a:endParaRPr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50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1E4E79"/>
                          </a:solidFill>
                        </a:rPr>
                        <a:t>Matériel</a:t>
                      </a:r>
                      <a:endParaRPr b="1"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Maintenance insuffisante, absence de programme de remplacement périodique</a:t>
                      </a:r>
                      <a:endParaRPr sz="14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3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1E4E79"/>
                          </a:solidFill>
                        </a:rPr>
                        <a:t>Logiciel </a:t>
                      </a:r>
                      <a:endParaRPr b="1"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Tests</a:t>
                      </a: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 de logiciel absents ou insuffisants, interface utilisateur compliquée</a:t>
                      </a:r>
                      <a:endParaRPr sz="14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3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1E4E79"/>
                          </a:solidFill>
                        </a:rPr>
                        <a:t>Réseau </a:t>
                      </a:r>
                      <a:endParaRPr b="1"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Connexions au réseau public non protégées,</a:t>
                      </a: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 point de défaillance unique</a:t>
                      </a:r>
                      <a:endParaRPr sz="14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50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1E4E79"/>
                          </a:solidFill>
                        </a:rPr>
                        <a:t>personnel/humain</a:t>
                      </a:r>
                      <a:endParaRPr b="1"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Formation insuffisante à la</a:t>
                      </a: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 sécurité, travail non surveillé d’une équipe extérieure ou de l’équipe d’entretien, mauvaise manipulation,  « social  engineering » </a:t>
                      </a:r>
                      <a:endParaRPr sz="14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50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1E4E79"/>
                          </a:solidFill>
                        </a:rPr>
                        <a:t>Site </a:t>
                      </a:r>
                      <a:endParaRPr b="1"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Réseau électrique instable, emplacement situé dans une zone sujette aux inondations , aux séismes,  aux instabilités sociales…</a:t>
                      </a:r>
                      <a:endParaRPr sz="14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71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1E4E79"/>
                          </a:solidFill>
                        </a:rPr>
                        <a:t>Organisation</a:t>
                      </a:r>
                      <a:endParaRPr b="1" sz="16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Absence d’une bonne attribution des responsabilités en sécurité de l’information,</a:t>
                      </a:r>
                      <a:r>
                        <a:rPr lang="fr-FR" sz="1400">
                          <a:solidFill>
                            <a:srgbClr val="1E4E79"/>
                          </a:solidFill>
                        </a:rPr>
                        <a:t> absence de responsabilités en sécurité de l’information dans les descriptions de postes</a:t>
                      </a:r>
                      <a:endParaRPr sz="1400">
                        <a:solidFill>
                          <a:srgbClr val="1E4E79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9" name="Google Shape;239;p10"/>
          <p:cNvSpPr txBox="1"/>
          <p:nvPr>
            <p:ph idx="12" type="sldNum"/>
          </p:nvPr>
        </p:nvSpPr>
        <p:spPr>
          <a:xfrm>
            <a:off x="8556380" y="5195303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899592" y="477461"/>
            <a:ext cx="73453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principales causes des vulnérabilités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7381304" y="3273287"/>
            <a:ext cx="1727200" cy="1728787"/>
          </a:xfrm>
          <a:prstGeom prst="frame">
            <a:avLst>
              <a:gd fmla="val 7209" name="adj1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0"/>
          <p:cNvCxnSpPr/>
          <p:nvPr/>
        </p:nvCxnSpPr>
        <p:spPr>
          <a:xfrm flipH="1" rot="10800000">
            <a:off x="6202685" y="4513124"/>
            <a:ext cx="1092200" cy="84931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3" name="Google Shape;243;p10"/>
          <p:cNvCxnSpPr/>
          <p:nvPr/>
        </p:nvCxnSpPr>
        <p:spPr>
          <a:xfrm flipH="1" rot="10800000">
            <a:off x="6012185" y="3763824"/>
            <a:ext cx="1282700" cy="150971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4" name="Google Shape;244;p10"/>
          <p:cNvCxnSpPr/>
          <p:nvPr/>
        </p:nvCxnSpPr>
        <p:spPr>
          <a:xfrm flipH="1" rot="10800000">
            <a:off x="6202685" y="5073512"/>
            <a:ext cx="1692275" cy="57626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5" name="Google Shape;245;p10"/>
          <p:cNvSpPr txBox="1"/>
          <p:nvPr/>
        </p:nvSpPr>
        <p:spPr>
          <a:xfrm>
            <a:off x="4211960" y="5273537"/>
            <a:ext cx="21351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Vulnérabilités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8354" y="3676512"/>
            <a:ext cx="67627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7392028" y="3692748"/>
            <a:ext cx="148265" cy="1730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392028" y="4442048"/>
            <a:ext cx="148265" cy="174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 rot="-5400000">
            <a:off x="7848048" y="4858766"/>
            <a:ext cx="147450" cy="174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 txBox="1"/>
          <p:nvPr>
            <p:ph type="title"/>
          </p:nvPr>
        </p:nvSpPr>
        <p:spPr>
          <a:xfrm>
            <a:off x="861764" y="622353"/>
            <a:ext cx="7886700" cy="46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lang="fr-FR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Vulnérabilité-menace-impact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1"/>
          <p:cNvSpPr txBox="1"/>
          <p:nvPr>
            <p:ph idx="1" type="body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256" name="Google Shape;256;p11"/>
          <p:cNvGraphicFramePr/>
          <p:nvPr/>
        </p:nvGraphicFramePr>
        <p:xfrm>
          <a:off x="483433" y="15613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{ACC62834-487B-4B7E-929C-ED28A57DBB51}</a:tableStyleId>
              </a:tblPr>
              <a:tblGrid>
                <a:gridCol w="2683000"/>
                <a:gridCol w="2683000"/>
                <a:gridCol w="2683000"/>
              </a:tblGrid>
              <a:tr h="30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Vulnérabilité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Menace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Impact</a:t>
                      </a:r>
                      <a:endParaRPr sz="1800"/>
                    </a:p>
                  </a:txBody>
                  <a:tcPr marT="38100" marB="38100" marR="68575" marL="68575"/>
                </a:tc>
              </a:tr>
              <a:tr h="44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Entrepôt</a:t>
                      </a:r>
                      <a:r>
                        <a:rPr lang="fr-FR" sz="1800"/>
                        <a:t> sans surveillance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Vol d’équipement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Pertes</a:t>
                      </a:r>
                      <a:r>
                        <a:rPr lang="fr-FR" sz="1800"/>
                        <a:t> financière</a:t>
                      </a:r>
                      <a:endParaRPr sz="1800"/>
                    </a:p>
                  </a:txBody>
                  <a:tcPr marT="38100" marB="38100" marR="68575" marL="68575"/>
                </a:tc>
              </a:tr>
              <a:tr h="45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Interface utilisateur compliquée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Erreur de saisi</a:t>
                      </a:r>
                      <a:r>
                        <a:rPr lang="fr-FR" sz="1800"/>
                        <a:t> de données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Base</a:t>
                      </a:r>
                      <a:r>
                        <a:rPr lang="fr-FR" sz="1800"/>
                        <a:t> de données corrompue</a:t>
                      </a:r>
                      <a:endParaRPr sz="1800"/>
                    </a:p>
                  </a:txBody>
                  <a:tcPr marT="38100" marB="38100" marR="68575" marL="68575"/>
                </a:tc>
              </a:tr>
              <a:tr h="643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Ligne de communication non</a:t>
                      </a:r>
                      <a:r>
                        <a:rPr lang="fr-FR" sz="1800"/>
                        <a:t> protégée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Ecoute</a:t>
                      </a:r>
                      <a:r>
                        <a:rPr lang="fr-FR" sz="1800"/>
                        <a:t> électronique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Interception</a:t>
                      </a:r>
                      <a:r>
                        <a:rPr lang="fr-FR" sz="1800"/>
                        <a:t> des communications</a:t>
                      </a:r>
                      <a:endParaRPr sz="1800"/>
                    </a:p>
                  </a:txBody>
                  <a:tcPr marT="38100" marB="38100" marR="68575" marL="68575"/>
                </a:tc>
              </a:tr>
              <a:tr h="45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Transfert</a:t>
                      </a:r>
                      <a:r>
                        <a:rPr lang="fr-FR" sz="1800"/>
                        <a:t> des mots de passe en clair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Hacker 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Vol d’information</a:t>
                      </a:r>
                      <a:endParaRPr sz="1800"/>
                    </a:p>
                  </a:txBody>
                  <a:tcPr marT="38100" marB="38100" marR="68575" marL="68575"/>
                </a:tc>
              </a:tr>
              <a:tr h="83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Absence de processus de gestion des documents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Corruption des</a:t>
                      </a:r>
                      <a:r>
                        <a:rPr lang="fr-FR" sz="1800"/>
                        <a:t> données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Documentation obsolète</a:t>
                      </a:r>
                      <a:endParaRPr sz="1800"/>
                    </a:p>
                  </a:txBody>
                  <a:tcPr marT="38100" marB="38100" marR="68575" marL="68575"/>
                </a:tc>
              </a:tr>
              <a:tr h="44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Sensibilité à l’humidité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Corrosion </a:t>
                      </a:r>
                      <a:endParaRPr sz="1800"/>
                    </a:p>
                  </a:txBody>
                  <a:tcPr marT="38100" marB="381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Echec</a:t>
                      </a:r>
                      <a:r>
                        <a:rPr lang="fr-FR" sz="1800"/>
                        <a:t> de l’équipement</a:t>
                      </a:r>
                      <a:endParaRPr sz="1800"/>
                    </a:p>
                  </a:txBody>
                  <a:tcPr marT="38100" marB="3810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>
            <p:ph idx="1" type="body"/>
          </p:nvPr>
        </p:nvSpPr>
        <p:spPr>
          <a:xfrm>
            <a:off x="315829" y="1201315"/>
            <a:ext cx="8608595" cy="165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</a:pPr>
            <a:r>
              <a:rPr b="1" lang="fr-FR" sz="1800">
                <a:solidFill>
                  <a:srgbClr val="1E4E79"/>
                </a:solidFill>
              </a:rPr>
              <a:t>Vital</a:t>
            </a:r>
            <a:r>
              <a:rPr lang="fr-FR" sz="1800">
                <a:solidFill>
                  <a:srgbClr val="1E4E79"/>
                </a:solidFill>
              </a:rPr>
              <a:t> : La nature du risque peut mettre en cause la survie de l’entreprise</a:t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</a:pPr>
            <a:r>
              <a:rPr b="1" lang="fr-FR" sz="1800">
                <a:solidFill>
                  <a:srgbClr val="1E4E79"/>
                </a:solidFill>
              </a:rPr>
              <a:t>Critique</a:t>
            </a:r>
            <a:r>
              <a:rPr lang="fr-FR" sz="1800">
                <a:solidFill>
                  <a:srgbClr val="1E4E79"/>
                </a:solidFill>
              </a:rPr>
              <a:t> : La nature du risque peut affecter durablement les performances économiques de l’entreprise</a:t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</a:pPr>
            <a:r>
              <a:rPr b="1" lang="fr-FR" sz="1800">
                <a:solidFill>
                  <a:srgbClr val="1E4E79"/>
                </a:solidFill>
              </a:rPr>
              <a:t>Majeur</a:t>
            </a:r>
            <a:r>
              <a:rPr lang="fr-FR" sz="1800">
                <a:solidFill>
                  <a:srgbClr val="1E4E79"/>
                </a:solidFill>
              </a:rPr>
              <a:t> : La nature du risque peut affecter l’entreprise de manière non négligeable même si limitée dans le temps.</a:t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</a:pPr>
            <a:r>
              <a:rPr b="1" lang="fr-FR" sz="1800">
                <a:solidFill>
                  <a:srgbClr val="1E4E79"/>
                </a:solidFill>
              </a:rPr>
              <a:t>Mineur </a:t>
            </a:r>
            <a:r>
              <a:rPr lang="fr-FR" sz="1800">
                <a:solidFill>
                  <a:srgbClr val="1E4E79"/>
                </a:solidFill>
              </a:rPr>
              <a:t>: le risque existe mais son impact est limité </a:t>
            </a:r>
            <a:endParaRPr sz="1800">
              <a:solidFill>
                <a:srgbClr val="1E4E79"/>
              </a:solidFill>
            </a:endParaRPr>
          </a:p>
          <a:p>
            <a:pPr indent="-228600" lvl="1" marL="6858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</a:pPr>
            <a:br>
              <a:rPr lang="fr-FR" sz="1800">
                <a:solidFill>
                  <a:srgbClr val="1E4E79"/>
                </a:solidFill>
              </a:rPr>
            </a:br>
            <a:endParaRPr sz="1800">
              <a:solidFill>
                <a:srgbClr val="1E4E79"/>
              </a:solidFill>
            </a:endParaRPr>
          </a:p>
          <a:p>
            <a:pPr indent="-228600" lvl="1" marL="685800" rtl="0" algn="just">
              <a:lnSpc>
                <a:spcPct val="200000"/>
              </a:lnSpc>
              <a:spcBef>
                <a:spcPts val="734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1E4E79"/>
              </a:solidFill>
            </a:endParaRPr>
          </a:p>
        </p:txBody>
      </p:sp>
      <p:sp>
        <p:nvSpPr>
          <p:cNvPr id="263" name="Google Shape;263;p12"/>
          <p:cNvSpPr txBox="1"/>
          <p:nvPr>
            <p:ph idx="12" type="sldNum"/>
          </p:nvPr>
        </p:nvSpPr>
        <p:spPr>
          <a:xfrm>
            <a:off x="8565401" y="5195303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64" name="Google Shape;264;p12"/>
          <p:cNvSpPr txBox="1"/>
          <p:nvPr>
            <p:ph type="title"/>
          </p:nvPr>
        </p:nvSpPr>
        <p:spPr>
          <a:xfrm>
            <a:off x="1005780" y="516817"/>
            <a:ext cx="7886700" cy="46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b="1" lang="fr-FR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des risques</a:t>
            </a:r>
            <a:endParaRPr b="1"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/>
          <p:nvPr>
            <p:ph type="title"/>
          </p:nvPr>
        </p:nvSpPr>
        <p:spPr>
          <a:xfrm>
            <a:off x="861764" y="553244"/>
            <a:ext cx="7886700" cy="56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lang="fr-FR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 attaque: Définition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3"/>
          <p:cNvSpPr txBox="1"/>
          <p:nvPr>
            <p:ph idx="1" type="body"/>
          </p:nvPr>
        </p:nvSpPr>
        <p:spPr>
          <a:xfrm>
            <a:off x="628652" y="1521355"/>
            <a:ext cx="5100757" cy="3026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b="1" lang="fr-FR" sz="2400">
                <a:solidFill>
                  <a:srgbClr val="1E4E79"/>
                </a:solidFill>
              </a:rPr>
              <a:t>Action malveillante </a:t>
            </a:r>
            <a:r>
              <a:rPr lang="fr-FR" sz="2400">
                <a:solidFill>
                  <a:srgbClr val="1E4E79"/>
                </a:solidFill>
              </a:rPr>
              <a:t>destinée à porter atteinte à la sécurité d’un S.I. Une attaque représente la </a:t>
            </a:r>
            <a:r>
              <a:rPr b="1" lang="fr-FR" sz="2400">
                <a:solidFill>
                  <a:srgbClr val="1E4E79"/>
                </a:solidFill>
              </a:rPr>
              <a:t>concrétisation d’une menace</a:t>
            </a:r>
            <a:r>
              <a:rPr lang="fr-FR" sz="2400">
                <a:solidFill>
                  <a:srgbClr val="1E4E79"/>
                </a:solidFill>
              </a:rPr>
              <a:t>, et nécessite </a:t>
            </a:r>
            <a:r>
              <a:rPr b="1" lang="fr-FR" sz="2400">
                <a:solidFill>
                  <a:srgbClr val="1E4E79"/>
                </a:solidFill>
              </a:rPr>
              <a:t>l’exploitation d’une vulnérabilité</a:t>
            </a:r>
            <a:r>
              <a:rPr lang="fr-FR" sz="2400">
                <a:solidFill>
                  <a:srgbClr val="1E4E79"/>
                </a:solidFill>
              </a:rPr>
              <a:t>. </a:t>
            </a:r>
            <a:endParaRPr sz="2400"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fr-FR" sz="2400">
                <a:solidFill>
                  <a:srgbClr val="1E4E79"/>
                </a:solidFill>
              </a:rPr>
              <a:t>Une attaque ne peut donc avoir lieu (et réussir) que si le S.I est vulnérable</a:t>
            </a:r>
            <a:endParaRPr sz="2400">
              <a:solidFill>
                <a:srgbClr val="1E4E79"/>
              </a:solidFill>
            </a:endParaRPr>
          </a:p>
        </p:txBody>
      </p:sp>
      <p:sp>
        <p:nvSpPr>
          <p:cNvPr id="271" name="Google Shape;271;p13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72" name="Google Shape;2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9408" y="1921396"/>
            <a:ext cx="3163073" cy="2626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323529" y="4670474"/>
            <a:ext cx="8568950" cy="923330"/>
          </a:xfrm>
          <a:prstGeom prst="rect">
            <a:avLst/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Ainsi, tout le travail des experts sécurité consiste à s’assurer que le S.I. ne possède aucune vulnérabilité. Dans la réalité, l’objectif est en fait d’être en mesure de maitriser ces vulnérabilités plutôt que de viser un objectif 0 inatteignable.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type="title"/>
          </p:nvPr>
        </p:nvSpPr>
        <p:spPr>
          <a:xfrm>
            <a:off x="831274" y="537881"/>
            <a:ext cx="7481455" cy="591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Times New Roman"/>
              <a:buNone/>
            </a:pPr>
            <a:r>
              <a:rPr b="1" lang="fr-FR" sz="2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Attaque par logiciel malveillant (1)</a:t>
            </a:r>
            <a:endParaRPr b="1" sz="27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4"/>
          <p:cNvSpPr txBox="1"/>
          <p:nvPr>
            <p:ph idx="1" type="body"/>
          </p:nvPr>
        </p:nvSpPr>
        <p:spPr>
          <a:xfrm>
            <a:off x="467011" y="1417341"/>
            <a:ext cx="8101955" cy="40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Le virus </a:t>
            </a:r>
            <a:r>
              <a:rPr lang="fr-FR" sz="2200">
                <a:solidFill>
                  <a:srgbClr val="1E4E79"/>
                </a:solidFill>
              </a:rPr>
              <a:t>se duplique automatiquement sur le même dispositif et se transmet à un autre dispositif par l'intermédiaire du courrier électronique ou par l'échange de données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</a:pPr>
            <a:r>
              <a:t/>
            </a:r>
            <a:endParaRPr sz="100"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Le ver (</a:t>
            </a:r>
            <a:r>
              <a:rPr b="1" i="1" lang="fr-FR" sz="2200">
                <a:solidFill>
                  <a:srgbClr val="1E4E79"/>
                </a:solidFill>
              </a:rPr>
              <a:t>worm</a:t>
            </a:r>
            <a:r>
              <a:rPr b="1" lang="fr-FR" sz="2200">
                <a:solidFill>
                  <a:srgbClr val="1E4E79"/>
                </a:solidFill>
              </a:rPr>
              <a:t>)</a:t>
            </a:r>
            <a:r>
              <a:rPr lang="fr-FR" sz="2200">
                <a:solidFill>
                  <a:srgbClr val="1E4E79"/>
                </a:solidFill>
              </a:rPr>
              <a:t> exploite des communications réseaux d'une entité afin d'assurer sa reproduction sur d'autres dispositifs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</a:pPr>
            <a:r>
              <a:t/>
            </a:r>
            <a:endParaRPr sz="100"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Le cheval de Troie (</a:t>
            </a:r>
            <a:r>
              <a:rPr b="1" i="1" lang="fr-FR" sz="2200">
                <a:solidFill>
                  <a:srgbClr val="1E4E79"/>
                </a:solidFill>
              </a:rPr>
              <a:t>trojan</a:t>
            </a:r>
            <a:r>
              <a:rPr lang="fr-FR" sz="2200">
                <a:solidFill>
                  <a:srgbClr val="1E4E79"/>
                </a:solidFill>
              </a:rPr>
              <a:t>) a une apparence légitime et exécute des routines nuisibles sans l'autorisation de l'utilisateur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</a:pPr>
            <a:r>
              <a:t/>
            </a:r>
            <a:endParaRPr sz="100"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La porte dérobée (</a:t>
            </a:r>
            <a:r>
              <a:rPr b="1" i="1" lang="fr-FR" sz="2200">
                <a:solidFill>
                  <a:srgbClr val="1E4E79"/>
                </a:solidFill>
              </a:rPr>
              <a:t>backdoor</a:t>
            </a:r>
            <a:r>
              <a:rPr b="1" lang="fr-FR" sz="2200">
                <a:solidFill>
                  <a:srgbClr val="1E4E79"/>
                </a:solidFill>
              </a:rPr>
              <a:t>) </a:t>
            </a:r>
            <a:r>
              <a:rPr lang="fr-FR" sz="2200">
                <a:solidFill>
                  <a:srgbClr val="1E4E79"/>
                </a:solidFill>
              </a:rPr>
              <a:t>permet d'ouvrir d'un accès réseau frauduleux sur un système informatique et peut exploiter à distance la machine</a:t>
            </a:r>
            <a:endParaRPr/>
          </a:p>
        </p:txBody>
      </p:sp>
      <p:sp>
        <p:nvSpPr>
          <p:cNvPr id="280" name="Google Shape;280;p14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 txBox="1"/>
          <p:nvPr>
            <p:ph type="title"/>
          </p:nvPr>
        </p:nvSpPr>
        <p:spPr>
          <a:xfrm>
            <a:off x="987137" y="544821"/>
            <a:ext cx="7169727" cy="623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Times New Roman"/>
              <a:buNone/>
            </a:pPr>
            <a:r>
              <a:rPr b="1" lang="fr-FR" sz="2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Attaque par logiciel malveillant (2)</a:t>
            </a:r>
            <a:endParaRPr/>
          </a:p>
        </p:txBody>
      </p:sp>
      <p:sp>
        <p:nvSpPr>
          <p:cNvPr id="286" name="Google Shape;286;p15"/>
          <p:cNvSpPr txBox="1"/>
          <p:nvPr>
            <p:ph idx="1" type="body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Le logiciel espion (</a:t>
            </a:r>
            <a:r>
              <a:rPr b="1" i="1" lang="fr-FR" sz="2200">
                <a:solidFill>
                  <a:srgbClr val="1E4E79"/>
                </a:solidFill>
              </a:rPr>
              <a:t>spyware</a:t>
            </a:r>
            <a:r>
              <a:rPr b="1" lang="fr-FR" sz="2200">
                <a:solidFill>
                  <a:srgbClr val="1E4E79"/>
                </a:solidFill>
              </a:rPr>
              <a:t>) </a:t>
            </a:r>
            <a:r>
              <a:rPr lang="fr-FR" sz="2200">
                <a:solidFill>
                  <a:srgbClr val="1E4E79"/>
                </a:solidFill>
              </a:rPr>
              <a:t>fait la collecte d'informations personnelles sur l'ordinateur d'un utilisateur sans son autorisation et les transmet à un ordinateur tiers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L'enregistreur de frappe (</a:t>
            </a:r>
            <a:r>
              <a:rPr b="1" i="1" lang="fr-FR" sz="2200">
                <a:solidFill>
                  <a:srgbClr val="1E4E79"/>
                </a:solidFill>
              </a:rPr>
              <a:t>keylogger</a:t>
            </a:r>
            <a:r>
              <a:rPr b="1" lang="fr-FR" sz="2200">
                <a:solidFill>
                  <a:srgbClr val="1E4E79"/>
                </a:solidFill>
              </a:rPr>
              <a:t>) </a:t>
            </a:r>
            <a:r>
              <a:rPr lang="fr-FR" sz="2200">
                <a:solidFill>
                  <a:srgbClr val="1E4E79"/>
                </a:solidFill>
              </a:rPr>
              <a:t>est généralement invisible, installé sur le poste d'un utilisateur et chargé d'enregistrer à son insu ses frappes clavier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b="1" lang="fr-FR" sz="2200">
                <a:solidFill>
                  <a:srgbClr val="1E4E79"/>
                </a:solidFill>
              </a:rPr>
              <a:t>Le rootkit </a:t>
            </a:r>
            <a:r>
              <a:rPr lang="fr-FR" sz="2200">
                <a:solidFill>
                  <a:srgbClr val="1E4E79"/>
                </a:solidFill>
              </a:rPr>
              <a:t>est un ensemble de logiciels permettant généralement d'obtenir les droits d'administrateur sur une machine</a:t>
            </a:r>
            <a:endParaRPr sz="2200">
              <a:solidFill>
                <a:srgbClr val="1E4E79"/>
              </a:solidFill>
            </a:endParaRPr>
          </a:p>
        </p:txBody>
      </p:sp>
      <p:sp>
        <p:nvSpPr>
          <p:cNvPr id="287" name="Google Shape;287;p15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>
            <p:ph type="title"/>
          </p:nvPr>
        </p:nvSpPr>
        <p:spPr>
          <a:xfrm>
            <a:off x="987137" y="598929"/>
            <a:ext cx="7169727" cy="515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Times New Roman"/>
              <a:buNone/>
            </a:pPr>
            <a:r>
              <a:rPr b="1" lang="fr-FR" sz="2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Attaque suite à une mise en réseau</a:t>
            </a:r>
            <a:endParaRPr/>
          </a:p>
        </p:txBody>
      </p:sp>
      <p:sp>
        <p:nvSpPr>
          <p:cNvPr id="293" name="Google Shape;293;p16"/>
          <p:cNvSpPr txBox="1"/>
          <p:nvPr>
            <p:ph idx="1" type="body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ct val="100000"/>
              <a:buChar char="•"/>
            </a:pPr>
            <a:r>
              <a:rPr b="1" lang="fr-FR">
                <a:solidFill>
                  <a:srgbClr val="1E4E79"/>
                </a:solidFill>
              </a:rPr>
              <a:t>les écoutes (</a:t>
            </a:r>
            <a:r>
              <a:rPr b="1" i="1" lang="fr-FR">
                <a:solidFill>
                  <a:srgbClr val="1E4E79"/>
                </a:solidFill>
              </a:rPr>
              <a:t>sniffing</a:t>
            </a:r>
            <a:r>
              <a:rPr b="1" lang="fr-FR">
                <a:solidFill>
                  <a:srgbClr val="1E4E79"/>
                </a:solidFill>
              </a:rPr>
              <a:t>) </a:t>
            </a:r>
            <a:r>
              <a:rPr lang="fr-FR">
                <a:solidFill>
                  <a:srgbClr val="1E4E79"/>
                </a:solidFill>
              </a:rPr>
              <a:t>permettent de récupérer toutes les informations transitant sur un réseau (par un logiciel </a:t>
            </a:r>
            <a:r>
              <a:rPr i="1" lang="fr-FR">
                <a:solidFill>
                  <a:srgbClr val="1E4E79"/>
                </a:solidFill>
              </a:rPr>
              <a:t>sniffer</a:t>
            </a:r>
            <a:r>
              <a:rPr lang="fr-FR">
                <a:solidFill>
                  <a:srgbClr val="1E4E79"/>
                </a:solidFill>
              </a:rPr>
              <a:t>)</a:t>
            </a:r>
            <a:endParaRPr/>
          </a:p>
          <a:p>
            <a:pPr indent="-342900" lvl="1" marL="62819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ct val="100000"/>
              <a:buFont typeface="Noto Sans Symbols"/>
              <a:buChar char="🡺"/>
            </a:pPr>
            <a:r>
              <a:rPr lang="fr-FR">
                <a:solidFill>
                  <a:srgbClr val="1E4E79"/>
                </a:solidFill>
              </a:rPr>
              <a:t>récupérer les mots de passe des applications et identifier les machines communiquant sur le réseau.</a:t>
            </a:r>
            <a:endParaRPr/>
          </a:p>
          <a:p>
            <a:pPr indent="0" lvl="1" marL="28529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300"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ct val="100000"/>
              <a:buChar char="•"/>
            </a:pPr>
            <a:r>
              <a:rPr b="1" lang="fr-FR">
                <a:solidFill>
                  <a:srgbClr val="1E4E79"/>
                </a:solidFill>
              </a:rPr>
              <a:t>L'usurpation d'identité (</a:t>
            </a:r>
            <a:r>
              <a:rPr b="1" i="1" lang="fr-FR">
                <a:solidFill>
                  <a:srgbClr val="1E4E79"/>
                </a:solidFill>
              </a:rPr>
              <a:t>spoofing</a:t>
            </a:r>
            <a:r>
              <a:rPr b="1" lang="fr-FR">
                <a:solidFill>
                  <a:srgbClr val="1E4E79"/>
                </a:solidFill>
              </a:rPr>
              <a:t>)</a:t>
            </a:r>
            <a:r>
              <a:rPr lang="fr-FR">
                <a:solidFill>
                  <a:srgbClr val="1E4E79"/>
                </a:solidFill>
              </a:rPr>
              <a:t> prend l'identité d'une autre personne ou d'une autre machine pour collecter des données sensibles, confidentielles, 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300">
              <a:solidFill>
                <a:srgbClr val="1E4E7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ct val="100000"/>
              <a:buChar char="•"/>
            </a:pPr>
            <a:r>
              <a:rPr b="1" lang="fr-FR">
                <a:solidFill>
                  <a:srgbClr val="1E4E79"/>
                </a:solidFill>
              </a:rPr>
              <a:t>Le déni de service (</a:t>
            </a:r>
            <a:r>
              <a:rPr b="1" i="1" lang="fr-FR">
                <a:solidFill>
                  <a:srgbClr val="1E4E79"/>
                </a:solidFill>
              </a:rPr>
              <a:t>denial of service</a:t>
            </a:r>
            <a:r>
              <a:rPr b="1" lang="fr-FR">
                <a:solidFill>
                  <a:srgbClr val="1E4E79"/>
                </a:solidFill>
              </a:rPr>
              <a:t>) </a:t>
            </a:r>
            <a:r>
              <a:rPr lang="fr-FR">
                <a:solidFill>
                  <a:srgbClr val="1E4E79"/>
                </a:solidFill>
              </a:rPr>
              <a:t>provoque des interruptions de service pour empêcher le bon fonctionnement d’un système</a:t>
            </a:r>
            <a:endParaRPr/>
          </a:p>
          <a:p>
            <a:pPr indent="0" lvl="1" marL="30669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ct val="100000"/>
              <a:buNone/>
            </a:pPr>
            <a:r>
              <a:rPr lang="fr-FR">
                <a:solidFill>
                  <a:srgbClr val="1E4E79"/>
                </a:solidFill>
              </a:rPr>
              <a:t>🡺 Des tentatives d'extorsion de fond : menacer de stopper l'activité d'une entreprise.</a:t>
            </a:r>
            <a:endParaRPr/>
          </a:p>
        </p:txBody>
      </p:sp>
      <p:sp>
        <p:nvSpPr>
          <p:cNvPr id="294" name="Google Shape;294;p16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971600" y="481236"/>
            <a:ext cx="7169727" cy="515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b="1" lang="fr-FR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contre-mesures </a:t>
            </a:r>
            <a:endParaRPr/>
          </a:p>
        </p:txBody>
      </p:sp>
      <p:sp>
        <p:nvSpPr>
          <p:cNvPr id="300" name="Google Shape;300;p17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755576" y="1273324"/>
            <a:ext cx="7632848" cy="201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b="1" lang="fr-FR">
                <a:solidFill>
                  <a:srgbClr val="1E4E79"/>
                </a:solidFill>
              </a:rPr>
              <a:t>Mesure de sécurité: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fr-FR">
                <a:solidFill>
                  <a:srgbClr val="1E4E79"/>
                </a:solidFill>
              </a:rPr>
              <a:t>Solution qui modifie/ éliminer un risque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fr-FR">
                <a:solidFill>
                  <a:srgbClr val="1E4E79"/>
                </a:solidFill>
              </a:rPr>
              <a:t>Les processus, politiques, dispositifs, pratiques ou autres actions</a:t>
            </a:r>
            <a:endParaRPr>
              <a:solidFill>
                <a:srgbClr val="1E4E79"/>
              </a:solidFill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275429" y="3505575"/>
            <a:ext cx="13893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Mesure préventive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755566" y="3648450"/>
            <a:ext cx="4702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Dissuader ou prévenir l’apparition de problèmes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23956" y="4132925"/>
            <a:ext cx="15408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Mesure de détection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755564" y="4275775"/>
            <a:ext cx="4785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Rechercher, détecter et identifier les anomalies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6" y="4760250"/>
            <a:ext cx="1664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Mesure correctives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755574" y="4903125"/>
            <a:ext cx="61215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Remédier aux problèmes découverts et prévenir la répétition des anomalies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13" name="Google Shape;313;p18"/>
          <p:cNvPicPr preferRelativeResize="0"/>
          <p:nvPr/>
        </p:nvPicPr>
        <p:blipFill rotWithShape="1">
          <a:blip r:embed="rId3">
            <a:alphaModFix/>
          </a:blip>
          <a:srcRect b="0" l="797" r="0" t="0"/>
          <a:stretch/>
        </p:blipFill>
        <p:spPr>
          <a:xfrm>
            <a:off x="395740" y="1164094"/>
            <a:ext cx="8360014" cy="421368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>
            <p:ph type="title"/>
          </p:nvPr>
        </p:nvSpPr>
        <p:spPr>
          <a:xfrm>
            <a:off x="869054" y="337220"/>
            <a:ext cx="7886700" cy="56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Times New Roman"/>
              <a:buNone/>
            </a:pPr>
            <a:r>
              <a:rPr b="1" lang="fr-FR" sz="2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 entre concepts de sécurité</a:t>
            </a:r>
            <a:endParaRPr b="1" sz="27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634997" y="509416"/>
            <a:ext cx="7772400" cy="619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lang="fr-FR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du chapitre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478256" y="1273324"/>
            <a:ext cx="8208545" cy="424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Introduction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Objectifs de la sécurité informatique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Terminologies 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468"/>
              </a:spcBef>
              <a:spcAft>
                <a:spcPts val="0"/>
              </a:spcAft>
              <a:buClr>
                <a:srgbClr val="1E4E79"/>
              </a:buClr>
              <a:buSzPts val="2800"/>
              <a:buFont typeface="Noto Sans Symbols"/>
              <a:buChar char="▪"/>
            </a:pPr>
            <a:r>
              <a:rPr lang="fr-FR">
                <a:solidFill>
                  <a:srgbClr val="1E4E79"/>
                </a:solidFill>
              </a:rPr>
              <a:t>Règles de base de la sécurité informatique</a:t>
            </a:r>
            <a:endParaRPr/>
          </a:p>
        </p:txBody>
      </p:sp>
      <p:sp>
        <p:nvSpPr>
          <p:cNvPr id="321" name="Google Shape;321;p19"/>
          <p:cNvSpPr txBox="1"/>
          <p:nvPr>
            <p:ph idx="12" type="sldNum"/>
          </p:nvPr>
        </p:nvSpPr>
        <p:spPr>
          <a:xfrm>
            <a:off x="8565401" y="5165224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357158" y="4357698"/>
            <a:ext cx="8286808" cy="571504"/>
          </a:xfrm>
          <a:prstGeom prst="rect">
            <a:avLst/>
          </a:prstGeom>
          <a:solidFill>
            <a:srgbClr val="FF0000">
              <a:alpha val="23921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288757" y="1141956"/>
            <a:ext cx="5141429" cy="4448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41161" lvl="0" marL="141161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800"/>
              <a:t>1. </a:t>
            </a:r>
            <a:r>
              <a:rPr lang="fr-FR" sz="2000"/>
              <a:t>Identifier la menace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Qui ou quoi / Comment (vulnérabilités)</a:t>
            </a:r>
            <a:r>
              <a:rPr lang="fr-FR" sz="2000"/>
              <a:t> ?</a:t>
            </a:r>
            <a:endParaRPr/>
          </a:p>
          <a:p>
            <a:pPr indent="-141161" lvl="0" marL="141161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800"/>
              <a:t>2</a:t>
            </a:r>
            <a:r>
              <a:rPr lang="fr-FR" sz="2000"/>
              <a:t>. Évaluer les risques et les vulnérabilités 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Probabilité / Impact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800"/>
              <a:t>3. </a:t>
            </a:r>
            <a:r>
              <a:rPr lang="fr-FR" sz="2000"/>
              <a:t>Considérer les mesures de protection par rapport au risque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Efficacité / Coût / Difficulté d'utilisation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Préparer des scénarios de récupération</a:t>
            </a:r>
            <a:endParaRPr sz="18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800"/>
              <a:t>4. </a:t>
            </a:r>
            <a:r>
              <a:rPr lang="fr-FR" sz="2000"/>
              <a:t>Mettre en place et opérer les mesures de protections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Modification et/ou installation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Changer les politiques</a:t>
            </a:r>
            <a:endParaRPr/>
          </a:p>
          <a:p>
            <a:pPr indent="-228600" lvl="1" marL="6858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1800"/>
              <a:t>Test des scénarios d’attaques </a:t>
            </a:r>
            <a:endParaRPr sz="18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800"/>
              <a:t>5. </a:t>
            </a:r>
            <a:r>
              <a:rPr lang="fr-FR" sz="2000"/>
              <a:t>Auditer, Valider et suivre 🡪 Rapport d’audit </a:t>
            </a:r>
            <a:endParaRPr sz="2000"/>
          </a:p>
        </p:txBody>
      </p:sp>
      <p:pic>
        <p:nvPicPr>
          <p:cNvPr id="328" name="Google Shape;3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7879" y="1141956"/>
            <a:ext cx="3631367" cy="399256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>
            <p:ph idx="12" type="sldNum"/>
          </p:nvPr>
        </p:nvSpPr>
        <p:spPr>
          <a:xfrm>
            <a:off x="8578512" y="5205334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0" name="Google Shape;330;p20"/>
          <p:cNvSpPr txBox="1"/>
          <p:nvPr>
            <p:ph type="title"/>
          </p:nvPr>
        </p:nvSpPr>
        <p:spPr>
          <a:xfrm>
            <a:off x="899592" y="481236"/>
            <a:ext cx="7169727" cy="515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Times New Roman"/>
              <a:buNone/>
            </a:pPr>
            <a:r>
              <a:rPr b="1" lang="fr-FR" sz="2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Méthodologie de la sécurité</a:t>
            </a:r>
            <a:endParaRPr b="1" sz="27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/>
          <p:nvPr>
            <p:ph type="title"/>
          </p:nvPr>
        </p:nvSpPr>
        <p:spPr>
          <a:xfrm>
            <a:off x="971600" y="481236"/>
            <a:ext cx="7169727" cy="56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b="1" lang="fr-FR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Règles de base</a:t>
            </a:r>
            <a:endParaRPr b="1"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1"/>
          <p:cNvSpPr txBox="1"/>
          <p:nvPr>
            <p:ph idx="12" type="sldNum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183350" y="1323192"/>
            <a:ext cx="1525085" cy="6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Interdiction par défaut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1810327" y="1480875"/>
            <a:ext cx="44694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Tout ce qui n’est pas autorisé explicitement est interdit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183350" y="2026241"/>
            <a:ext cx="1442879" cy="6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Moindre privilège</a:t>
            </a:r>
            <a:endParaRPr b="1"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1728173" y="2181850"/>
            <a:ext cx="4937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N’autoriser que le strict nécessaire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183350" y="2729290"/>
            <a:ext cx="1689497" cy="6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Défense en profondeur</a:t>
            </a:r>
            <a:endParaRPr b="1"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1974861" y="2729300"/>
            <a:ext cx="48558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Protection au plus tôt et à tous les niveaux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1974831" y="3081650"/>
            <a:ext cx="40020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Défenses en série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183350" y="3432339"/>
            <a:ext cx="1607291" cy="6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Goulet d’étranglement</a:t>
            </a:r>
            <a:endParaRPr b="1"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1892464" y="3596325"/>
            <a:ext cx="4855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Point de sortie unique permettant le contrôle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183350" y="4135388"/>
            <a:ext cx="1525085" cy="6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Simplicité</a:t>
            </a:r>
            <a:endParaRPr b="1"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1810314" y="4299275"/>
            <a:ext cx="6053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Filtrage le plus simple possible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183350" y="4838437"/>
            <a:ext cx="1525085" cy="6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Concertation </a:t>
            </a:r>
            <a:endParaRPr b="1"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1810313" y="5002325"/>
            <a:ext cx="6330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Acceptation des contraintes par utilisateurs</a:t>
            </a:r>
            <a:endParaRPr sz="1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 txBox="1"/>
          <p:nvPr>
            <p:ph idx="1" type="body"/>
          </p:nvPr>
        </p:nvSpPr>
        <p:spPr>
          <a:xfrm>
            <a:off x="1581844" y="1521354"/>
            <a:ext cx="7886700" cy="36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4400"/>
              <a:buNone/>
            </a:pPr>
            <a:r>
              <a:rPr b="1" lang="fr-FR" sz="4400">
                <a:solidFill>
                  <a:srgbClr val="C00000"/>
                </a:solidFill>
              </a:rPr>
              <a:t>		Fin chapitre </a:t>
            </a:r>
            <a:endParaRPr b="1" sz="4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pri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2021-10-27T12:12:30Z</dcterms:created>
  <dc:creator>Amel</dc:creator>
</cp:coreProperties>
</file>