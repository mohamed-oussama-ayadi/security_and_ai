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6858000" cx="9144000"/>
  <p:notesSz cx="9144000" cy="6858000"/>
  <p:embeddedFontLst>
    <p:embeddedFont>
      <p:font typeface="Raleway Black"/>
      <p:bold r:id="rId60"/>
      <p:boldItalic r:id="rId61"/>
    </p:embeddedFont>
    <p:embeddedFont>
      <p:font typeface="Helvetica Neue"/>
      <p:regular r:id="rId62"/>
      <p:bold r:id="rId63"/>
      <p:italic r:id="rId64"/>
      <p:boldItalic r:id="rId65"/>
    </p:embeddedFont>
    <p:embeddedFont>
      <p:font typeface="Noto Sans Symbols"/>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http://customooxmlschemas.google.com/">
      <go:slidesCustomData xmlns:go="http://customooxmlschemas.google.com/" r:id="rId68" roundtripDataSignature="AMtx7mgYfjLkX83iAsM/TVPgUxj/5zot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HelveticaNeue-regular.fntdata"/><Relationship Id="rId61" Type="http://schemas.openxmlformats.org/officeDocument/2006/relationships/font" Target="fonts/RalewayBlack-boldItalic.fntdata"/><Relationship Id="rId20" Type="http://schemas.openxmlformats.org/officeDocument/2006/relationships/slide" Target="slides/slide15.xml"/><Relationship Id="rId64" Type="http://schemas.openxmlformats.org/officeDocument/2006/relationships/font" Target="fonts/HelveticaNeue-italic.fntdata"/><Relationship Id="rId63" Type="http://schemas.openxmlformats.org/officeDocument/2006/relationships/font" Target="fonts/HelveticaNeue-bold.fntdata"/><Relationship Id="rId22" Type="http://schemas.openxmlformats.org/officeDocument/2006/relationships/slide" Target="slides/slide17.xml"/><Relationship Id="rId66" Type="http://schemas.openxmlformats.org/officeDocument/2006/relationships/font" Target="fonts/NotoSansSymbols-regular.fntdata"/><Relationship Id="rId21" Type="http://schemas.openxmlformats.org/officeDocument/2006/relationships/slide" Target="slides/slide16.xml"/><Relationship Id="rId65" Type="http://schemas.openxmlformats.org/officeDocument/2006/relationships/font" Target="fonts/HelveticaNeue-boldItalic.fntdata"/><Relationship Id="rId24" Type="http://schemas.openxmlformats.org/officeDocument/2006/relationships/slide" Target="slides/slide19.xml"/><Relationship Id="rId68" Type="http://customschemas.google.com/relationships/presentationmetadata" Target="metadata"/><Relationship Id="rId23" Type="http://schemas.openxmlformats.org/officeDocument/2006/relationships/slide" Target="slides/slide18.xml"/><Relationship Id="rId67" Type="http://schemas.openxmlformats.org/officeDocument/2006/relationships/font" Target="fonts/NotoSansSymbols-bold.fntdata"/><Relationship Id="rId60" Type="http://schemas.openxmlformats.org/officeDocument/2006/relationships/font" Target="fonts/RalewayBlack-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p1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2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3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 name="Google Shape;365;p3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3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3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3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3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3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43" name="Google Shape;443;p41:notes"/>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p4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4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4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4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4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486" name="Google Shape;486;p46:notes"/>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5" name="Google Shape;495;p4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4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4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4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4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5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p5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5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5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5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0" name="Google Shape;540;p5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5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22de8b950d3_0_0: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22de8b950d3_0_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g22de8b950d3_0_0: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15" name="Shape 15"/>
        <p:cNvGrpSpPr/>
        <p:nvPr/>
      </p:nvGrpSpPr>
      <p:grpSpPr>
        <a:xfrm>
          <a:off x="0" y="0"/>
          <a:ext cx="0" cy="0"/>
          <a:chOff x="0" y="0"/>
          <a:chExt cx="0" cy="0"/>
        </a:xfrm>
      </p:grpSpPr>
      <p:sp>
        <p:nvSpPr>
          <p:cNvPr id="16" name="Google Shape;16;p55"/>
          <p:cNvSpPr txBox="1"/>
          <p:nvPr>
            <p:ph type="title"/>
          </p:nvPr>
        </p:nvSpPr>
        <p:spPr>
          <a:xfrm>
            <a:off x="628650" y="36512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1" name="Shape 21"/>
        <p:cNvGrpSpPr/>
        <p:nvPr/>
      </p:nvGrpSpPr>
      <p:grpSpPr>
        <a:xfrm>
          <a:off x="0" y="0"/>
          <a:ext cx="0" cy="0"/>
          <a:chOff x="0" y="0"/>
          <a:chExt cx="0" cy="0"/>
        </a:xfrm>
      </p:grpSpPr>
      <p:sp>
        <p:nvSpPr>
          <p:cNvPr id="22" name="Google Shape;22;p56"/>
          <p:cNvSpPr txBox="1"/>
          <p:nvPr>
            <p:ph type="title"/>
          </p:nvPr>
        </p:nvSpPr>
        <p:spPr>
          <a:xfrm>
            <a:off x="628650" y="365127"/>
            <a:ext cx="7886700" cy="1325563"/>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rgbClr val="790000"/>
              </a:buClr>
              <a:buSzPts val="3600"/>
              <a:buFont typeface="Trebuchet MS"/>
              <a:buNone/>
              <a:defRPr b="1" i="0" sz="3600">
                <a:solidFill>
                  <a:srgbClr val="790000"/>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6"/>
          <p:cNvSpPr txBox="1"/>
          <p:nvPr>
            <p:ph idx="11" type="ftr"/>
          </p:nvPr>
        </p:nvSpPr>
        <p:spPr>
          <a:xfrm>
            <a:off x="3028950" y="6356353"/>
            <a:ext cx="3086100" cy="365125"/>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6"/>
          <p:cNvSpPr txBox="1"/>
          <p:nvPr>
            <p:ph idx="10" type="dt"/>
          </p:nvPr>
        </p:nvSpPr>
        <p:spPr>
          <a:xfrm>
            <a:off x="628650" y="6356353"/>
            <a:ext cx="2057400" cy="365125"/>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6"/>
          <p:cNvSpPr txBox="1"/>
          <p:nvPr>
            <p:ph idx="12" type="sldNum"/>
          </p:nvPr>
        </p:nvSpPr>
        <p:spPr>
          <a:xfrm>
            <a:off x="6457950" y="6356353"/>
            <a:ext cx="2057400" cy="365125"/>
          </a:xfrm>
          <a:prstGeom prst="rect">
            <a:avLst/>
          </a:prstGeom>
          <a:noFill/>
          <a:ln>
            <a:noFill/>
          </a:ln>
        </p:spPr>
        <p:txBody>
          <a:bodyPr anchorCtr="0" anchor="ctr" bIns="0" lIns="0" spcFirstLastPara="1" rIns="0" wrap="square" tIns="0">
            <a:noAutofit/>
          </a:bodyPr>
          <a:lstStyle>
            <a:lvl1pPr indent="0" lvl="0"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1pPr>
            <a:lvl2pPr indent="0" lvl="1"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2pPr>
            <a:lvl3pPr indent="0" lvl="2"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3pPr>
            <a:lvl4pPr indent="0" lvl="3"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4pPr>
            <a:lvl5pPr indent="0" lvl="4"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5pPr>
            <a:lvl6pPr indent="0" lvl="5"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6pPr>
            <a:lvl7pPr indent="0" lvl="6"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7pPr>
            <a:lvl8pPr indent="0" lvl="7"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8pPr>
            <a:lvl9pPr indent="0" lvl="8" marL="38100" marR="0" algn="r">
              <a:lnSpc>
                <a:spcPct val="100000"/>
              </a:lnSpc>
              <a:spcBef>
                <a:spcPts val="0"/>
              </a:spcBef>
              <a:buNone/>
              <a:defRPr b="1" i="0" sz="1600" u="none" cap="none" strike="noStrike">
                <a:solidFill>
                  <a:schemeClr val="dk1"/>
                </a:solidFill>
                <a:latin typeface="Trebuchet MS"/>
                <a:ea typeface="Trebuchet MS"/>
                <a:cs typeface="Trebuchet MS"/>
                <a:sym typeface="Trebuchet MS"/>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26" name="Shape 26"/>
        <p:cNvGrpSpPr/>
        <p:nvPr/>
      </p:nvGrpSpPr>
      <p:grpSpPr>
        <a:xfrm>
          <a:off x="0" y="0"/>
          <a:ext cx="0" cy="0"/>
          <a:chOff x="0" y="0"/>
          <a:chExt cx="0" cy="0"/>
        </a:xfrm>
      </p:grpSpPr>
      <p:sp>
        <p:nvSpPr>
          <p:cNvPr id="27" name="Google Shape;27;p57"/>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7"/>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57"/>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57"/>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32" name="Shape 32"/>
        <p:cNvGrpSpPr/>
        <p:nvPr/>
      </p:nvGrpSpPr>
      <p:grpSpPr>
        <a:xfrm>
          <a:off x="0" y="0"/>
          <a:ext cx="0" cy="0"/>
          <a:chOff x="0" y="0"/>
          <a:chExt cx="0" cy="0"/>
        </a:xfrm>
      </p:grpSpPr>
      <p:sp>
        <p:nvSpPr>
          <p:cNvPr id="33" name="Google Shape;33;p58"/>
          <p:cNvSpPr txBox="1"/>
          <p:nvPr>
            <p:ph type="title"/>
          </p:nvPr>
        </p:nvSpPr>
        <p:spPr>
          <a:xfrm>
            <a:off x="623888" y="1709740"/>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8"/>
          <p:cNvSpPr txBox="1"/>
          <p:nvPr>
            <p:ph idx="1" type="body"/>
          </p:nvPr>
        </p:nvSpPr>
        <p:spPr>
          <a:xfrm>
            <a:off x="623888" y="4589465"/>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58"/>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8"/>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8" name="Shape 38"/>
        <p:cNvGrpSpPr/>
        <p:nvPr/>
      </p:nvGrpSpPr>
      <p:grpSpPr>
        <a:xfrm>
          <a:off x="0" y="0"/>
          <a:ext cx="0" cy="0"/>
          <a:chOff x="0" y="0"/>
          <a:chExt cx="0" cy="0"/>
        </a:xfrm>
      </p:grpSpPr>
      <p:sp>
        <p:nvSpPr>
          <p:cNvPr id="39" name="Google Shape;39;p59"/>
          <p:cNvSpPr txBox="1"/>
          <p:nvPr>
            <p:ph type="title"/>
          </p:nvPr>
        </p:nvSpPr>
        <p:spPr>
          <a:xfrm>
            <a:off x="628650" y="36512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9"/>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9"/>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5" name="Shape 45"/>
        <p:cNvGrpSpPr/>
        <p:nvPr/>
      </p:nvGrpSpPr>
      <p:grpSpPr>
        <a:xfrm>
          <a:off x="0" y="0"/>
          <a:ext cx="0" cy="0"/>
          <a:chOff x="0" y="0"/>
          <a:chExt cx="0" cy="0"/>
        </a:xfrm>
      </p:grpSpPr>
      <p:sp>
        <p:nvSpPr>
          <p:cNvPr id="46" name="Google Shape;46;p60"/>
          <p:cNvSpPr txBox="1"/>
          <p:nvPr>
            <p:ph type="title"/>
          </p:nvPr>
        </p:nvSpPr>
        <p:spPr>
          <a:xfrm>
            <a:off x="629841" y="36512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60"/>
          <p:cNvSpPr txBox="1"/>
          <p:nvPr>
            <p:ph idx="2" type="body"/>
          </p:nvPr>
        </p:nvSpPr>
        <p:spPr>
          <a:xfrm>
            <a:off x="629842" y="2505076"/>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60"/>
          <p:cNvSpPr txBox="1"/>
          <p:nvPr>
            <p:ph idx="3" type="body"/>
          </p:nvPr>
        </p:nvSpPr>
        <p:spPr>
          <a:xfrm>
            <a:off x="4629152"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60"/>
          <p:cNvSpPr txBox="1"/>
          <p:nvPr>
            <p:ph idx="4" type="body"/>
          </p:nvPr>
        </p:nvSpPr>
        <p:spPr>
          <a:xfrm>
            <a:off x="4629152" y="2505076"/>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60"/>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0"/>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4" name="Shape 54"/>
        <p:cNvGrpSpPr/>
        <p:nvPr/>
      </p:nvGrpSpPr>
      <p:grpSpPr>
        <a:xfrm>
          <a:off x="0" y="0"/>
          <a:ext cx="0" cy="0"/>
          <a:chOff x="0" y="0"/>
          <a:chExt cx="0" cy="0"/>
        </a:xfrm>
      </p:grpSpPr>
      <p:sp>
        <p:nvSpPr>
          <p:cNvPr id="55" name="Google Shape;55;p61"/>
          <p:cNvSpPr txBox="1"/>
          <p:nvPr>
            <p:ph type="title"/>
          </p:nvPr>
        </p:nvSpPr>
        <p:spPr>
          <a:xfrm>
            <a:off x="628650" y="36512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1"/>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1"/>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9" name="Shape 59"/>
        <p:cNvGrpSpPr/>
        <p:nvPr/>
      </p:nvGrpSpPr>
      <p:grpSpPr>
        <a:xfrm>
          <a:off x="0" y="0"/>
          <a:ext cx="0" cy="0"/>
          <a:chOff x="0" y="0"/>
          <a:chExt cx="0" cy="0"/>
        </a:xfrm>
      </p:grpSpPr>
      <p:sp>
        <p:nvSpPr>
          <p:cNvPr id="60" name="Google Shape;60;p62"/>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2"/>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63" name="Shape 63"/>
        <p:cNvGrpSpPr/>
        <p:nvPr/>
      </p:nvGrpSpPr>
      <p:grpSpPr>
        <a:xfrm>
          <a:off x="0" y="0"/>
          <a:ext cx="0" cy="0"/>
          <a:chOff x="0" y="0"/>
          <a:chExt cx="0" cy="0"/>
        </a:xfrm>
      </p:grpSpPr>
      <p:sp>
        <p:nvSpPr>
          <p:cNvPr id="64" name="Google Shape;64;p6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3"/>
          <p:cNvSpPr txBox="1"/>
          <p:nvPr>
            <p:ph idx="1" type="body"/>
          </p:nvPr>
        </p:nvSpPr>
        <p:spPr>
          <a:xfrm>
            <a:off x="3887391" y="987427"/>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6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63"/>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3"/>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70" name="Shape 70"/>
        <p:cNvGrpSpPr/>
        <p:nvPr/>
      </p:nvGrpSpPr>
      <p:grpSpPr>
        <a:xfrm>
          <a:off x="0" y="0"/>
          <a:ext cx="0" cy="0"/>
          <a:chOff x="0" y="0"/>
          <a:chExt cx="0" cy="0"/>
        </a:xfrm>
      </p:grpSpPr>
      <p:sp>
        <p:nvSpPr>
          <p:cNvPr id="71" name="Google Shape;71;p6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64"/>
          <p:cNvSpPr/>
          <p:nvPr>
            <p:ph idx="2" type="pic"/>
          </p:nvPr>
        </p:nvSpPr>
        <p:spPr>
          <a:xfrm>
            <a:off x="3887391" y="987427"/>
            <a:ext cx="4629150" cy="4873625"/>
          </a:xfrm>
          <a:prstGeom prst="rect">
            <a:avLst/>
          </a:prstGeom>
          <a:noFill/>
          <a:ln>
            <a:noFill/>
          </a:ln>
        </p:spPr>
      </p:sp>
      <p:sp>
        <p:nvSpPr>
          <p:cNvPr id="73" name="Google Shape;73;p6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6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7" name="Shape 77"/>
        <p:cNvGrpSpPr/>
        <p:nvPr/>
      </p:nvGrpSpPr>
      <p:grpSpPr>
        <a:xfrm>
          <a:off x="0" y="0"/>
          <a:ext cx="0" cy="0"/>
          <a:chOff x="0" y="0"/>
          <a:chExt cx="0" cy="0"/>
        </a:xfrm>
      </p:grpSpPr>
      <p:sp>
        <p:nvSpPr>
          <p:cNvPr id="78" name="Google Shape;78;p65"/>
          <p:cNvSpPr txBox="1"/>
          <p:nvPr>
            <p:ph type="title"/>
          </p:nvPr>
        </p:nvSpPr>
        <p:spPr>
          <a:xfrm>
            <a:off x="628650" y="365127"/>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6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65"/>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5"/>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83" name="Shape 83"/>
        <p:cNvGrpSpPr/>
        <p:nvPr/>
      </p:nvGrpSpPr>
      <p:grpSpPr>
        <a:xfrm>
          <a:off x="0" y="0"/>
          <a:ext cx="0" cy="0"/>
          <a:chOff x="0" y="0"/>
          <a:chExt cx="0" cy="0"/>
        </a:xfrm>
      </p:grpSpPr>
      <p:sp>
        <p:nvSpPr>
          <p:cNvPr id="84" name="Google Shape;84;p66"/>
          <p:cNvSpPr txBox="1"/>
          <p:nvPr>
            <p:ph type="title"/>
          </p:nvPr>
        </p:nvSpPr>
        <p:spPr>
          <a:xfrm rot="5400000">
            <a:off x="4623595"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66"/>
          <p:cNvSpPr txBox="1"/>
          <p:nvPr>
            <p:ph idx="1" type="body"/>
          </p:nvPr>
        </p:nvSpPr>
        <p:spPr>
          <a:xfrm rot="5400000">
            <a:off x="623096"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66"/>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6"/>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algn="r">
              <a:lnSpc>
                <a:spcPct val="100000"/>
              </a:lnSpc>
              <a:spcBef>
                <a:spcPts val="0"/>
              </a:spcBef>
              <a:buNone/>
              <a:defRPr/>
            </a:lvl1pPr>
            <a:lvl2pPr indent="0" lvl="1" marL="38100" algn="r">
              <a:lnSpc>
                <a:spcPct val="100000"/>
              </a:lnSpc>
              <a:spcBef>
                <a:spcPts val="0"/>
              </a:spcBef>
              <a:buNone/>
              <a:defRPr/>
            </a:lvl2pPr>
            <a:lvl3pPr indent="0" lvl="2" marL="38100" algn="r">
              <a:lnSpc>
                <a:spcPct val="100000"/>
              </a:lnSpc>
              <a:spcBef>
                <a:spcPts val="0"/>
              </a:spcBef>
              <a:buNone/>
              <a:defRPr/>
            </a:lvl3pPr>
            <a:lvl4pPr indent="0" lvl="3" marL="38100" algn="r">
              <a:lnSpc>
                <a:spcPct val="100000"/>
              </a:lnSpc>
              <a:spcBef>
                <a:spcPts val="0"/>
              </a:spcBef>
              <a:buNone/>
              <a:defRPr/>
            </a:lvl4pPr>
            <a:lvl5pPr indent="0" lvl="4" marL="38100" algn="r">
              <a:lnSpc>
                <a:spcPct val="100000"/>
              </a:lnSpc>
              <a:spcBef>
                <a:spcPts val="0"/>
              </a:spcBef>
              <a:buNone/>
              <a:defRPr/>
            </a:lvl5pPr>
            <a:lvl6pPr indent="0" lvl="5" marL="38100" algn="r">
              <a:lnSpc>
                <a:spcPct val="100000"/>
              </a:lnSpc>
              <a:spcBef>
                <a:spcPts val="0"/>
              </a:spcBef>
              <a:buNone/>
              <a:defRPr/>
            </a:lvl6pPr>
            <a:lvl7pPr indent="0" lvl="6" marL="38100" algn="r">
              <a:lnSpc>
                <a:spcPct val="100000"/>
              </a:lnSpc>
              <a:spcBef>
                <a:spcPts val="0"/>
              </a:spcBef>
              <a:buNone/>
              <a:defRPr/>
            </a:lvl7pPr>
            <a:lvl8pPr indent="0" lvl="7" marL="38100" algn="r">
              <a:lnSpc>
                <a:spcPct val="100000"/>
              </a:lnSpc>
              <a:spcBef>
                <a:spcPts val="0"/>
              </a:spcBef>
              <a:buNone/>
              <a:defRPr/>
            </a:lvl8pPr>
            <a:lvl9pPr indent="0" lvl="8" marL="38100" algn="r">
              <a:lnSpc>
                <a:spcPct val="100000"/>
              </a:lnSpc>
              <a:spcBef>
                <a:spcPts val="0"/>
              </a:spcBef>
              <a:buNone/>
              <a:defRPr/>
            </a:lvl9pPr>
          </a:lstStyle>
          <a:p>
            <a:pPr indent="0" lvl="0" marL="3810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Number title">
  <p:cSld name="3_Number title">
    <p:spTree>
      <p:nvGrpSpPr>
        <p:cNvPr id="89" name="Shape 89"/>
        <p:cNvGrpSpPr/>
        <p:nvPr/>
      </p:nvGrpSpPr>
      <p:grpSpPr>
        <a:xfrm>
          <a:off x="0" y="0"/>
          <a:ext cx="0" cy="0"/>
          <a:chOff x="0" y="0"/>
          <a:chExt cx="0" cy="0"/>
        </a:xfrm>
      </p:grpSpPr>
      <p:sp>
        <p:nvSpPr>
          <p:cNvPr id="90" name="Google Shape;90;p67"/>
          <p:cNvSpPr txBox="1"/>
          <p:nvPr>
            <p:ph idx="1" type="body"/>
          </p:nvPr>
        </p:nvSpPr>
        <p:spPr>
          <a:xfrm>
            <a:off x="2550807" y="726830"/>
            <a:ext cx="4059970" cy="609596"/>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accent1"/>
              </a:buClr>
              <a:buSzPts val="4667"/>
              <a:buNone/>
              <a:defRPr b="1" i="0" sz="4667">
                <a:solidFill>
                  <a:schemeClr val="accent1"/>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67"/>
          <p:cNvSpPr txBox="1"/>
          <p:nvPr>
            <p:ph idx="2" type="body"/>
          </p:nvPr>
        </p:nvSpPr>
        <p:spPr>
          <a:xfrm>
            <a:off x="2550808" y="1418485"/>
            <a:ext cx="4059969" cy="339972"/>
          </a:xfrm>
          <a:prstGeom prst="rect">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rgbClr val="262626"/>
              </a:buClr>
              <a:buSzPts val="1600"/>
              <a:buNone/>
              <a:defRPr b="1" i="0" sz="1600">
                <a:solidFill>
                  <a:srgbClr val="262626"/>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2" name="Google Shape;92;p67"/>
          <p:cNvCxnSpPr/>
          <p:nvPr/>
        </p:nvCxnSpPr>
        <p:spPr>
          <a:xfrm rot="10800000">
            <a:off x="4580790" y="2133602"/>
            <a:ext cx="0" cy="3704660"/>
          </a:xfrm>
          <a:prstGeom prst="straightConnector1">
            <a:avLst/>
          </a:prstGeom>
          <a:noFill/>
          <a:ln cap="flat" cmpd="sng" w="9525">
            <a:solidFill>
              <a:srgbClr val="2F5496"/>
            </a:solidFill>
            <a:prstDash val="solid"/>
            <a:miter lim="800000"/>
            <a:headEnd len="med" w="med" type="oval"/>
            <a:tailEnd len="sm" w="sm" type="none"/>
          </a:ln>
        </p:spPr>
      </p:cxnSp>
      <p:sp>
        <p:nvSpPr>
          <p:cNvPr id="93" name="Google Shape;93;p67"/>
          <p:cNvSpPr txBox="1"/>
          <p:nvPr>
            <p:ph idx="3" type="body"/>
          </p:nvPr>
        </p:nvSpPr>
        <p:spPr>
          <a:xfrm>
            <a:off x="2550807" y="2133601"/>
            <a:ext cx="1915686" cy="339972"/>
          </a:xfrm>
          <a:prstGeom prst="rect">
            <a:avLst/>
          </a:prstGeom>
          <a:noFill/>
          <a:ln>
            <a:noFill/>
          </a:ln>
        </p:spPr>
        <p:txBody>
          <a:bodyPr anchorCtr="0" anchor="ctr" bIns="0" lIns="0" spcFirstLastPara="1" rIns="0" wrap="square" tIns="0">
            <a:normAutofit/>
          </a:bodyPr>
          <a:lstStyle>
            <a:lvl1pPr indent="-228600" lvl="0" marL="457200" algn="r">
              <a:lnSpc>
                <a:spcPct val="90000"/>
              </a:lnSpc>
              <a:spcBef>
                <a:spcPts val="1000"/>
              </a:spcBef>
              <a:spcAft>
                <a:spcPts val="0"/>
              </a:spcAft>
              <a:buClr>
                <a:schemeClr val="accent2"/>
              </a:buClr>
              <a:buSzPts val="4000"/>
              <a:buNone/>
              <a:defRPr b="1" i="0" sz="4000">
                <a:solidFill>
                  <a:schemeClr val="accent2"/>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67"/>
          <p:cNvSpPr txBox="1"/>
          <p:nvPr>
            <p:ph idx="4" type="body"/>
          </p:nvPr>
        </p:nvSpPr>
        <p:spPr>
          <a:xfrm>
            <a:off x="4695089" y="2133601"/>
            <a:ext cx="1915686" cy="339972"/>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1000"/>
              </a:spcBef>
              <a:spcAft>
                <a:spcPts val="0"/>
              </a:spcAft>
              <a:buClr>
                <a:schemeClr val="accent2"/>
              </a:buClr>
              <a:buSzPts val="1600"/>
              <a:buNone/>
              <a:defRPr b="1" i="0" sz="1600">
                <a:solidFill>
                  <a:schemeClr val="accent2"/>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67"/>
          <p:cNvSpPr txBox="1"/>
          <p:nvPr>
            <p:ph idx="5" type="body"/>
          </p:nvPr>
        </p:nvSpPr>
        <p:spPr>
          <a:xfrm>
            <a:off x="2550807" y="3153506"/>
            <a:ext cx="1915686" cy="339972"/>
          </a:xfrm>
          <a:prstGeom prst="rect">
            <a:avLst/>
          </a:prstGeom>
          <a:noFill/>
          <a:ln>
            <a:noFill/>
          </a:ln>
        </p:spPr>
        <p:txBody>
          <a:bodyPr anchorCtr="0" anchor="ctr" bIns="0" lIns="0" spcFirstLastPara="1" rIns="0" wrap="square" tIns="0">
            <a:normAutofit/>
          </a:bodyPr>
          <a:lstStyle>
            <a:lvl1pPr indent="-228600" lvl="0" marL="457200" algn="r">
              <a:lnSpc>
                <a:spcPct val="90000"/>
              </a:lnSpc>
              <a:spcBef>
                <a:spcPts val="1000"/>
              </a:spcBef>
              <a:spcAft>
                <a:spcPts val="0"/>
              </a:spcAft>
              <a:buClr>
                <a:schemeClr val="accent3"/>
              </a:buClr>
              <a:buSzPts val="4000"/>
              <a:buNone/>
              <a:defRPr b="1" i="0" sz="4000">
                <a:solidFill>
                  <a:schemeClr val="accent3"/>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67"/>
          <p:cNvSpPr txBox="1"/>
          <p:nvPr>
            <p:ph idx="6" type="body"/>
          </p:nvPr>
        </p:nvSpPr>
        <p:spPr>
          <a:xfrm>
            <a:off x="4695089" y="3153506"/>
            <a:ext cx="1915686" cy="339972"/>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1000"/>
              </a:spcBef>
              <a:spcAft>
                <a:spcPts val="0"/>
              </a:spcAft>
              <a:buClr>
                <a:schemeClr val="accent3"/>
              </a:buClr>
              <a:buSzPts val="1600"/>
              <a:buNone/>
              <a:defRPr b="1" i="0" sz="1600">
                <a:solidFill>
                  <a:schemeClr val="accent3"/>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67"/>
          <p:cNvSpPr txBox="1"/>
          <p:nvPr>
            <p:ph idx="7" type="body"/>
          </p:nvPr>
        </p:nvSpPr>
        <p:spPr>
          <a:xfrm>
            <a:off x="4695089" y="2637694"/>
            <a:ext cx="1915686" cy="339972"/>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1000"/>
              </a:spcBef>
              <a:spcAft>
                <a:spcPts val="0"/>
              </a:spcAft>
              <a:buClr>
                <a:srgbClr val="A5A5A5"/>
              </a:buClr>
              <a:buSzPts val="4000"/>
              <a:buNone/>
              <a:defRPr b="1" i="0" sz="4000">
                <a:solidFill>
                  <a:srgbClr val="A5A5A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67"/>
          <p:cNvSpPr txBox="1"/>
          <p:nvPr>
            <p:ph idx="8" type="body"/>
          </p:nvPr>
        </p:nvSpPr>
        <p:spPr>
          <a:xfrm>
            <a:off x="2542014" y="2637694"/>
            <a:ext cx="1915686" cy="339972"/>
          </a:xfrm>
          <a:prstGeom prst="rect">
            <a:avLst/>
          </a:prstGeom>
          <a:noFill/>
          <a:ln>
            <a:noFill/>
          </a:ln>
        </p:spPr>
        <p:txBody>
          <a:bodyPr anchorCtr="0" anchor="ctr" bIns="0" lIns="0" spcFirstLastPara="1" rIns="0" wrap="square" tIns="0">
            <a:normAutofit/>
          </a:bodyPr>
          <a:lstStyle>
            <a:lvl1pPr indent="-228600" lvl="0" marL="457200" algn="r">
              <a:lnSpc>
                <a:spcPct val="90000"/>
              </a:lnSpc>
              <a:spcBef>
                <a:spcPts val="1000"/>
              </a:spcBef>
              <a:spcAft>
                <a:spcPts val="0"/>
              </a:spcAft>
              <a:buClr>
                <a:srgbClr val="A5A5A5"/>
              </a:buClr>
              <a:buSzPts val="1600"/>
              <a:buNone/>
              <a:defRPr b="1" i="0" sz="1600">
                <a:solidFill>
                  <a:srgbClr val="A5A5A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67"/>
          <p:cNvSpPr txBox="1"/>
          <p:nvPr>
            <p:ph idx="9" type="body"/>
          </p:nvPr>
        </p:nvSpPr>
        <p:spPr>
          <a:xfrm>
            <a:off x="4695089" y="3669325"/>
            <a:ext cx="1915686" cy="339972"/>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1000"/>
              </a:spcBef>
              <a:spcAft>
                <a:spcPts val="0"/>
              </a:spcAft>
              <a:buClr>
                <a:srgbClr val="A5A5A5"/>
              </a:buClr>
              <a:buSzPts val="4000"/>
              <a:buNone/>
              <a:defRPr b="1" i="0" sz="4000">
                <a:solidFill>
                  <a:srgbClr val="A5A5A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67"/>
          <p:cNvSpPr txBox="1"/>
          <p:nvPr>
            <p:ph idx="13" type="body"/>
          </p:nvPr>
        </p:nvSpPr>
        <p:spPr>
          <a:xfrm>
            <a:off x="2542014" y="3669325"/>
            <a:ext cx="1915686" cy="339972"/>
          </a:xfrm>
          <a:prstGeom prst="rect">
            <a:avLst/>
          </a:prstGeom>
          <a:noFill/>
          <a:ln>
            <a:noFill/>
          </a:ln>
        </p:spPr>
        <p:txBody>
          <a:bodyPr anchorCtr="0" anchor="ctr" bIns="0" lIns="0" spcFirstLastPara="1" rIns="0" wrap="square" tIns="0">
            <a:normAutofit/>
          </a:bodyPr>
          <a:lstStyle>
            <a:lvl1pPr indent="-228600" lvl="0" marL="457200" algn="r">
              <a:lnSpc>
                <a:spcPct val="90000"/>
              </a:lnSpc>
              <a:spcBef>
                <a:spcPts val="1000"/>
              </a:spcBef>
              <a:spcAft>
                <a:spcPts val="0"/>
              </a:spcAft>
              <a:buClr>
                <a:srgbClr val="A5A5A5"/>
              </a:buClr>
              <a:buSzPts val="1600"/>
              <a:buNone/>
              <a:defRPr b="1" i="0" sz="1600">
                <a:solidFill>
                  <a:srgbClr val="A5A5A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67"/>
          <p:cNvSpPr txBox="1"/>
          <p:nvPr>
            <p:ph idx="14" type="body"/>
          </p:nvPr>
        </p:nvSpPr>
        <p:spPr>
          <a:xfrm>
            <a:off x="2550807" y="4196863"/>
            <a:ext cx="1915686" cy="339972"/>
          </a:xfrm>
          <a:prstGeom prst="rect">
            <a:avLst/>
          </a:prstGeom>
          <a:noFill/>
          <a:ln>
            <a:noFill/>
          </a:ln>
        </p:spPr>
        <p:txBody>
          <a:bodyPr anchorCtr="0" anchor="ctr" bIns="0" lIns="0" spcFirstLastPara="1" rIns="0" wrap="square" tIns="0">
            <a:normAutofit/>
          </a:bodyPr>
          <a:lstStyle>
            <a:lvl1pPr indent="-228600" lvl="0" marL="457200" algn="r">
              <a:lnSpc>
                <a:spcPct val="90000"/>
              </a:lnSpc>
              <a:spcBef>
                <a:spcPts val="1000"/>
              </a:spcBef>
              <a:spcAft>
                <a:spcPts val="0"/>
              </a:spcAft>
              <a:buClr>
                <a:schemeClr val="accent5"/>
              </a:buClr>
              <a:buSzPts val="4000"/>
              <a:buNone/>
              <a:defRPr b="1" i="0" sz="4000">
                <a:solidFill>
                  <a:schemeClr val="accent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67"/>
          <p:cNvSpPr txBox="1"/>
          <p:nvPr>
            <p:ph idx="15" type="body"/>
          </p:nvPr>
        </p:nvSpPr>
        <p:spPr>
          <a:xfrm>
            <a:off x="4695089" y="4196863"/>
            <a:ext cx="1915686" cy="339972"/>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1000"/>
              </a:spcBef>
              <a:spcAft>
                <a:spcPts val="0"/>
              </a:spcAft>
              <a:buClr>
                <a:schemeClr val="accent5"/>
              </a:buClr>
              <a:buSzPts val="1600"/>
              <a:buNone/>
              <a:defRPr b="1" i="0" sz="1600">
                <a:solidFill>
                  <a:schemeClr val="accent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67"/>
          <p:cNvSpPr txBox="1"/>
          <p:nvPr>
            <p:ph idx="16" type="body"/>
          </p:nvPr>
        </p:nvSpPr>
        <p:spPr>
          <a:xfrm>
            <a:off x="4695089" y="4724404"/>
            <a:ext cx="1915686" cy="339972"/>
          </a:xfrm>
          <a:prstGeom prst="rect">
            <a:avLst/>
          </a:prstGeom>
          <a:noFill/>
          <a:ln>
            <a:noFill/>
          </a:ln>
        </p:spPr>
        <p:txBody>
          <a:bodyPr anchorCtr="0" anchor="ctr" bIns="0" lIns="0" spcFirstLastPara="1" rIns="0" wrap="square" tIns="0">
            <a:normAutofit/>
          </a:bodyPr>
          <a:lstStyle>
            <a:lvl1pPr indent="-228600" lvl="0" marL="457200" algn="l">
              <a:lnSpc>
                <a:spcPct val="90000"/>
              </a:lnSpc>
              <a:spcBef>
                <a:spcPts val="1000"/>
              </a:spcBef>
              <a:spcAft>
                <a:spcPts val="0"/>
              </a:spcAft>
              <a:buClr>
                <a:srgbClr val="A5A5A5"/>
              </a:buClr>
              <a:buSzPts val="4000"/>
              <a:buNone/>
              <a:defRPr b="1" i="0" sz="4000">
                <a:solidFill>
                  <a:srgbClr val="A5A5A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67"/>
          <p:cNvSpPr txBox="1"/>
          <p:nvPr>
            <p:ph idx="17" type="body"/>
          </p:nvPr>
        </p:nvSpPr>
        <p:spPr>
          <a:xfrm>
            <a:off x="2542014" y="4724404"/>
            <a:ext cx="1915686" cy="339972"/>
          </a:xfrm>
          <a:prstGeom prst="rect">
            <a:avLst/>
          </a:prstGeom>
          <a:noFill/>
          <a:ln>
            <a:noFill/>
          </a:ln>
        </p:spPr>
        <p:txBody>
          <a:bodyPr anchorCtr="0" anchor="ctr" bIns="0" lIns="0" spcFirstLastPara="1" rIns="0" wrap="square" tIns="0">
            <a:normAutofit/>
          </a:bodyPr>
          <a:lstStyle>
            <a:lvl1pPr indent="-228600" lvl="0" marL="457200" algn="r">
              <a:lnSpc>
                <a:spcPct val="90000"/>
              </a:lnSpc>
              <a:spcBef>
                <a:spcPts val="1000"/>
              </a:spcBef>
              <a:spcAft>
                <a:spcPts val="0"/>
              </a:spcAft>
              <a:buClr>
                <a:srgbClr val="A5A5A5"/>
              </a:buClr>
              <a:buSzPts val="1600"/>
              <a:buNone/>
              <a:defRPr b="1" i="0" sz="1600">
                <a:solidFill>
                  <a:srgbClr val="A5A5A5"/>
                </a:solidFill>
                <a:latin typeface="Raleway Black"/>
                <a:ea typeface="Raleway Black"/>
                <a:cs typeface="Raleway Black"/>
                <a:sym typeface="Raleway Black"/>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pos="2880">
          <p15:clr>
            <a:srgbClr val="FBAE40"/>
          </p15:clr>
        </p15:guide>
        <p15:guide id="2" pos="317">
          <p15:clr>
            <a:srgbClr val="FBAE40"/>
          </p15:clr>
        </p15:guide>
        <p15:guide id="3" pos="5534">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4"/>
          <p:cNvSpPr txBox="1"/>
          <p:nvPr>
            <p:ph type="title"/>
          </p:nvPr>
        </p:nvSpPr>
        <p:spPr>
          <a:xfrm>
            <a:off x="628650" y="365127"/>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4"/>
          <p:cNvSpPr txBox="1"/>
          <p:nvPr>
            <p:ph idx="10" type="dt"/>
          </p:nvPr>
        </p:nvSpPr>
        <p:spPr>
          <a:xfrm>
            <a:off x="628650" y="6356353"/>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4"/>
          <p:cNvSpPr txBox="1"/>
          <p:nvPr>
            <p:ph idx="11" type="ftr"/>
          </p:nvPr>
        </p:nvSpPr>
        <p:spPr>
          <a:xfrm>
            <a:off x="3028950" y="6356353"/>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lvl1pPr indent="0" lvl="0"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1pPr>
            <a:lvl2pPr indent="0" lvl="1"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2pPr>
            <a:lvl3pPr indent="0" lvl="2"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3pPr>
            <a:lvl4pPr indent="0" lvl="3"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4pPr>
            <a:lvl5pPr indent="0" lvl="4"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5pPr>
            <a:lvl6pPr indent="0" lvl="5"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6pPr>
            <a:lvl7pPr indent="0" lvl="6"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7pPr>
            <a:lvl8pPr indent="0" lvl="7"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8pPr>
            <a:lvl9pPr indent="0" lvl="8" marL="38100" marR="0" rtl="0" algn="r">
              <a:lnSpc>
                <a:spcPct val="100000"/>
              </a:lnSpc>
              <a:spcBef>
                <a:spcPts val="0"/>
              </a:spcBef>
              <a:buNone/>
              <a:defRPr b="0" i="0" sz="1200" u="none" cap="none" strike="noStrike">
                <a:solidFill>
                  <a:srgbClr val="888888"/>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3.png"/><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0.png"/><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9.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17.jpg"/><Relationship Id="rId5" Type="http://schemas.openxmlformats.org/officeDocument/2006/relationships/image" Target="../media/image24.png"/><Relationship Id="rId6" Type="http://schemas.openxmlformats.org/officeDocument/2006/relationships/image" Target="../media/image6.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5.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5.jpg"/><Relationship Id="rId4"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5.jpg"/><Relationship Id="rId4" Type="http://schemas.openxmlformats.org/officeDocument/2006/relationships/image" Target="../media/image27.jpg"/><Relationship Id="rId5"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41.png"/><Relationship Id="rId4"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4.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7.png"/><Relationship Id="rId4"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2.png"/><Relationship Id="rId4" Type="http://schemas.openxmlformats.org/officeDocument/2006/relationships/image" Target="../media/image3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8" name="Shape 108"/>
        <p:cNvGrpSpPr/>
        <p:nvPr/>
      </p:nvGrpSpPr>
      <p:grpSpPr>
        <a:xfrm>
          <a:off x="0" y="0"/>
          <a:ext cx="0" cy="0"/>
          <a:chOff x="0" y="0"/>
          <a:chExt cx="0" cy="0"/>
        </a:xfrm>
      </p:grpSpPr>
      <p:sp>
        <p:nvSpPr>
          <p:cNvPr id="109" name="Google Shape;109;p1"/>
          <p:cNvSpPr txBox="1"/>
          <p:nvPr>
            <p:ph type="title"/>
          </p:nvPr>
        </p:nvSpPr>
        <p:spPr>
          <a:xfrm>
            <a:off x="533400" y="2389486"/>
            <a:ext cx="8763000" cy="689291"/>
          </a:xfrm>
          <a:prstGeom prst="rect">
            <a:avLst/>
          </a:prstGeom>
          <a:noFill/>
          <a:ln>
            <a:noFill/>
          </a:ln>
        </p:spPr>
        <p:txBody>
          <a:bodyPr anchorCtr="0" anchor="ctr" bIns="0" lIns="0" spcFirstLastPara="1" rIns="0" wrap="square" tIns="12050">
            <a:spAutoFit/>
          </a:bodyPr>
          <a:lstStyle/>
          <a:p>
            <a:pPr indent="-2451100" lvl="0" marL="2463165" marR="5080" rtl="0" algn="l">
              <a:lnSpc>
                <a:spcPct val="100000"/>
              </a:lnSpc>
              <a:spcBef>
                <a:spcPts val="0"/>
              </a:spcBef>
              <a:spcAft>
                <a:spcPts val="0"/>
              </a:spcAft>
              <a:buClr>
                <a:srgbClr val="C00000"/>
              </a:buClr>
              <a:buSzPts val="4400"/>
              <a:buFont typeface="Times New Roman"/>
              <a:buNone/>
            </a:pPr>
            <a:r>
              <a:rPr b="1" lang="en-US">
                <a:solidFill>
                  <a:srgbClr val="C00000"/>
                </a:solidFill>
                <a:latin typeface="Times New Roman"/>
                <a:ea typeface="Times New Roman"/>
                <a:cs typeface="Times New Roman"/>
                <a:sym typeface="Times New Roman"/>
              </a:rPr>
              <a:t>Chapitre 3 : La cryptographie</a:t>
            </a:r>
            <a:endParaRPr b="1">
              <a:solidFill>
                <a:srgbClr val="C00000"/>
              </a:solidFill>
              <a:latin typeface="Times New Roman"/>
              <a:ea typeface="Times New Roman"/>
              <a:cs typeface="Times New Roman"/>
              <a:sym typeface="Times New Roman"/>
            </a:endParaRPr>
          </a:p>
        </p:txBody>
      </p:sp>
      <p:sp>
        <p:nvSpPr>
          <p:cNvPr id="110" name="Google Shape;110;p1"/>
          <p:cNvSpPr txBox="1"/>
          <p:nvPr/>
        </p:nvSpPr>
        <p:spPr>
          <a:xfrm>
            <a:off x="3429000" y="4005112"/>
            <a:ext cx="1830705" cy="777842"/>
          </a:xfrm>
          <a:prstGeom prst="rect">
            <a:avLst/>
          </a:prstGeom>
          <a:noFill/>
          <a:ln>
            <a:noFill/>
          </a:ln>
        </p:spPr>
        <p:txBody>
          <a:bodyPr anchorCtr="0" anchor="t" bIns="0" lIns="0" spcFirstLastPara="1" rIns="0" wrap="square" tIns="12050">
            <a:spAutoFit/>
          </a:bodyPr>
          <a:lstStyle/>
          <a:p>
            <a:pPr indent="310515" lvl="0" marL="38100" marR="30480" rtl="0" algn="l">
              <a:lnSpc>
                <a:spcPct val="131300"/>
              </a:lnSpc>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4</a:t>
            </a:r>
            <a:r>
              <a:rPr b="0" baseline="30000" i="0" lang="en-US" sz="1950" u="none" cap="none" strike="noStrike">
                <a:solidFill>
                  <a:schemeClr val="dk1"/>
                </a:solidFill>
                <a:latin typeface="Times New Roman"/>
                <a:ea typeface="Times New Roman"/>
                <a:cs typeface="Times New Roman"/>
                <a:sym typeface="Times New Roman"/>
              </a:rPr>
              <a:t>ème </a:t>
            </a:r>
            <a:r>
              <a:rPr b="0" i="0" lang="en-US" sz="2000" u="none" cap="none" strike="noStrike">
                <a:solidFill>
                  <a:schemeClr val="dk1"/>
                </a:solidFill>
                <a:latin typeface="Times New Roman"/>
                <a:ea typeface="Times New Roman"/>
                <a:cs typeface="Times New Roman"/>
                <a:sym typeface="Times New Roman"/>
              </a:rPr>
              <a:t>Année  Esprit 2022/2023</a:t>
            </a:r>
            <a:endParaRPr/>
          </a:p>
        </p:txBody>
      </p:sp>
      <p:sp>
        <p:nvSpPr>
          <p:cNvPr id="111" name="Google Shape;111;p1"/>
          <p:cNvSpPr txBox="1"/>
          <p:nvPr/>
        </p:nvSpPr>
        <p:spPr>
          <a:xfrm>
            <a:off x="2590800" y="685800"/>
            <a:ext cx="4267200" cy="496033"/>
          </a:xfrm>
          <a:prstGeom prst="rect">
            <a:avLst/>
          </a:prstGeom>
          <a:noFill/>
          <a:ln>
            <a:noFill/>
          </a:ln>
        </p:spPr>
        <p:txBody>
          <a:bodyPr anchorCtr="0" anchor="t" bIns="0" lIns="0" spcFirstLastPara="1" rIns="0" wrap="square" tIns="12050">
            <a:spAutoFit/>
          </a:bodyPr>
          <a:lstStyle/>
          <a:p>
            <a:pPr indent="310515" lvl="0" marL="38100" marR="30480" rtl="0" algn="l">
              <a:lnSpc>
                <a:spcPct val="131300"/>
              </a:lnSpc>
              <a:spcBef>
                <a:spcPts val="0"/>
              </a:spcBef>
              <a:spcAft>
                <a:spcPts val="0"/>
              </a:spcAft>
              <a:buNone/>
            </a:pPr>
            <a:r>
              <a:rPr b="1" i="0" lang="en-US" sz="2400" u="none" cap="none" strike="noStrike">
                <a:solidFill>
                  <a:srgbClr val="E20000"/>
                </a:solidFill>
                <a:latin typeface="Calibri"/>
                <a:ea typeface="Calibri"/>
                <a:cs typeface="Calibri"/>
                <a:sym typeface="Calibri"/>
              </a:rPr>
              <a:t>Sécurité Informatique </a:t>
            </a:r>
            <a:endParaRPr b="1" i="0" sz="2400" u="none" cap="none" strike="noStrike">
              <a:solidFill>
                <a:srgbClr val="E2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2"/>
          <p:cNvSpPr txBox="1"/>
          <p:nvPr>
            <p:ph type="title"/>
          </p:nvPr>
        </p:nvSpPr>
        <p:spPr>
          <a:xfrm>
            <a:off x="990600" y="564177"/>
            <a:ext cx="555485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Plan du chapitre</a:t>
            </a:r>
            <a:endParaRPr/>
          </a:p>
        </p:txBody>
      </p:sp>
      <p:sp>
        <p:nvSpPr>
          <p:cNvPr id="117" name="Google Shape;117;p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18" name="Google Shape;118;p2"/>
          <p:cNvSpPr txBox="1"/>
          <p:nvPr/>
        </p:nvSpPr>
        <p:spPr>
          <a:xfrm>
            <a:off x="402742" y="1544456"/>
            <a:ext cx="8512658" cy="4052391"/>
          </a:xfrm>
          <a:prstGeom prst="rect">
            <a:avLst/>
          </a:prstGeom>
          <a:noFill/>
          <a:ln>
            <a:noFill/>
          </a:ln>
        </p:spPr>
        <p:txBody>
          <a:bodyPr anchorCtr="0" anchor="t" bIns="0" lIns="0" spcFirstLastPara="1" rIns="0" wrap="square" tIns="81275">
            <a:spAutoFit/>
          </a:bodyPr>
          <a:lstStyle/>
          <a:p>
            <a:pPr indent="-457200" lvl="0" marL="469900" marR="0" rtl="0" algn="l">
              <a:lnSpc>
                <a:spcPct val="100000"/>
              </a:lnSpc>
              <a:spcBef>
                <a:spcPts val="0"/>
              </a:spcBef>
              <a:spcAft>
                <a:spcPts val="0"/>
              </a:spcAft>
              <a:buClr>
                <a:srgbClr val="C00000"/>
              </a:buClr>
              <a:buSzPts val="3600"/>
              <a:buFont typeface="Calibri"/>
              <a:buChar char="•"/>
            </a:pPr>
            <a:r>
              <a:rPr b="0" i="0" lang="en-US" sz="2400" u="none" cap="none" strike="noStrike">
                <a:solidFill>
                  <a:schemeClr val="dk1"/>
                </a:solidFill>
                <a:latin typeface="Calibri"/>
                <a:ea typeface="Calibri"/>
                <a:cs typeface="Calibri"/>
                <a:sym typeface="Calibri"/>
              </a:rPr>
              <a:t>Introduction</a:t>
            </a:r>
            <a:endParaRPr b="0" i="0" sz="2400" u="none" cap="none" strike="noStrike">
              <a:solidFill>
                <a:schemeClr val="dk1"/>
              </a:solidFill>
              <a:latin typeface="Calibri"/>
              <a:ea typeface="Calibri"/>
              <a:cs typeface="Calibri"/>
              <a:sym typeface="Calibri"/>
            </a:endParaRPr>
          </a:p>
          <a:p>
            <a:pPr indent="-457200" lvl="0" marL="469900" marR="0" rtl="0" algn="l">
              <a:lnSpc>
                <a:spcPct val="100000"/>
              </a:lnSpc>
              <a:spcBef>
                <a:spcPts val="1800"/>
              </a:spcBef>
              <a:spcAft>
                <a:spcPts val="0"/>
              </a:spcAft>
              <a:buClr>
                <a:srgbClr val="C00000"/>
              </a:buClr>
              <a:buSzPts val="3600"/>
              <a:buFont typeface="Calibri"/>
              <a:buChar char="•"/>
            </a:pPr>
            <a:r>
              <a:rPr b="0" i="0" lang="en-US" sz="2400" u="none" cap="none" strike="noStrike">
                <a:solidFill>
                  <a:schemeClr val="dk1"/>
                </a:solidFill>
                <a:latin typeface="Calibri"/>
                <a:ea typeface="Calibri"/>
                <a:cs typeface="Calibri"/>
                <a:sym typeface="Calibri"/>
              </a:rPr>
              <a:t>Moyens cryptographiques et services offerts</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chiffrement Symétrique, Asymétrique et Hybride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hachage cryptographique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La signature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certificat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Infrastructure de Gestion des Clés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381000" y="564177"/>
            <a:ext cx="4353433" cy="566822"/>
          </a:xfrm>
          <a:prstGeom prst="rect">
            <a:avLst/>
          </a:prstGeom>
          <a:noFill/>
          <a:ln>
            <a:noFill/>
          </a:ln>
        </p:spPr>
        <p:txBody>
          <a:bodyPr anchorCtr="0" anchor="ctr" bIns="0" lIns="0" spcFirstLastPara="1" rIns="0" wrap="square" tIns="12700">
            <a:spAutoFit/>
          </a:bodyPr>
          <a:lstStyle/>
          <a:p>
            <a:pPr indent="0" lvl="0" marL="12700" rtl="0" algn="ctr">
              <a:lnSpc>
                <a:spcPct val="90000"/>
              </a:lnSpc>
              <a:spcBef>
                <a:spcPts val="0"/>
              </a:spcBef>
              <a:spcAft>
                <a:spcPts val="0"/>
              </a:spcAft>
              <a:buClr>
                <a:srgbClr val="000000"/>
              </a:buClr>
              <a:buSzPts val="1800"/>
              <a:buFont typeface="Times New Roman"/>
              <a:buNone/>
            </a:pPr>
            <a:r>
              <a:rPr b="1" lang="en-US" sz="4000">
                <a:solidFill>
                  <a:srgbClr val="C00000"/>
                </a:solidFill>
                <a:latin typeface="Times New Roman"/>
                <a:ea typeface="Times New Roman"/>
                <a:cs typeface="Times New Roman"/>
                <a:sym typeface="Times New Roman"/>
              </a:rPr>
              <a:t>Introduction</a:t>
            </a:r>
            <a:endParaRPr/>
          </a:p>
        </p:txBody>
      </p:sp>
      <p:sp>
        <p:nvSpPr>
          <p:cNvPr id="124" name="Google Shape;124;p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25" name="Google Shape;125;p3"/>
          <p:cNvSpPr txBox="1"/>
          <p:nvPr/>
        </p:nvSpPr>
        <p:spPr>
          <a:xfrm>
            <a:off x="384458" y="1434467"/>
            <a:ext cx="8183245" cy="4278094"/>
          </a:xfrm>
          <a:prstGeom prst="rect">
            <a:avLst/>
          </a:prstGeom>
          <a:noFill/>
          <a:ln>
            <a:noFill/>
          </a:ln>
        </p:spPr>
        <p:txBody>
          <a:bodyPr anchorCtr="0" anchor="t" bIns="0" lIns="0" spcFirstLastPara="1" rIns="0" wrap="square" tIns="12700">
            <a:spAutoFit/>
          </a:bodyPr>
          <a:lstStyle/>
          <a:p>
            <a:pPr indent="-457833" lvl="0" marL="469900" marR="5080" rtl="0" algn="l">
              <a:lnSpc>
                <a:spcPct val="100000"/>
              </a:lnSpc>
              <a:spcBef>
                <a:spcPts val="0"/>
              </a:spcBef>
              <a:spcAft>
                <a:spcPts val="0"/>
              </a:spcAft>
              <a:buClr>
                <a:srgbClr val="C00000"/>
              </a:buClr>
              <a:buSzPts val="4800"/>
              <a:buFont typeface="Calibri"/>
              <a:buChar char="•"/>
            </a:pPr>
            <a:r>
              <a:rPr b="0" i="0" lang="en-US" sz="2400" u="none" cap="none" strike="noStrike">
                <a:solidFill>
                  <a:schemeClr val="dk1"/>
                </a:solidFill>
                <a:latin typeface="Calibri"/>
                <a:ea typeface="Calibri"/>
                <a:cs typeface="Calibri"/>
                <a:sym typeface="Calibri"/>
              </a:rPr>
              <a:t>Toute	information	circulant	sur	Internet	peut	être  capturée et enregistrée et/ou modifiée</a:t>
            </a:r>
            <a:endParaRPr b="0" i="0" sz="2400" u="none" cap="none" strike="noStrike">
              <a:solidFill>
                <a:schemeClr val="dk1"/>
              </a:solidFill>
              <a:latin typeface="Calibri"/>
              <a:ea typeface="Calibri"/>
              <a:cs typeface="Calibri"/>
              <a:sym typeface="Calibri"/>
            </a:endParaRPr>
          </a:p>
          <a:p>
            <a:pPr indent="0" lvl="0" marL="842010" marR="0" rtl="0" algn="l">
              <a:lnSpc>
                <a:spcPct val="100000"/>
              </a:lnSpc>
              <a:spcBef>
                <a:spcPts val="1075"/>
              </a:spcBef>
              <a:spcAft>
                <a:spcPts val="0"/>
              </a:spcAft>
              <a:buNone/>
            </a:pPr>
            <a:r>
              <a:rPr b="0" i="0" lang="en-US" sz="2800" u="none" cap="none" strike="noStrike">
                <a:solidFill>
                  <a:srgbClr val="006FC0"/>
                </a:solidFill>
                <a:latin typeface="Calibri"/>
                <a:ea typeface="Calibri"/>
                <a:cs typeface="Calibri"/>
                <a:sym typeface="Calibri"/>
              </a:rPr>
              <a:t>Problème de confidentialité et d’intégrité</a:t>
            </a:r>
            <a:endParaRPr b="0" i="0" sz="2800" u="none" cap="none" strike="noStrike">
              <a:solidFill>
                <a:schemeClr val="dk1"/>
              </a:solidFill>
              <a:latin typeface="Calibri"/>
              <a:ea typeface="Calibri"/>
              <a:cs typeface="Calibri"/>
              <a:sym typeface="Calibri"/>
            </a:endParaRPr>
          </a:p>
          <a:p>
            <a:pPr indent="-457833" lvl="0" marL="469900" marR="5080" rtl="0" algn="l">
              <a:lnSpc>
                <a:spcPct val="100000"/>
              </a:lnSpc>
              <a:spcBef>
                <a:spcPts val="1325"/>
              </a:spcBef>
              <a:spcAft>
                <a:spcPts val="0"/>
              </a:spcAft>
              <a:buClr>
                <a:srgbClr val="C00000"/>
              </a:buClr>
              <a:buSzPts val="4800"/>
              <a:buFont typeface="Calibri"/>
              <a:buChar char="•"/>
            </a:pPr>
            <a:r>
              <a:rPr b="0" i="0" lang="en-US" sz="2400" u="none" cap="none" strike="noStrike">
                <a:solidFill>
                  <a:schemeClr val="dk1"/>
                </a:solidFill>
                <a:latin typeface="Calibri"/>
                <a:ea typeface="Calibri"/>
                <a:cs typeface="Calibri"/>
                <a:sym typeface="Calibri"/>
              </a:rPr>
              <a:t>Toute personne peut falsifier son adresse IP (spoofing)  ce qui engendre une fausse identification</a:t>
            </a:r>
            <a:endParaRPr b="0" i="0" sz="2400" u="none" cap="none" strike="noStrike">
              <a:solidFill>
                <a:schemeClr val="dk1"/>
              </a:solidFill>
              <a:latin typeface="Calibri"/>
              <a:ea typeface="Calibri"/>
              <a:cs typeface="Calibri"/>
              <a:sym typeface="Calibri"/>
            </a:endParaRPr>
          </a:p>
          <a:p>
            <a:pPr indent="0" lvl="0" marL="842010" marR="0" rtl="0" algn="l">
              <a:lnSpc>
                <a:spcPct val="100000"/>
              </a:lnSpc>
              <a:spcBef>
                <a:spcPts val="1105"/>
              </a:spcBef>
              <a:spcAft>
                <a:spcPts val="0"/>
              </a:spcAft>
              <a:buNone/>
            </a:pPr>
            <a:r>
              <a:rPr b="0" i="0" lang="en-US" sz="2800" u="none" cap="none" strike="noStrike">
                <a:solidFill>
                  <a:srgbClr val="006FC0"/>
                </a:solidFill>
                <a:latin typeface="Calibri"/>
                <a:ea typeface="Calibri"/>
                <a:cs typeface="Calibri"/>
                <a:sym typeface="Calibri"/>
              </a:rPr>
              <a:t>Problème d’authentification</a:t>
            </a:r>
            <a:endParaRPr b="0" i="0" sz="2800" u="none" cap="none" strike="noStrike">
              <a:solidFill>
                <a:schemeClr val="dk1"/>
              </a:solidFill>
              <a:latin typeface="Calibri"/>
              <a:ea typeface="Calibri"/>
              <a:cs typeface="Calibri"/>
              <a:sym typeface="Calibri"/>
            </a:endParaRPr>
          </a:p>
          <a:p>
            <a:pPr indent="-457833" lvl="0" marL="469900" marR="5715" rtl="0" algn="l">
              <a:lnSpc>
                <a:spcPct val="100000"/>
              </a:lnSpc>
              <a:spcBef>
                <a:spcPts val="1300"/>
              </a:spcBef>
              <a:spcAft>
                <a:spcPts val="0"/>
              </a:spcAft>
              <a:buClr>
                <a:srgbClr val="C00000"/>
              </a:buClr>
              <a:buSzPts val="4800"/>
              <a:buFont typeface="Calibri"/>
              <a:buChar char="•"/>
            </a:pPr>
            <a:r>
              <a:rPr b="0" i="0" lang="en-US" sz="2400" u="none" cap="none" strike="noStrike">
                <a:solidFill>
                  <a:schemeClr val="dk1"/>
                </a:solidFill>
                <a:latin typeface="Calibri"/>
                <a:ea typeface="Calibri"/>
                <a:cs typeface="Calibri"/>
                <a:sym typeface="Calibri"/>
              </a:rPr>
              <a:t>Aucune	preuve	n’est	fournie	par	Internet	quant	à	la  participation dans un échange électronique</a:t>
            </a:r>
            <a:endParaRPr b="0" i="0" sz="2400" u="none" cap="none" strike="noStrike">
              <a:solidFill>
                <a:schemeClr val="dk1"/>
              </a:solidFill>
              <a:latin typeface="Calibri"/>
              <a:ea typeface="Calibri"/>
              <a:cs typeface="Calibri"/>
              <a:sym typeface="Calibri"/>
            </a:endParaRPr>
          </a:p>
          <a:p>
            <a:pPr indent="0" lvl="0" marL="842010" marR="0" rtl="0" algn="l">
              <a:lnSpc>
                <a:spcPct val="100000"/>
              </a:lnSpc>
              <a:spcBef>
                <a:spcPts val="1075"/>
              </a:spcBef>
              <a:spcAft>
                <a:spcPts val="0"/>
              </a:spcAft>
              <a:buNone/>
            </a:pPr>
            <a:r>
              <a:rPr b="0" i="0" lang="en-US" sz="2800" u="none" cap="none" strike="noStrike">
                <a:solidFill>
                  <a:srgbClr val="006FC0"/>
                </a:solidFill>
                <a:latin typeface="Calibri"/>
                <a:ea typeface="Calibri"/>
                <a:cs typeface="Calibri"/>
                <a:sym typeface="Calibri"/>
              </a:rPr>
              <a:t>Problème d’absence de traçabilité</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type="title"/>
          </p:nvPr>
        </p:nvSpPr>
        <p:spPr>
          <a:xfrm>
            <a:off x="1066800" y="457200"/>
            <a:ext cx="5721579"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Introduction</a:t>
            </a:r>
            <a:endParaRPr/>
          </a:p>
        </p:txBody>
      </p:sp>
      <p:sp>
        <p:nvSpPr>
          <p:cNvPr id="131" name="Google Shape;131;p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32" name="Google Shape;132;p4"/>
          <p:cNvSpPr txBox="1"/>
          <p:nvPr/>
        </p:nvSpPr>
        <p:spPr>
          <a:xfrm>
            <a:off x="384454" y="1432942"/>
            <a:ext cx="8126730" cy="1490793"/>
          </a:xfrm>
          <a:prstGeom prst="rect">
            <a:avLst/>
          </a:prstGeom>
          <a:noFill/>
          <a:ln>
            <a:noFill/>
          </a:ln>
        </p:spPr>
        <p:txBody>
          <a:bodyPr anchorCtr="0" anchor="t" bIns="0" lIns="0" spcFirstLastPara="1" rIns="0" wrap="square" tIns="13325">
            <a:spAutoFit/>
          </a:bodyPr>
          <a:lstStyle/>
          <a:p>
            <a:pPr indent="-457833" lvl="0" marL="469900" marR="5080" rtl="0" algn="just">
              <a:lnSpc>
                <a:spcPct val="100000"/>
              </a:lnSpc>
              <a:spcBef>
                <a:spcPts val="0"/>
              </a:spcBef>
              <a:spcAft>
                <a:spcPts val="0"/>
              </a:spcAft>
              <a:buClr>
                <a:srgbClr val="C00000"/>
              </a:buClr>
              <a:buSzPts val="4431"/>
              <a:buFont typeface="Calibri"/>
              <a:buChar char="•"/>
            </a:pPr>
            <a:r>
              <a:rPr b="0" i="0" lang="en-US" sz="2400" u="none" cap="none" strike="noStrike">
                <a:solidFill>
                  <a:schemeClr val="dk1"/>
                </a:solidFill>
                <a:latin typeface="Calibri"/>
                <a:ea typeface="Calibri"/>
                <a:cs typeface="Calibri"/>
                <a:sym typeface="Calibri"/>
              </a:rPr>
              <a:t>La </a:t>
            </a:r>
            <a:r>
              <a:rPr b="1" i="0" lang="en-US" sz="2400" u="none" cap="none" strike="noStrike">
                <a:solidFill>
                  <a:srgbClr val="C00000"/>
                </a:solidFill>
                <a:latin typeface="Calibri"/>
                <a:ea typeface="Calibri"/>
                <a:cs typeface="Calibri"/>
                <a:sym typeface="Calibri"/>
              </a:rPr>
              <a:t>cryptographie </a:t>
            </a:r>
            <a:r>
              <a:rPr b="0" i="0" lang="en-US" sz="2400" u="none" cap="none" strike="noStrike">
                <a:solidFill>
                  <a:schemeClr val="dk1"/>
                </a:solidFill>
                <a:latin typeface="Calibri"/>
                <a:ea typeface="Calibri"/>
                <a:cs typeface="Calibri"/>
                <a:sym typeface="Calibri"/>
              </a:rPr>
              <a:t>est la science mathématique  permettant d’effectuer des opérations sur un texte  intelligible afin d’assurer une ou plusieurs propriétés  de la sécurité de l’information.</a:t>
            </a:r>
            <a:endParaRPr b="0" i="0" sz="2400" u="none" cap="none" strike="noStrike">
              <a:solidFill>
                <a:schemeClr val="dk1"/>
              </a:solidFill>
              <a:latin typeface="Calibri"/>
              <a:ea typeface="Calibri"/>
              <a:cs typeface="Calibri"/>
              <a:sym typeface="Calibri"/>
            </a:endParaRPr>
          </a:p>
        </p:txBody>
      </p:sp>
      <p:pic>
        <p:nvPicPr>
          <p:cNvPr id="133" name="Google Shape;133;p4"/>
          <p:cNvPicPr preferRelativeResize="0"/>
          <p:nvPr/>
        </p:nvPicPr>
        <p:blipFill rotWithShape="1">
          <a:blip r:embed="rId3">
            <a:alphaModFix/>
          </a:blip>
          <a:srcRect b="0" l="0" r="0" t="0"/>
          <a:stretch/>
        </p:blipFill>
        <p:spPr>
          <a:xfrm>
            <a:off x="2875664" y="3048059"/>
            <a:ext cx="4446777" cy="3744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720090" y="533400"/>
            <a:ext cx="8423910" cy="444352"/>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C00000"/>
              </a:buClr>
              <a:buSzPts val="2800"/>
              <a:buFont typeface="Calibri"/>
              <a:buNone/>
            </a:pPr>
            <a:r>
              <a:rPr b="1" lang="en-US" sz="2800">
                <a:solidFill>
                  <a:srgbClr val="C00000"/>
                </a:solidFill>
              </a:rPr>
              <a:t>Moyens cryptographiques et services offerts</a:t>
            </a:r>
            <a:endParaRPr/>
          </a:p>
        </p:txBody>
      </p:sp>
      <p:sp>
        <p:nvSpPr>
          <p:cNvPr id="139" name="Google Shape;139;p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40" name="Google Shape;140;p5"/>
          <p:cNvSpPr txBox="1"/>
          <p:nvPr/>
        </p:nvSpPr>
        <p:spPr>
          <a:xfrm>
            <a:off x="508812" y="1266819"/>
            <a:ext cx="7957820" cy="5141279"/>
          </a:xfrm>
          <a:prstGeom prst="rect">
            <a:avLst/>
          </a:prstGeom>
          <a:noFill/>
          <a:ln>
            <a:noFill/>
          </a:ln>
        </p:spPr>
        <p:txBody>
          <a:bodyPr anchorCtr="0" anchor="t" bIns="0" lIns="0" spcFirstLastPara="1" rIns="0" wrap="square" tIns="100950">
            <a:spAutoFit/>
          </a:bodyPr>
          <a:lstStyle/>
          <a:p>
            <a:pPr indent="-457834" lvl="0" marL="495934" marR="0" rtl="0" algn="l">
              <a:lnSpc>
                <a:spcPct val="100000"/>
              </a:lnSpc>
              <a:spcBef>
                <a:spcPts val="0"/>
              </a:spcBef>
              <a:spcAft>
                <a:spcPts val="0"/>
              </a:spcAft>
              <a:buClr>
                <a:srgbClr val="C00000"/>
              </a:buClr>
              <a:buSzPts val="3800"/>
              <a:buFont typeface="Helvetica Neue"/>
              <a:buChar char="•"/>
            </a:pPr>
            <a:r>
              <a:rPr b="1" i="0" lang="en-US" sz="2500" u="none" cap="none" strike="noStrike">
                <a:solidFill>
                  <a:schemeClr val="dk1"/>
                </a:solidFill>
                <a:latin typeface="Calibri"/>
                <a:ea typeface="Calibri"/>
                <a:cs typeface="Calibri"/>
                <a:sym typeface="Calibri"/>
              </a:rPr>
              <a:t>Cryptage/décryptage</a:t>
            </a:r>
            <a:endParaRPr b="0" i="0" sz="2500" u="none" cap="none" strike="noStrike">
              <a:solidFill>
                <a:schemeClr val="dk1"/>
              </a:solidFill>
              <a:latin typeface="Calibri"/>
              <a:ea typeface="Calibri"/>
              <a:cs typeface="Calibri"/>
              <a:sym typeface="Calibri"/>
            </a:endParaRPr>
          </a:p>
          <a:p>
            <a:pPr indent="-287019" lvl="1" marL="782320" marR="0" rtl="0" algn="l">
              <a:lnSpc>
                <a:spcPct val="100000"/>
              </a:lnSpc>
              <a:spcBef>
                <a:spcPts val="615"/>
              </a:spcBef>
              <a:spcAft>
                <a:spcPts val="0"/>
              </a:spcAft>
              <a:buClr>
                <a:srgbClr val="D20000"/>
              </a:buClr>
              <a:buSzPts val="2200"/>
              <a:buFont typeface="Calibri"/>
              <a:buChar char="▪"/>
            </a:pPr>
            <a:r>
              <a:rPr b="0" i="0" lang="en-US" sz="2200" u="none" cap="none" strike="noStrike">
                <a:solidFill>
                  <a:srgbClr val="4EA4D7"/>
                </a:solidFill>
                <a:latin typeface="Calibri"/>
                <a:ea typeface="Calibri"/>
                <a:cs typeface="Calibri"/>
                <a:sym typeface="Calibri"/>
              </a:rPr>
              <a:t>Confidentialité</a:t>
            </a:r>
            <a:r>
              <a:rPr b="0" i="0" lang="en-US" sz="2200" u="none" cap="none" strike="noStrike">
                <a:solidFill>
                  <a:schemeClr val="dk1"/>
                </a:solidFill>
                <a:latin typeface="Calibri"/>
                <a:ea typeface="Calibri"/>
                <a:cs typeface="Calibri"/>
                <a:sym typeface="Calibri"/>
              </a:rPr>
              <a:t>: données incompréhensibles lors du transit</a:t>
            </a:r>
            <a:endParaRPr b="0" i="0" sz="2200" u="none" cap="none" strike="noStrike">
              <a:solidFill>
                <a:schemeClr val="dk1"/>
              </a:solidFill>
              <a:latin typeface="Calibri"/>
              <a:ea typeface="Calibri"/>
              <a:cs typeface="Calibri"/>
              <a:sym typeface="Calibri"/>
            </a:endParaRPr>
          </a:p>
          <a:p>
            <a:pPr indent="-287019" lvl="1" marL="782320" marR="0" rtl="0" algn="l">
              <a:lnSpc>
                <a:spcPct val="100000"/>
              </a:lnSpc>
              <a:spcBef>
                <a:spcPts val="0"/>
              </a:spcBef>
              <a:spcAft>
                <a:spcPts val="0"/>
              </a:spcAft>
              <a:buClr>
                <a:srgbClr val="D20000"/>
              </a:buClr>
              <a:buSzPts val="2200"/>
              <a:buFont typeface="Calibri"/>
              <a:buChar char="▪"/>
            </a:pPr>
            <a:r>
              <a:rPr b="0" i="0" lang="en-US" sz="2200" u="none" cap="none" strike="noStrike">
                <a:solidFill>
                  <a:srgbClr val="4EA4D7"/>
                </a:solidFill>
                <a:latin typeface="Calibri"/>
                <a:ea typeface="Calibri"/>
                <a:cs typeface="Calibri"/>
                <a:sym typeface="Calibri"/>
              </a:rPr>
              <a:t>Authentification</a:t>
            </a:r>
            <a:r>
              <a:rPr b="0" i="0" lang="en-US" sz="2200" u="none" cap="none" strike="noStrike">
                <a:solidFill>
                  <a:schemeClr val="dk1"/>
                </a:solidFill>
                <a:latin typeface="Calibri"/>
                <a:ea typeface="Calibri"/>
                <a:cs typeface="Calibri"/>
                <a:sym typeface="Calibri"/>
              </a:rPr>
              <a:t>: nécessite de disposer de « l'autre » clé</a:t>
            </a:r>
            <a:endParaRPr b="0" i="0" sz="2200" u="none" cap="none" strike="noStrike">
              <a:solidFill>
                <a:schemeClr val="dk1"/>
              </a:solidFill>
              <a:latin typeface="Calibri"/>
              <a:ea typeface="Calibri"/>
              <a:cs typeface="Calibri"/>
              <a:sym typeface="Calibri"/>
            </a:endParaRPr>
          </a:p>
          <a:p>
            <a:pPr indent="-457834" lvl="0" marL="495934" marR="0" rtl="0" algn="l">
              <a:lnSpc>
                <a:spcPct val="100000"/>
              </a:lnSpc>
              <a:spcBef>
                <a:spcPts val="1790"/>
              </a:spcBef>
              <a:spcAft>
                <a:spcPts val="0"/>
              </a:spcAft>
              <a:buClr>
                <a:srgbClr val="C00000"/>
              </a:buClr>
              <a:buSzPts val="3800"/>
              <a:buFont typeface="Helvetica Neue"/>
              <a:buChar char="•"/>
            </a:pPr>
            <a:r>
              <a:rPr b="1" i="0" lang="en-US" sz="2500" u="none" cap="none" strike="noStrike">
                <a:solidFill>
                  <a:schemeClr val="dk1"/>
                </a:solidFill>
                <a:latin typeface="Calibri"/>
                <a:ea typeface="Calibri"/>
                <a:cs typeface="Calibri"/>
                <a:sym typeface="Calibri"/>
              </a:rPr>
              <a:t>Hachage cryptographique</a:t>
            </a:r>
            <a:endParaRPr b="0" i="0" sz="2500" u="none" cap="none" strike="noStrike">
              <a:solidFill>
                <a:schemeClr val="dk1"/>
              </a:solidFill>
              <a:latin typeface="Calibri"/>
              <a:ea typeface="Calibri"/>
              <a:cs typeface="Calibri"/>
              <a:sym typeface="Calibri"/>
            </a:endParaRPr>
          </a:p>
          <a:p>
            <a:pPr indent="-287019" lvl="1" marL="782320" marR="0" rtl="0" algn="l">
              <a:lnSpc>
                <a:spcPct val="100000"/>
              </a:lnSpc>
              <a:spcBef>
                <a:spcPts val="610"/>
              </a:spcBef>
              <a:spcAft>
                <a:spcPts val="0"/>
              </a:spcAft>
              <a:buClr>
                <a:srgbClr val="C00000"/>
              </a:buClr>
              <a:buSzPts val="2200"/>
              <a:buFont typeface="Calibri"/>
              <a:buChar char="▪"/>
            </a:pPr>
            <a:r>
              <a:rPr b="0" i="0" lang="en-US" sz="2200" u="none" cap="none" strike="noStrike">
                <a:solidFill>
                  <a:srgbClr val="4EA4D7"/>
                </a:solidFill>
                <a:latin typeface="Calibri"/>
                <a:ea typeface="Calibri"/>
                <a:cs typeface="Calibri"/>
                <a:sym typeface="Calibri"/>
              </a:rPr>
              <a:t>Intégrité</a:t>
            </a:r>
            <a:r>
              <a:rPr b="0" i="0" lang="en-US" sz="2200" u="none" cap="none" strike="noStrike">
                <a:solidFill>
                  <a:schemeClr val="dk1"/>
                </a:solidFill>
                <a:latin typeface="Calibri"/>
                <a:ea typeface="Calibri"/>
                <a:cs typeface="Calibri"/>
                <a:sym typeface="Calibri"/>
              </a:rPr>
              <a:t>: toute modification est détectée</a:t>
            </a:r>
            <a:endParaRPr b="0" i="0" sz="2200" u="none" cap="none" strike="noStrike">
              <a:solidFill>
                <a:schemeClr val="dk1"/>
              </a:solidFill>
              <a:latin typeface="Calibri"/>
              <a:ea typeface="Calibri"/>
              <a:cs typeface="Calibri"/>
              <a:sym typeface="Calibri"/>
            </a:endParaRPr>
          </a:p>
          <a:p>
            <a:pPr indent="-457200" lvl="0" marL="469900" marR="0" rtl="0" algn="l">
              <a:lnSpc>
                <a:spcPct val="100000"/>
              </a:lnSpc>
              <a:spcBef>
                <a:spcPts val="1530"/>
              </a:spcBef>
              <a:spcAft>
                <a:spcPts val="0"/>
              </a:spcAft>
              <a:buClr>
                <a:srgbClr val="C00000"/>
              </a:buClr>
              <a:buSzPts val="3800"/>
              <a:buFont typeface="Helvetica Neue"/>
              <a:buChar char="•"/>
            </a:pPr>
            <a:r>
              <a:rPr b="1" i="0" lang="en-US" sz="2500" u="none" cap="none" strike="noStrike">
                <a:solidFill>
                  <a:schemeClr val="dk1"/>
                </a:solidFill>
                <a:latin typeface="Calibri"/>
                <a:ea typeface="Calibri"/>
                <a:cs typeface="Calibri"/>
                <a:sym typeface="Calibri"/>
              </a:rPr>
              <a:t>Signature numérique</a:t>
            </a:r>
            <a:endParaRPr b="0" i="0" sz="2500" u="none" cap="none" strike="noStrike">
              <a:solidFill>
                <a:schemeClr val="dk1"/>
              </a:solidFill>
              <a:latin typeface="Calibri"/>
              <a:ea typeface="Calibri"/>
              <a:cs typeface="Calibri"/>
              <a:sym typeface="Calibri"/>
            </a:endParaRPr>
          </a:p>
          <a:p>
            <a:pPr indent="-287654" lvl="1" marL="756285" marR="0" rtl="0" algn="l">
              <a:lnSpc>
                <a:spcPct val="107954"/>
              </a:lnSpc>
              <a:spcBef>
                <a:spcPts val="590"/>
              </a:spcBef>
              <a:spcAft>
                <a:spcPts val="0"/>
              </a:spcAft>
              <a:buClr>
                <a:srgbClr val="C00000"/>
              </a:buClr>
              <a:buSzPts val="2200"/>
              <a:buFont typeface="Calibri"/>
              <a:buChar char="▪"/>
            </a:pPr>
            <a:r>
              <a:rPr b="0" i="0" lang="en-US" sz="2200" u="none" cap="none" strike="noStrike">
                <a:solidFill>
                  <a:srgbClr val="4EA4D7"/>
                </a:solidFill>
                <a:latin typeface="Calibri"/>
                <a:ea typeface="Calibri"/>
                <a:cs typeface="Calibri"/>
                <a:sym typeface="Calibri"/>
              </a:rPr>
              <a:t>Authentification</a:t>
            </a:r>
            <a:r>
              <a:rPr b="0" i="0" lang="en-US" sz="2200" u="none" cap="none" strike="noStrike">
                <a:solidFill>
                  <a:schemeClr val="dk1"/>
                </a:solidFill>
                <a:latin typeface="Calibri"/>
                <a:ea typeface="Calibri"/>
                <a:cs typeface="Calibri"/>
                <a:sym typeface="Calibri"/>
              </a:rPr>
              <a:t>: s'assurer de l'identité de l‘émetteur de</a:t>
            </a:r>
            <a:endParaRPr b="0" i="0" sz="2200" u="none" cap="none" strike="noStrike">
              <a:solidFill>
                <a:schemeClr val="dk1"/>
              </a:solidFill>
              <a:latin typeface="Calibri"/>
              <a:ea typeface="Calibri"/>
              <a:cs typeface="Calibri"/>
              <a:sym typeface="Calibri"/>
            </a:endParaRPr>
          </a:p>
          <a:p>
            <a:pPr indent="0" lvl="0" marL="756285" marR="0" rtl="0" algn="l">
              <a:lnSpc>
                <a:spcPct val="107500"/>
              </a:lnSpc>
              <a:spcBef>
                <a:spcPts val="0"/>
              </a:spcBef>
              <a:spcAft>
                <a:spcPts val="0"/>
              </a:spcAft>
              <a:buNone/>
            </a:pPr>
            <a:r>
              <a:rPr b="0" i="0" lang="en-US" sz="2200" u="none" cap="none" strike="noStrike">
                <a:solidFill>
                  <a:schemeClr val="dk1"/>
                </a:solidFill>
                <a:latin typeface="Calibri"/>
                <a:ea typeface="Calibri"/>
                <a:cs typeface="Calibri"/>
                <a:sym typeface="Calibri"/>
              </a:rPr>
              <a:t>données</a:t>
            </a:r>
            <a:endParaRPr b="0" i="0" sz="2200" u="none" cap="none" strike="noStrike">
              <a:solidFill>
                <a:schemeClr val="dk1"/>
              </a:solidFill>
              <a:latin typeface="Calibri"/>
              <a:ea typeface="Calibri"/>
              <a:cs typeface="Calibri"/>
              <a:sym typeface="Calibri"/>
            </a:endParaRPr>
          </a:p>
          <a:p>
            <a:pPr indent="-287654" lvl="1" marL="756285" marR="0" rtl="0" algn="l">
              <a:lnSpc>
                <a:spcPct val="119545"/>
              </a:lnSpc>
              <a:spcBef>
                <a:spcPts val="0"/>
              </a:spcBef>
              <a:spcAft>
                <a:spcPts val="0"/>
              </a:spcAft>
              <a:buClr>
                <a:srgbClr val="C00000"/>
              </a:buClr>
              <a:buSzPts val="2200"/>
              <a:buFont typeface="Calibri"/>
              <a:buChar char="▪"/>
            </a:pPr>
            <a:r>
              <a:rPr b="0" i="0" lang="en-US" sz="2200" u="none" cap="none" strike="noStrike">
                <a:solidFill>
                  <a:srgbClr val="4EA4D7"/>
                </a:solidFill>
                <a:latin typeface="Calibri"/>
                <a:ea typeface="Calibri"/>
                <a:cs typeface="Calibri"/>
                <a:sym typeface="Calibri"/>
              </a:rPr>
              <a:t>Intégrité</a:t>
            </a:r>
            <a:r>
              <a:rPr b="0" i="0" lang="en-US" sz="2200" u="none" cap="none" strike="noStrike">
                <a:solidFill>
                  <a:schemeClr val="dk1"/>
                </a:solidFill>
                <a:latin typeface="Calibri"/>
                <a:ea typeface="Calibri"/>
                <a:cs typeface="Calibri"/>
                <a:sym typeface="Calibri"/>
              </a:rPr>
              <a:t>: s'assurer que, si la signature est valide, les</a:t>
            </a:r>
            <a:endParaRPr b="0" i="0" sz="2200" u="none" cap="none" strike="noStrike">
              <a:solidFill>
                <a:schemeClr val="dk1"/>
              </a:solidFill>
              <a:latin typeface="Calibri"/>
              <a:ea typeface="Calibri"/>
              <a:cs typeface="Calibri"/>
              <a:sym typeface="Calibri"/>
            </a:endParaRPr>
          </a:p>
          <a:p>
            <a:pPr indent="0" lvl="0" marL="756285" marR="0" rtl="0" algn="l">
              <a:lnSpc>
                <a:spcPct val="100000"/>
              </a:lnSpc>
              <a:spcBef>
                <a:spcPts val="195"/>
              </a:spcBef>
              <a:spcAft>
                <a:spcPts val="0"/>
              </a:spcAft>
              <a:buNone/>
            </a:pPr>
            <a:r>
              <a:rPr b="0" i="0" lang="en-US" sz="2200" u="none" cap="none" strike="noStrike">
                <a:solidFill>
                  <a:schemeClr val="dk1"/>
                </a:solidFill>
                <a:latin typeface="Calibri"/>
                <a:ea typeface="Calibri"/>
                <a:cs typeface="Calibri"/>
                <a:sym typeface="Calibri"/>
              </a:rPr>
              <a:t>données n'ont pas changées depuis leur signature.</a:t>
            </a:r>
            <a:endParaRPr b="0" i="0" sz="2200" u="none" cap="none" strike="noStrike">
              <a:solidFill>
                <a:schemeClr val="dk1"/>
              </a:solidFill>
              <a:latin typeface="Calibri"/>
              <a:ea typeface="Calibri"/>
              <a:cs typeface="Calibri"/>
              <a:sym typeface="Calibri"/>
            </a:endParaRPr>
          </a:p>
          <a:p>
            <a:pPr indent="-287019" lvl="1" marL="756285" marR="196850" rtl="0" algn="just">
              <a:lnSpc>
                <a:spcPct val="80000"/>
              </a:lnSpc>
              <a:spcBef>
                <a:spcPts val="695"/>
              </a:spcBef>
              <a:spcAft>
                <a:spcPts val="0"/>
              </a:spcAft>
              <a:buClr>
                <a:srgbClr val="C00000"/>
              </a:buClr>
              <a:buSzPts val="2200"/>
              <a:buFont typeface="Calibri"/>
              <a:buChar char="▪"/>
            </a:pPr>
            <a:r>
              <a:rPr b="0" i="0" lang="en-US" sz="2200" u="none" cap="none" strike="noStrike">
                <a:solidFill>
                  <a:srgbClr val="4EA4D7"/>
                </a:solidFill>
                <a:latin typeface="Calibri"/>
                <a:ea typeface="Calibri"/>
                <a:cs typeface="Calibri"/>
                <a:sym typeface="Calibri"/>
              </a:rPr>
              <a:t>Non-répudiation</a:t>
            </a:r>
            <a:r>
              <a:rPr b="0" i="0" lang="en-US" sz="2200" u="none" cap="none" strike="noStrike">
                <a:solidFill>
                  <a:schemeClr val="dk1"/>
                </a:solidFill>
                <a:latin typeface="Calibri"/>
                <a:ea typeface="Calibri"/>
                <a:cs typeface="Calibri"/>
                <a:sym typeface="Calibri"/>
              </a:rPr>
              <a:t>: prouver que l‘émetteur a bien émis ces  données, et est le seul a avoir pu le faire (autorisation  de prélèvement bancaire).</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6"/>
          <p:cNvSpPr txBox="1"/>
          <p:nvPr>
            <p:ph type="title"/>
          </p:nvPr>
        </p:nvSpPr>
        <p:spPr>
          <a:xfrm>
            <a:off x="990600" y="564177"/>
            <a:ext cx="555485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Plan du chapitre</a:t>
            </a:r>
            <a:endParaRPr/>
          </a:p>
        </p:txBody>
      </p:sp>
      <p:sp>
        <p:nvSpPr>
          <p:cNvPr id="146" name="Google Shape;146;p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47" name="Google Shape;147;p6"/>
          <p:cNvSpPr txBox="1"/>
          <p:nvPr/>
        </p:nvSpPr>
        <p:spPr>
          <a:xfrm>
            <a:off x="402742" y="1544456"/>
            <a:ext cx="8512658" cy="4052391"/>
          </a:xfrm>
          <a:prstGeom prst="rect">
            <a:avLst/>
          </a:prstGeom>
          <a:noFill/>
          <a:ln>
            <a:noFill/>
          </a:ln>
        </p:spPr>
        <p:txBody>
          <a:bodyPr anchorCtr="0" anchor="t" bIns="0" lIns="0" spcFirstLastPara="1" rIns="0" wrap="square" tIns="81275">
            <a:spAutoFit/>
          </a:bodyPr>
          <a:lstStyle/>
          <a:p>
            <a:pPr indent="-457200" lvl="0" marL="469900" marR="0" rtl="0" algn="l">
              <a:lnSpc>
                <a:spcPct val="100000"/>
              </a:lnSpc>
              <a:spcBef>
                <a:spcPts val="0"/>
              </a:spcBef>
              <a:spcAft>
                <a:spcPts val="0"/>
              </a:spcAft>
              <a:buClr>
                <a:srgbClr val="C00000"/>
              </a:buClr>
              <a:buSzPts val="3600"/>
              <a:buFont typeface="Calibri"/>
              <a:buChar char="•"/>
            </a:pPr>
            <a:r>
              <a:rPr b="0" i="0" lang="en-US" sz="2400" u="none" cap="none" strike="noStrike">
                <a:solidFill>
                  <a:schemeClr val="dk1"/>
                </a:solidFill>
                <a:latin typeface="Calibri"/>
                <a:ea typeface="Calibri"/>
                <a:cs typeface="Calibri"/>
                <a:sym typeface="Calibri"/>
              </a:rPr>
              <a:t>Introduction</a:t>
            </a:r>
            <a:endParaRPr b="0" i="0" sz="2400" u="none" cap="none" strike="noStrike">
              <a:solidFill>
                <a:schemeClr val="dk1"/>
              </a:solidFill>
              <a:latin typeface="Calibri"/>
              <a:ea typeface="Calibri"/>
              <a:cs typeface="Calibri"/>
              <a:sym typeface="Calibri"/>
            </a:endParaRPr>
          </a:p>
          <a:p>
            <a:pPr indent="-457200" lvl="0" marL="469900" marR="0" rtl="0" algn="l">
              <a:lnSpc>
                <a:spcPct val="100000"/>
              </a:lnSpc>
              <a:spcBef>
                <a:spcPts val="1800"/>
              </a:spcBef>
              <a:spcAft>
                <a:spcPts val="0"/>
              </a:spcAft>
              <a:buClr>
                <a:srgbClr val="C00000"/>
              </a:buClr>
              <a:buSzPts val="3600"/>
              <a:buFont typeface="Calibri"/>
              <a:buChar char="•"/>
            </a:pPr>
            <a:r>
              <a:rPr b="0" i="0" lang="en-US" sz="2400" u="none" cap="none" strike="noStrike">
                <a:solidFill>
                  <a:schemeClr val="dk1"/>
                </a:solidFill>
                <a:latin typeface="Calibri"/>
                <a:ea typeface="Calibri"/>
                <a:cs typeface="Calibri"/>
                <a:sym typeface="Calibri"/>
              </a:rPr>
              <a:t>Moyens cryptographiques et services offerts</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chiffrement symétrique, asymétrique et hybride</a:t>
            </a:r>
            <a:endParaRPr b="0" i="0" sz="2400" u="none" cap="none" strike="noStrike">
              <a:solidFill>
                <a:schemeClr val="dk1"/>
              </a:solidFill>
              <a:latin typeface="Calibri"/>
              <a:ea typeface="Calibri"/>
              <a:cs typeface="Calibri"/>
              <a:sym typeface="Calibri"/>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hachage cryptographique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La signature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certificat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Infrastructure de Gestion des Clés</a:t>
            </a:r>
            <a:endParaRPr/>
          </a:p>
        </p:txBody>
      </p:sp>
      <p:sp>
        <p:nvSpPr>
          <p:cNvPr id="148" name="Google Shape;148;p6"/>
          <p:cNvSpPr/>
          <p:nvPr/>
        </p:nvSpPr>
        <p:spPr>
          <a:xfrm>
            <a:off x="381000" y="2743200"/>
            <a:ext cx="7467600" cy="533400"/>
          </a:xfrm>
          <a:prstGeom prst="rect">
            <a:avLst/>
          </a:prstGeom>
          <a:solidFill>
            <a:srgbClr val="FF7C80">
              <a:alpha val="5725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ph type="title"/>
          </p:nvPr>
        </p:nvSpPr>
        <p:spPr>
          <a:xfrm>
            <a:off x="1063625" y="499978"/>
            <a:ext cx="6022975"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3600"/>
              <a:buFont typeface="Trebuchet MS"/>
              <a:buNone/>
            </a:pPr>
            <a:r>
              <a:rPr lang="en-US">
                <a:solidFill>
                  <a:srgbClr val="C00000"/>
                </a:solidFill>
              </a:rPr>
              <a:t>Principe de fonctionnement</a:t>
            </a:r>
            <a:endParaRPr/>
          </a:p>
        </p:txBody>
      </p:sp>
      <p:sp>
        <p:nvSpPr>
          <p:cNvPr id="154" name="Google Shape;154;p7"/>
          <p:cNvSpPr txBox="1"/>
          <p:nvPr>
            <p:ph idx="12" type="sldNum"/>
          </p:nvPr>
        </p:nvSpPr>
        <p:spPr>
          <a:xfrm>
            <a:off x="6457950" y="6356353"/>
            <a:ext cx="2057400" cy="365125"/>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155" name="Google Shape;155;p7"/>
          <p:cNvPicPr preferRelativeResize="0"/>
          <p:nvPr/>
        </p:nvPicPr>
        <p:blipFill rotWithShape="1">
          <a:blip r:embed="rId3">
            <a:alphaModFix/>
          </a:blip>
          <a:srcRect b="0" l="0" r="0" t="0"/>
          <a:stretch/>
        </p:blipFill>
        <p:spPr>
          <a:xfrm>
            <a:off x="821639" y="1534174"/>
            <a:ext cx="7447660" cy="494614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nvSpPr>
        <p:spPr>
          <a:xfrm>
            <a:off x="349707" y="1491933"/>
            <a:ext cx="8750300" cy="4727448"/>
          </a:xfrm>
          <a:prstGeom prst="rect">
            <a:avLst/>
          </a:prstGeom>
          <a:noFill/>
          <a:ln>
            <a:noFill/>
          </a:ln>
        </p:spPr>
        <p:txBody>
          <a:bodyPr anchorCtr="0" anchor="t" bIns="0" lIns="0" spcFirstLastPara="1" rIns="0" wrap="square" tIns="102225">
            <a:spAutoFit/>
          </a:bodyPr>
          <a:lstStyle/>
          <a:p>
            <a:pPr indent="-457200" lvl="0" marL="469900" marR="0" rtl="0" algn="l">
              <a:lnSpc>
                <a:spcPct val="100000"/>
              </a:lnSpc>
              <a:spcBef>
                <a:spcPts val="0"/>
              </a:spcBef>
              <a:spcAft>
                <a:spcPts val="0"/>
              </a:spcAft>
              <a:buClr>
                <a:srgbClr val="C00000"/>
              </a:buClr>
              <a:buSzPts val="4100"/>
              <a:buFont typeface="Calibri"/>
              <a:buChar char="•"/>
            </a:pPr>
            <a:r>
              <a:rPr b="0" i="0" lang="en-US" sz="2700" u="none" cap="none" strike="noStrike">
                <a:solidFill>
                  <a:schemeClr val="dk1"/>
                </a:solidFill>
                <a:latin typeface="Calibri"/>
                <a:ea typeface="Calibri"/>
                <a:cs typeface="Calibri"/>
                <a:sym typeface="Calibri"/>
              </a:rPr>
              <a:t>Operations de </a:t>
            </a:r>
            <a:r>
              <a:rPr b="0" i="0" lang="en-US" sz="2700" u="none" cap="none" strike="noStrike">
                <a:solidFill>
                  <a:srgbClr val="538ED3"/>
                </a:solidFill>
                <a:latin typeface="Calibri"/>
                <a:ea typeface="Calibri"/>
                <a:cs typeface="Calibri"/>
                <a:sym typeface="Calibri"/>
              </a:rPr>
              <a:t>chiffrement </a:t>
            </a:r>
            <a:r>
              <a:rPr b="0" i="0" lang="en-US" sz="2700" u="none" cap="none" strike="noStrike">
                <a:solidFill>
                  <a:schemeClr val="dk1"/>
                </a:solidFill>
                <a:latin typeface="Calibri"/>
                <a:ea typeface="Calibri"/>
                <a:cs typeface="Calibri"/>
                <a:sym typeface="Calibri"/>
              </a:rPr>
              <a:t>et </a:t>
            </a:r>
            <a:r>
              <a:rPr b="0" i="0" lang="en-US" sz="2700" u="none" cap="none" strike="noStrike">
                <a:solidFill>
                  <a:srgbClr val="538ED3"/>
                </a:solidFill>
                <a:latin typeface="Calibri"/>
                <a:ea typeface="Calibri"/>
                <a:cs typeface="Calibri"/>
                <a:sym typeface="Calibri"/>
              </a:rPr>
              <a:t>déchiffrement </a:t>
            </a:r>
            <a:r>
              <a:rPr b="0" i="0" lang="en-US" sz="2700" u="none" cap="none" strike="noStrike">
                <a:solidFill>
                  <a:srgbClr val="00AE50"/>
                </a:solidFill>
                <a:latin typeface="Calibri"/>
                <a:ea typeface="Calibri"/>
                <a:cs typeface="Calibri"/>
                <a:sym typeface="Calibri"/>
              </a:rPr>
              <a:t>identiques</a:t>
            </a:r>
            <a:endParaRPr b="0" i="0" sz="2700" u="none" cap="none" strike="noStrike">
              <a:solidFill>
                <a:schemeClr val="dk1"/>
              </a:solidFill>
              <a:latin typeface="Calibri"/>
              <a:ea typeface="Calibri"/>
              <a:cs typeface="Calibri"/>
              <a:sym typeface="Calibri"/>
            </a:endParaRPr>
          </a:p>
          <a:p>
            <a:pPr indent="-287019" lvl="1" marL="756285" marR="1339850" rtl="0" algn="l">
              <a:lnSpc>
                <a:spcPct val="109200"/>
              </a:lnSpc>
              <a:spcBef>
                <a:spcPts val="355"/>
              </a:spcBef>
              <a:spcAft>
                <a:spcPts val="0"/>
              </a:spcAft>
              <a:buClr>
                <a:srgbClr val="D20000"/>
              </a:buClr>
              <a:buSzPts val="2400"/>
              <a:buFont typeface="Calibri"/>
              <a:buChar char="▪"/>
            </a:pPr>
            <a:r>
              <a:rPr b="0" i="0" lang="en-US" sz="2400" u="none" cap="none" strike="noStrike">
                <a:solidFill>
                  <a:srgbClr val="538ED3"/>
                </a:solidFill>
                <a:latin typeface="Calibri"/>
                <a:ea typeface="Calibri"/>
                <a:cs typeface="Calibri"/>
                <a:sym typeface="Calibri"/>
              </a:rPr>
              <a:t>Clé identique </a:t>
            </a:r>
            <a:r>
              <a:rPr b="0" i="0" lang="en-US" sz="2400" u="none" cap="none" strike="noStrike">
                <a:solidFill>
                  <a:schemeClr val="dk1"/>
                </a:solidFill>
                <a:latin typeface="Calibri"/>
                <a:ea typeface="Calibri"/>
                <a:cs typeface="Calibri"/>
                <a:sym typeface="Calibri"/>
              </a:rPr>
              <a:t>pour les opérations de chiffrement /  Déchiffrement.</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545"/>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La	clé doit être </a:t>
            </a:r>
            <a:r>
              <a:rPr b="0" i="0" lang="en-US" sz="2400" u="none" cap="none" strike="noStrike">
                <a:solidFill>
                  <a:srgbClr val="FF0000"/>
                </a:solidFill>
                <a:latin typeface="Calibri"/>
                <a:ea typeface="Calibri"/>
                <a:cs typeface="Calibri"/>
                <a:sym typeface="Calibri"/>
              </a:rPr>
              <a:t>partagée </a:t>
            </a:r>
            <a:r>
              <a:rPr b="0" i="0" lang="en-US" sz="2400" u="none" cap="none" strike="noStrike">
                <a:solidFill>
                  <a:schemeClr val="dk1"/>
                </a:solidFill>
                <a:latin typeface="Calibri"/>
                <a:ea typeface="Calibri"/>
                <a:cs typeface="Calibri"/>
                <a:sym typeface="Calibri"/>
              </a:rPr>
              <a:t>entre l’émetteur et le destinataire à travers un </a:t>
            </a:r>
            <a:r>
              <a:rPr b="0" i="0" lang="en-US" sz="2400" u="none" cap="none" strike="noStrike">
                <a:solidFill>
                  <a:srgbClr val="FF0000"/>
                </a:solidFill>
                <a:latin typeface="Calibri"/>
                <a:ea typeface="Calibri"/>
                <a:cs typeface="Calibri"/>
                <a:sym typeface="Calibri"/>
              </a:rPr>
              <a:t>canal de communication sûr</a:t>
            </a:r>
            <a:r>
              <a:rPr b="0" i="0" lang="en-US"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rgbClr val="D20000"/>
              </a:buClr>
              <a:buSzPts val="2700"/>
              <a:buFont typeface="Helvetica Neue"/>
              <a:buNone/>
            </a:pPr>
            <a:r>
              <a:t/>
            </a:r>
            <a:endParaRPr b="0" i="0" sz="2700" u="none" cap="none" strike="noStrike">
              <a:solidFill>
                <a:schemeClr val="dk1"/>
              </a:solidFill>
              <a:latin typeface="Calibri"/>
              <a:ea typeface="Calibri"/>
              <a:cs typeface="Calibri"/>
              <a:sym typeface="Calibri"/>
            </a:endParaRPr>
          </a:p>
          <a:p>
            <a:pPr indent="0" lvl="1" marL="457200" marR="0" rtl="0" algn="l">
              <a:lnSpc>
                <a:spcPct val="100000"/>
              </a:lnSpc>
              <a:spcBef>
                <a:spcPts val="0"/>
              </a:spcBef>
              <a:spcAft>
                <a:spcPts val="0"/>
              </a:spcAft>
              <a:buClr>
                <a:srgbClr val="D20000"/>
              </a:buClr>
              <a:buSzPts val="2750"/>
              <a:buFont typeface="Helvetica Neue"/>
              <a:buNone/>
            </a:pPr>
            <a:r>
              <a:t/>
            </a:r>
            <a:endParaRPr b="0" i="0" sz="2750" u="none" cap="none" strike="noStrike">
              <a:solidFill>
                <a:schemeClr val="dk1"/>
              </a:solidFill>
              <a:latin typeface="Calibri"/>
              <a:ea typeface="Calibri"/>
              <a:cs typeface="Calibri"/>
              <a:sym typeface="Calibri"/>
            </a:endParaRPr>
          </a:p>
          <a:p>
            <a:pPr indent="-457200" lvl="0" marL="469900" marR="0" rtl="0" algn="l">
              <a:lnSpc>
                <a:spcPct val="100000"/>
              </a:lnSpc>
              <a:spcBef>
                <a:spcPts val="0"/>
              </a:spcBef>
              <a:spcAft>
                <a:spcPts val="0"/>
              </a:spcAft>
              <a:buClr>
                <a:srgbClr val="C00000"/>
              </a:buClr>
              <a:buSzPts val="4100"/>
              <a:buFont typeface="Calibri"/>
              <a:buChar char="•"/>
            </a:pPr>
            <a:r>
              <a:rPr b="0" i="0" lang="en-US" sz="2700" u="none" cap="none" strike="noStrike">
                <a:solidFill>
                  <a:srgbClr val="538ED3"/>
                </a:solidFill>
                <a:latin typeface="Calibri"/>
                <a:ea typeface="Calibri"/>
                <a:cs typeface="Calibri"/>
                <a:sym typeface="Calibri"/>
              </a:rPr>
              <a:t>Rapidité</a:t>
            </a:r>
            <a:r>
              <a:rPr b="0" i="0" lang="en-US" sz="2700" u="none" cap="none" strike="noStrike">
                <a:solidFill>
                  <a:schemeClr val="dk1"/>
                </a:solidFill>
                <a:latin typeface="Calibri"/>
                <a:ea typeface="Calibri"/>
                <a:cs typeface="Calibri"/>
                <a:sym typeface="Calibri"/>
              </a:rPr>
              <a:t>, et </a:t>
            </a:r>
            <a:r>
              <a:rPr b="0" i="0" lang="en-US" sz="2700" u="none" cap="none" strike="noStrike">
                <a:solidFill>
                  <a:srgbClr val="538ED3"/>
                </a:solidFill>
                <a:latin typeface="Calibri"/>
                <a:ea typeface="Calibri"/>
                <a:cs typeface="Calibri"/>
                <a:sym typeface="Calibri"/>
              </a:rPr>
              <a:t>facilité </a:t>
            </a:r>
            <a:r>
              <a:rPr b="0" i="0" lang="en-US" sz="2700" u="none" cap="none" strike="noStrike">
                <a:solidFill>
                  <a:schemeClr val="dk1"/>
                </a:solidFill>
                <a:latin typeface="Calibri"/>
                <a:ea typeface="Calibri"/>
                <a:cs typeface="Calibri"/>
                <a:sym typeface="Calibri"/>
              </a:rPr>
              <a:t>de mise en œuvre sur des circuits</a:t>
            </a:r>
            <a:endParaRPr b="0" i="0" sz="2700" u="none" cap="none" strike="noStrike">
              <a:solidFill>
                <a:schemeClr val="dk1"/>
              </a:solidFill>
              <a:latin typeface="Calibri"/>
              <a:ea typeface="Calibri"/>
              <a:cs typeface="Calibri"/>
              <a:sym typeface="Calibri"/>
            </a:endParaRPr>
          </a:p>
          <a:p>
            <a:pPr indent="-287019" lvl="1" marL="756285" marR="766445" rtl="0" algn="l">
              <a:lnSpc>
                <a:spcPct val="107900"/>
              </a:lnSpc>
              <a:spcBef>
                <a:spcPts val="48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Se basent sur des fonctions mathématiques simples :  </a:t>
            </a:r>
            <a:r>
              <a:rPr b="0" i="0" lang="en-US" sz="2400" u="none" cap="none" strike="noStrike">
                <a:solidFill>
                  <a:srgbClr val="FF0000"/>
                </a:solidFill>
                <a:latin typeface="Calibri"/>
                <a:ea typeface="Calibri"/>
                <a:cs typeface="Calibri"/>
                <a:sym typeface="Calibri"/>
              </a:rPr>
              <a:t>Permutations</a:t>
            </a:r>
            <a:r>
              <a:rPr b="0" i="0" lang="en-US" sz="2400" u="none" cap="none" strike="noStrike">
                <a:solidFill>
                  <a:schemeClr val="dk1"/>
                </a:solidFill>
                <a:latin typeface="Calibri"/>
                <a:ea typeface="Calibri"/>
                <a:cs typeface="Calibri"/>
                <a:sym typeface="Calibri"/>
              </a:rPr>
              <a:t>, </a:t>
            </a:r>
            <a:r>
              <a:rPr b="0" i="0" lang="en-US" sz="2400" u="none" cap="none" strike="noStrike">
                <a:solidFill>
                  <a:srgbClr val="FF0000"/>
                </a:solidFill>
                <a:latin typeface="Calibri"/>
                <a:ea typeface="Calibri"/>
                <a:cs typeface="Calibri"/>
                <a:sym typeface="Calibri"/>
              </a:rPr>
              <a:t>XOR</a:t>
            </a:r>
            <a:r>
              <a:rPr b="0" i="0" lang="en-US" sz="2400" u="none" cap="none" strike="noStrike">
                <a:solidFill>
                  <a:schemeClr val="dk1"/>
                </a:solidFill>
                <a:latin typeface="Calibri"/>
                <a:ea typeface="Calibri"/>
                <a:cs typeface="Calibri"/>
                <a:sym typeface="Calibri"/>
              </a:rPr>
              <a:t>, </a:t>
            </a:r>
            <a:r>
              <a:rPr b="0" i="0" lang="en-US" sz="2400" u="none" cap="none" strike="noStrike">
                <a:solidFill>
                  <a:srgbClr val="FF0000"/>
                </a:solidFill>
                <a:latin typeface="Calibri"/>
                <a:ea typeface="Calibri"/>
                <a:cs typeface="Calibri"/>
                <a:sym typeface="Calibri"/>
              </a:rPr>
              <a:t>décalage</a:t>
            </a:r>
            <a:endParaRPr b="0" i="0" sz="2400" u="none" cap="none" strike="noStrike">
              <a:solidFill>
                <a:schemeClr val="dk1"/>
              </a:solidFill>
              <a:latin typeface="Calibri"/>
              <a:ea typeface="Calibri"/>
              <a:cs typeface="Calibri"/>
              <a:sym typeface="Calibri"/>
            </a:endParaRPr>
          </a:p>
          <a:p>
            <a:pPr indent="-287019" lvl="1" marL="756285" marR="0" rtl="0" algn="l">
              <a:lnSpc>
                <a:spcPct val="100000"/>
              </a:lnSpc>
              <a:spcBef>
                <a:spcPts val="53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1000 fois plus rapides que les algorithmes asymétriques.</a:t>
            </a:r>
            <a:endParaRPr b="0" i="0" sz="2400" u="none" cap="none" strike="noStrike">
              <a:solidFill>
                <a:schemeClr val="dk1"/>
              </a:solidFill>
              <a:latin typeface="Calibri"/>
              <a:ea typeface="Calibri"/>
              <a:cs typeface="Calibri"/>
              <a:sym typeface="Calibri"/>
            </a:endParaRPr>
          </a:p>
        </p:txBody>
      </p:sp>
      <p:sp>
        <p:nvSpPr>
          <p:cNvPr id="161" name="Google Shape;161;p8"/>
          <p:cNvSpPr txBox="1"/>
          <p:nvPr>
            <p:ph type="title"/>
          </p:nvPr>
        </p:nvSpPr>
        <p:spPr>
          <a:xfrm>
            <a:off x="1066800" y="564177"/>
            <a:ext cx="4666237"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lang="en-US" sz="4000">
                <a:solidFill>
                  <a:srgbClr val="C00000"/>
                </a:solidFill>
              </a:rPr>
              <a:t>Caractéristiques</a:t>
            </a:r>
            <a:endParaRPr/>
          </a:p>
        </p:txBody>
      </p:sp>
      <p:sp>
        <p:nvSpPr>
          <p:cNvPr id="162" name="Google Shape;162;p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txBox="1"/>
          <p:nvPr>
            <p:ph type="title"/>
          </p:nvPr>
        </p:nvSpPr>
        <p:spPr>
          <a:xfrm>
            <a:off x="1572010" y="380239"/>
            <a:ext cx="5999987" cy="566822"/>
          </a:xfrm>
          <a:prstGeom prst="rect">
            <a:avLst/>
          </a:prstGeom>
          <a:noFill/>
          <a:ln>
            <a:noFill/>
          </a:ln>
        </p:spPr>
        <p:txBody>
          <a:bodyPr anchorCtr="0" anchor="ctr" bIns="0" lIns="0" spcFirstLastPara="1" rIns="0" wrap="square" tIns="12700">
            <a:spAutoFit/>
          </a:bodyPr>
          <a:lstStyle/>
          <a:p>
            <a:pPr indent="0" lvl="0" marL="274320" rtl="0" algn="l">
              <a:lnSpc>
                <a:spcPct val="100000"/>
              </a:lnSpc>
              <a:spcBef>
                <a:spcPts val="0"/>
              </a:spcBef>
              <a:spcAft>
                <a:spcPts val="0"/>
              </a:spcAft>
              <a:buClr>
                <a:srgbClr val="C00000"/>
              </a:buClr>
              <a:buSzPts val="3600"/>
              <a:buFont typeface="Trebuchet MS"/>
              <a:buNone/>
            </a:pPr>
            <a:r>
              <a:rPr b="1" lang="en-US" sz="3600">
                <a:solidFill>
                  <a:srgbClr val="C00000"/>
                </a:solidFill>
                <a:latin typeface="Trebuchet MS"/>
                <a:ea typeface="Trebuchet MS"/>
                <a:cs typeface="Trebuchet MS"/>
                <a:sym typeface="Trebuchet MS"/>
              </a:rPr>
              <a:t>Les différentes techniques</a:t>
            </a:r>
            <a:endParaRPr/>
          </a:p>
        </p:txBody>
      </p:sp>
      <p:sp>
        <p:nvSpPr>
          <p:cNvPr id="168" name="Google Shape;168;p9"/>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69" name="Google Shape;169;p9"/>
          <p:cNvSpPr txBox="1"/>
          <p:nvPr/>
        </p:nvSpPr>
        <p:spPr>
          <a:xfrm>
            <a:off x="457200" y="1295400"/>
            <a:ext cx="8458201" cy="4873129"/>
          </a:xfrm>
          <a:prstGeom prst="rect">
            <a:avLst/>
          </a:prstGeom>
          <a:noFill/>
          <a:ln>
            <a:noFill/>
          </a:ln>
        </p:spPr>
        <p:txBody>
          <a:bodyPr anchorCtr="0" anchor="t" bIns="0" lIns="0" spcFirstLastPara="1" rIns="0" wrap="square" tIns="91425">
            <a:spAutoFit/>
          </a:bodyPr>
          <a:lstStyle/>
          <a:p>
            <a:pPr indent="0" lvl="0" marL="1270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Chiffrement par	blocs</a:t>
            </a:r>
            <a:endParaRPr b="0" i="0" sz="2400" u="none" cap="none" strike="noStrike">
              <a:solidFill>
                <a:schemeClr val="dk1"/>
              </a:solidFill>
              <a:latin typeface="Calibri"/>
              <a:ea typeface="Calibri"/>
              <a:cs typeface="Calibri"/>
              <a:sym typeface="Calibri"/>
            </a:endParaRPr>
          </a:p>
          <a:p>
            <a:pPr indent="-287019" lvl="1" marL="756285" marR="0" rtl="0" algn="just">
              <a:spcBef>
                <a:spcPts val="71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Le texte clair M est divisé en blocs de tailles fixes</a:t>
            </a:r>
            <a:endParaRPr/>
          </a:p>
          <a:p>
            <a:pPr indent="-287019" lvl="1" marL="756285" marR="0" rtl="0" algn="just">
              <a:spcBef>
                <a:spcPts val="71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On chiffre un bloc à la fois</a:t>
            </a:r>
            <a:endParaRPr/>
          </a:p>
          <a:p>
            <a:pPr indent="-287019" lvl="0" marL="756285" marR="170180" rtl="0" algn="just">
              <a:spcBef>
                <a:spcPts val="695"/>
              </a:spcBef>
              <a:spcAft>
                <a:spcPts val="0"/>
              </a:spcAft>
              <a:buClr>
                <a:srgbClr val="D20000"/>
              </a:buClr>
              <a:buSzPts val="2400"/>
              <a:buFont typeface="Calibri"/>
              <a:buChar char="▪"/>
            </a:pPr>
            <a:r>
              <a:rPr b="1" i="0" lang="en-US" sz="2400" u="none" cap="none" strike="noStrike">
                <a:solidFill>
                  <a:schemeClr val="dk1"/>
                </a:solidFill>
                <a:latin typeface="Calibri"/>
                <a:ea typeface="Calibri"/>
                <a:cs typeface="Calibri"/>
                <a:sym typeface="Calibri"/>
              </a:rPr>
              <a:t>Exemples</a:t>
            </a:r>
            <a:r>
              <a:rPr b="0" i="0" lang="en-US" sz="2400" u="none" cap="none" strike="noStrike">
                <a:solidFill>
                  <a:schemeClr val="dk1"/>
                </a:solidFill>
                <a:latin typeface="Calibri"/>
                <a:ea typeface="Calibri"/>
                <a:cs typeface="Calibri"/>
                <a:sym typeface="Calibri"/>
              </a:rPr>
              <a:t> : DES(64 bits), AES(128 bits), IDEA(128 bits), etc.</a:t>
            </a:r>
            <a:endParaRPr b="0" i="0" sz="2400" u="none" cap="none" strike="noStrike">
              <a:solidFill>
                <a:schemeClr val="dk1"/>
              </a:solidFill>
              <a:latin typeface="Calibri"/>
              <a:ea typeface="Calibri"/>
              <a:cs typeface="Calibri"/>
              <a:sym typeface="Calibri"/>
            </a:endParaRPr>
          </a:p>
          <a:p>
            <a:pPr indent="0" lvl="0" marL="100013" marR="170180" rtl="0" algn="just">
              <a:spcBef>
                <a:spcPts val="695"/>
              </a:spcBef>
              <a:spcAft>
                <a:spcPts val="0"/>
              </a:spcAft>
              <a:buNone/>
            </a:pPr>
            <a:r>
              <a:rPr b="1" i="0" lang="en-US" sz="2400" u="none" cap="none" strike="noStrike">
                <a:solidFill>
                  <a:schemeClr val="dk1"/>
                </a:solidFill>
                <a:latin typeface="Calibri"/>
                <a:ea typeface="Calibri"/>
                <a:cs typeface="Calibri"/>
                <a:sym typeface="Calibri"/>
              </a:rPr>
              <a:t>Chiffrement par flot </a:t>
            </a:r>
            <a:endParaRPr/>
          </a:p>
          <a:p>
            <a:pPr indent="-342900" lvl="0" marL="717550" marR="170180" rtl="0" algn="just">
              <a:spcBef>
                <a:spcPts val="695"/>
              </a:spcBef>
              <a:spcAft>
                <a:spcPts val="0"/>
              </a:spcAft>
              <a:buClr>
                <a:srgbClr val="D20000"/>
              </a:buClr>
              <a:buSzPts val="2400"/>
              <a:buFont typeface="Arial"/>
              <a:buChar char="•"/>
            </a:pPr>
            <a:r>
              <a:rPr b="0" i="0" lang="en-US" sz="2400" u="none" cap="none" strike="noStrike">
                <a:solidFill>
                  <a:schemeClr val="dk1"/>
                </a:solidFill>
                <a:latin typeface="Calibri"/>
                <a:ea typeface="Calibri"/>
                <a:cs typeface="Calibri"/>
                <a:sym typeface="Calibri"/>
              </a:rPr>
              <a:t>Le texte est en petits blocs, un bit ou un octet.</a:t>
            </a:r>
            <a:endParaRPr b="1" i="0" sz="2400" u="none" cap="none" strike="noStrike">
              <a:solidFill>
                <a:schemeClr val="dk1"/>
              </a:solidFill>
              <a:latin typeface="Calibri"/>
              <a:ea typeface="Calibri"/>
              <a:cs typeface="Calibri"/>
              <a:sym typeface="Calibri"/>
            </a:endParaRPr>
          </a:p>
          <a:p>
            <a:pPr indent="-342900" lvl="0" marL="717550" marR="170180" rtl="0" algn="just">
              <a:spcBef>
                <a:spcPts val="695"/>
              </a:spcBef>
              <a:spcAft>
                <a:spcPts val="0"/>
              </a:spcAft>
              <a:buClr>
                <a:srgbClr val="D20000"/>
              </a:buClr>
              <a:buSzPts val="2400"/>
              <a:buFont typeface="Arial"/>
              <a:buChar char="•"/>
            </a:pPr>
            <a:r>
              <a:rPr b="0" i="0" lang="en-US" sz="2400" u="none" cap="none" strike="noStrike">
                <a:solidFill>
                  <a:schemeClr val="dk1"/>
                </a:solidFill>
                <a:latin typeface="Calibri"/>
                <a:ea typeface="Calibri"/>
                <a:cs typeface="Calibri"/>
                <a:sym typeface="Calibri"/>
              </a:rPr>
              <a:t>On utilise une clé de chiffrement différente pour chaque bit ou octet </a:t>
            </a:r>
            <a:endParaRPr/>
          </a:p>
          <a:p>
            <a:pPr indent="-342900" lvl="0" marL="717550" marR="170180" rtl="0" algn="just">
              <a:spcBef>
                <a:spcPts val="695"/>
              </a:spcBef>
              <a:spcAft>
                <a:spcPts val="0"/>
              </a:spcAft>
              <a:buClr>
                <a:srgbClr val="D20000"/>
              </a:buClr>
              <a:buSzPts val="2400"/>
              <a:buFont typeface="Arial"/>
              <a:buChar char="•"/>
            </a:pPr>
            <a:r>
              <a:rPr b="0" i="0" lang="en-US" sz="2400" u="none" cap="none" strike="noStrike">
                <a:solidFill>
                  <a:schemeClr val="dk1"/>
                </a:solidFill>
                <a:latin typeface="Calibri"/>
                <a:ea typeface="Calibri"/>
                <a:cs typeface="Calibri"/>
                <a:sym typeface="Calibri"/>
              </a:rPr>
              <a:t>Exemple : RC4</a:t>
            </a:r>
            <a:endParaRPr b="0" i="0" sz="2400" u="none" cap="none" strike="noStrike">
              <a:solidFill>
                <a:schemeClr val="dk1"/>
              </a:solidFill>
              <a:latin typeface="Calibri"/>
              <a:ea typeface="Calibri"/>
              <a:cs typeface="Calibri"/>
              <a:sym typeface="Calibri"/>
            </a:endParaRPr>
          </a:p>
          <a:p>
            <a:pPr indent="0" lvl="0" marL="100013" marR="170180" rtl="0" algn="just">
              <a:spcBef>
                <a:spcPts val="695"/>
              </a:spcBef>
              <a:spcAft>
                <a:spcPts val="0"/>
              </a:spcAft>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type="title"/>
          </p:nvPr>
        </p:nvSpPr>
        <p:spPr>
          <a:xfrm>
            <a:off x="2272664" y="380238"/>
            <a:ext cx="4939030"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3600"/>
              <a:buFont typeface="Trebuchet MS"/>
              <a:buNone/>
            </a:pPr>
            <a:r>
              <a:rPr lang="en-US">
                <a:solidFill>
                  <a:srgbClr val="C00000"/>
                </a:solidFill>
              </a:rPr>
              <a:t>Exemple d’algorithmes</a:t>
            </a:r>
            <a:endParaRPr/>
          </a:p>
        </p:txBody>
      </p:sp>
      <p:sp>
        <p:nvSpPr>
          <p:cNvPr id="175" name="Google Shape;175;p10"/>
          <p:cNvSpPr txBox="1"/>
          <p:nvPr>
            <p:ph idx="12" type="sldNum"/>
          </p:nvPr>
        </p:nvSpPr>
        <p:spPr>
          <a:xfrm>
            <a:off x="6457950" y="6356353"/>
            <a:ext cx="2057400" cy="365125"/>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176" name="Google Shape;176;p10"/>
          <p:cNvPicPr preferRelativeResize="0"/>
          <p:nvPr/>
        </p:nvPicPr>
        <p:blipFill rotWithShape="1">
          <a:blip r:embed="rId3">
            <a:alphaModFix/>
          </a:blip>
          <a:srcRect b="0" l="0" r="0" t="0"/>
          <a:stretch/>
        </p:blipFill>
        <p:spPr>
          <a:xfrm>
            <a:off x="490337" y="1364983"/>
            <a:ext cx="8176641" cy="530085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1"/>
          <p:cNvSpPr txBox="1"/>
          <p:nvPr>
            <p:ph type="title"/>
          </p:nvPr>
        </p:nvSpPr>
        <p:spPr>
          <a:xfrm>
            <a:off x="1088767" y="514623"/>
            <a:ext cx="615023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Avantages &amp; limitations</a:t>
            </a:r>
            <a:endParaRPr/>
          </a:p>
        </p:txBody>
      </p:sp>
      <p:sp>
        <p:nvSpPr>
          <p:cNvPr id="182" name="Google Shape;182;p1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83" name="Google Shape;183;p11"/>
          <p:cNvSpPr txBox="1"/>
          <p:nvPr/>
        </p:nvSpPr>
        <p:spPr>
          <a:xfrm>
            <a:off x="225958" y="1433577"/>
            <a:ext cx="8545830" cy="4705775"/>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0" i="0" lang="en-US" sz="2800" u="none" cap="none" strike="noStrike">
                <a:solidFill>
                  <a:schemeClr val="dk1"/>
                </a:solidFill>
                <a:latin typeface="Calibri"/>
                <a:ea typeface="Calibri"/>
                <a:cs typeface="Calibri"/>
                <a:sym typeface="Calibri"/>
              </a:rPr>
              <a:t>A</a:t>
            </a:r>
            <a:r>
              <a:rPr b="1" i="0" lang="en-US" sz="2700" u="none" cap="none" strike="noStrike">
                <a:solidFill>
                  <a:schemeClr val="dk1"/>
                </a:solidFill>
                <a:latin typeface="Calibri"/>
                <a:ea typeface="Calibri"/>
                <a:cs typeface="Calibri"/>
                <a:sym typeface="Calibri"/>
              </a:rPr>
              <a:t>vantages</a:t>
            </a:r>
            <a:endParaRPr b="0" i="0" sz="2700" u="none" cap="none" strike="noStrike">
              <a:solidFill>
                <a:schemeClr val="dk1"/>
              </a:solidFill>
              <a:latin typeface="Calibri"/>
              <a:ea typeface="Calibri"/>
              <a:cs typeface="Calibri"/>
              <a:sym typeface="Calibri"/>
            </a:endParaRPr>
          </a:p>
          <a:p>
            <a:pPr indent="-287019" lvl="0" marL="768350" marR="0" rtl="0" algn="l">
              <a:lnSpc>
                <a:spcPct val="119583"/>
              </a:lnSpc>
              <a:spcBef>
                <a:spcPts val="15"/>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Confidentialité des données</a:t>
            </a:r>
            <a:endParaRPr b="0" i="0" sz="2400" u="none" cap="none" strike="noStrike">
              <a:solidFill>
                <a:schemeClr val="dk1"/>
              </a:solidFill>
              <a:latin typeface="Calibri"/>
              <a:ea typeface="Calibri"/>
              <a:cs typeface="Calibri"/>
              <a:sym typeface="Calibri"/>
            </a:endParaRPr>
          </a:p>
          <a:p>
            <a:pPr indent="-287019" lvl="0" marL="768350" marR="0" rtl="0" algn="l">
              <a:lnSpc>
                <a:spcPct val="119642"/>
              </a:lnSpc>
              <a:spcBef>
                <a:spcPts val="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Rapidité, et facilité de mise en œuvre sur des </a:t>
            </a:r>
            <a:r>
              <a:rPr b="0" i="0" lang="en-US" sz="2800" u="none" cap="none" strike="noStrike">
                <a:solidFill>
                  <a:schemeClr val="dk1"/>
                </a:solidFill>
                <a:latin typeface="Calibri"/>
                <a:ea typeface="Calibri"/>
                <a:cs typeface="Calibri"/>
                <a:sym typeface="Calibri"/>
              </a:rPr>
              <a:t>circuits.</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15"/>
              </a:spcBef>
              <a:spcAft>
                <a:spcPts val="0"/>
              </a:spcAft>
              <a:buClr>
                <a:srgbClr val="D20000"/>
              </a:buClr>
              <a:buSzPts val="2950"/>
              <a:buFont typeface="Helvetica Neue"/>
              <a:buNone/>
            </a:pPr>
            <a:r>
              <a:t/>
            </a:r>
            <a:endParaRPr b="0" i="0" sz="2950" u="none" cap="none" strike="noStrike">
              <a:solidFill>
                <a:schemeClr val="dk1"/>
              </a:solidFill>
              <a:latin typeface="Calibri"/>
              <a:ea typeface="Calibri"/>
              <a:cs typeface="Calibri"/>
              <a:sym typeface="Calibri"/>
            </a:endParaRPr>
          </a:p>
          <a:p>
            <a:pPr indent="0" lvl="0" marL="12700" marR="0" rtl="0" algn="l">
              <a:lnSpc>
                <a:spcPct val="100000"/>
              </a:lnSpc>
              <a:spcBef>
                <a:spcPts val="0"/>
              </a:spcBef>
              <a:spcAft>
                <a:spcPts val="0"/>
              </a:spcAft>
              <a:buNone/>
            </a:pPr>
            <a:r>
              <a:rPr b="1" i="0" lang="en-US" sz="2700" u="none" cap="none" strike="noStrike">
                <a:solidFill>
                  <a:schemeClr val="dk1"/>
                </a:solidFill>
                <a:latin typeface="Calibri"/>
                <a:ea typeface="Calibri"/>
                <a:cs typeface="Calibri"/>
                <a:sym typeface="Calibri"/>
              </a:rPr>
              <a:t>Limitations</a:t>
            </a:r>
            <a:endParaRPr b="0" i="0" sz="2700" u="none" cap="none" strike="noStrike">
              <a:solidFill>
                <a:schemeClr val="dk1"/>
              </a:solidFill>
              <a:latin typeface="Calibri"/>
              <a:ea typeface="Calibri"/>
              <a:cs typeface="Calibri"/>
              <a:sym typeface="Calibri"/>
            </a:endParaRPr>
          </a:p>
          <a:p>
            <a:pPr indent="-287019" lvl="0" marL="768350" marR="0" rtl="0" algn="l">
              <a:lnSpc>
                <a:spcPct val="100000"/>
              </a:lnSpc>
              <a:spcBef>
                <a:spcPts val="25"/>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Problématique de la distribution des clés de cryptage</a:t>
            </a:r>
            <a:endParaRPr/>
          </a:p>
          <a:p>
            <a:pPr indent="-287019" lvl="0" marL="768350" marR="5080" rtl="0" algn="l">
              <a:lnSpc>
                <a:spcPct val="100000"/>
              </a:lnSpc>
              <a:spcBef>
                <a:spcPts val="5"/>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Nécessite d’établir un canal sécurisé pour la transmission  de la clé.</a:t>
            </a:r>
            <a:endParaRPr b="0" i="0" sz="2400" u="none" cap="none" strike="noStrike">
              <a:solidFill>
                <a:schemeClr val="dk1"/>
              </a:solidFill>
              <a:latin typeface="Calibri"/>
              <a:ea typeface="Calibri"/>
              <a:cs typeface="Calibri"/>
              <a:sym typeface="Calibri"/>
            </a:endParaRPr>
          </a:p>
          <a:p>
            <a:pPr indent="-287019" lvl="0" marL="768350" marR="0" rtl="0" algn="l">
              <a:lnSpc>
                <a:spcPct val="100000"/>
              </a:lnSpc>
              <a:spcBef>
                <a:spcPts val="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La non-répudiation n’est pas assurée</a:t>
            </a:r>
            <a:endParaRPr b="0" i="0" sz="2400" u="none" cap="none" strike="noStrike">
              <a:solidFill>
                <a:schemeClr val="dk1"/>
              </a:solidFill>
              <a:latin typeface="Calibri"/>
              <a:ea typeface="Calibri"/>
              <a:cs typeface="Calibri"/>
              <a:sym typeface="Calibri"/>
            </a:endParaRPr>
          </a:p>
          <a:p>
            <a:pPr indent="-287019" lvl="0" marL="768350" marR="0" rtl="0" algn="l">
              <a:lnSpc>
                <a:spcPct val="100000"/>
              </a:lnSpc>
              <a:spcBef>
                <a:spcPts val="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Nombre de clés échangées</a:t>
            </a:r>
            <a:endParaRPr b="0" i="0" sz="2400" u="none" cap="none" strike="noStrike">
              <a:solidFill>
                <a:schemeClr val="dk1"/>
              </a:solidFill>
              <a:latin typeface="Calibri"/>
              <a:ea typeface="Calibri"/>
              <a:cs typeface="Calibri"/>
              <a:sym typeface="Calibri"/>
            </a:endParaRPr>
          </a:p>
          <a:p>
            <a:pPr indent="-266065" lvl="1" marL="1179830" marR="0" rtl="0" algn="l">
              <a:lnSpc>
                <a:spcPct val="100000"/>
              </a:lnSpc>
              <a:spcBef>
                <a:spcPts val="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Autant de clés que de récepteurs</a:t>
            </a:r>
            <a:endParaRPr b="0" i="0" sz="2400" u="none" cap="none" strike="noStrike">
              <a:solidFill>
                <a:schemeClr val="dk1"/>
              </a:solidFill>
              <a:latin typeface="Calibri"/>
              <a:ea typeface="Calibri"/>
              <a:cs typeface="Calibri"/>
              <a:sym typeface="Calibri"/>
            </a:endParaRPr>
          </a:p>
          <a:p>
            <a:pPr indent="-266065" lvl="1" marL="1179830" marR="0" rtl="0" algn="l">
              <a:lnSpc>
                <a:spcPct val="100000"/>
              </a:lnSpc>
              <a:spcBef>
                <a:spcPts val="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Pour n participants: n(n-1) clés doivent être générées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2"/>
          <p:cNvSpPr txBox="1"/>
          <p:nvPr>
            <p:ph type="title"/>
          </p:nvPr>
        </p:nvSpPr>
        <p:spPr>
          <a:xfrm>
            <a:off x="1066800" y="499978"/>
            <a:ext cx="8382000"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3600"/>
              <a:buFont typeface="Calibri"/>
              <a:buNone/>
            </a:pPr>
            <a:r>
              <a:rPr b="1" lang="en-US" sz="3600">
                <a:solidFill>
                  <a:srgbClr val="C00000"/>
                </a:solidFill>
              </a:rPr>
              <a:t>Cryptographie Asymétrique</a:t>
            </a:r>
            <a:endParaRPr/>
          </a:p>
        </p:txBody>
      </p:sp>
      <p:sp>
        <p:nvSpPr>
          <p:cNvPr id="189" name="Google Shape;189;p1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190" name="Google Shape;190;p12"/>
          <p:cNvSpPr txBox="1"/>
          <p:nvPr/>
        </p:nvSpPr>
        <p:spPr>
          <a:xfrm>
            <a:off x="357331" y="1416560"/>
            <a:ext cx="8336915" cy="4521109"/>
          </a:xfrm>
          <a:prstGeom prst="rect">
            <a:avLst/>
          </a:prstGeom>
          <a:noFill/>
          <a:ln>
            <a:noFill/>
          </a:ln>
        </p:spPr>
        <p:txBody>
          <a:bodyPr anchorCtr="0" anchor="t" bIns="0" lIns="0" spcFirstLastPara="1" rIns="0" wrap="square" tIns="12050">
            <a:spAutoFit/>
          </a:bodyPr>
          <a:lstStyle/>
          <a:p>
            <a:pPr indent="-457200" lvl="0" marL="469900" marR="5715" rtl="0" algn="l">
              <a:lnSpc>
                <a:spcPct val="100000"/>
              </a:lnSpc>
              <a:spcBef>
                <a:spcPts val="0"/>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Chiffrement à </a:t>
            </a:r>
            <a:r>
              <a:rPr b="0" i="0" lang="en-US" sz="2800" u="none" cap="none" strike="noStrike">
                <a:solidFill>
                  <a:srgbClr val="006FC0"/>
                </a:solidFill>
                <a:latin typeface="Calibri"/>
                <a:ea typeface="Calibri"/>
                <a:cs typeface="Calibri"/>
                <a:sym typeface="Calibri"/>
              </a:rPr>
              <a:t>clé publique</a:t>
            </a:r>
            <a:r>
              <a:rPr b="0" i="0" lang="en-US" sz="2800" u="none" cap="none" strike="noStrike">
                <a:solidFill>
                  <a:schemeClr val="dk1"/>
                </a:solidFill>
                <a:latin typeface="Calibri"/>
                <a:ea typeface="Calibri"/>
                <a:cs typeface="Calibri"/>
                <a:sym typeface="Calibri"/>
              </a:rPr>
              <a:t>/à	</a:t>
            </a:r>
            <a:r>
              <a:rPr b="0" i="0" lang="en-US" sz="2800" u="none" cap="none" strike="noStrike">
                <a:solidFill>
                  <a:srgbClr val="006FC0"/>
                </a:solidFill>
                <a:latin typeface="Calibri"/>
                <a:ea typeface="Calibri"/>
                <a:cs typeface="Calibri"/>
                <a:sym typeface="Calibri"/>
              </a:rPr>
              <a:t>paire de  clés.</a:t>
            </a:r>
            <a:endParaRPr b="0" i="0" sz="2800" u="none" cap="none" strike="noStrike">
              <a:solidFill>
                <a:schemeClr val="dk1"/>
              </a:solidFill>
              <a:latin typeface="Calibri"/>
              <a:ea typeface="Calibri"/>
              <a:cs typeface="Calibri"/>
              <a:sym typeface="Calibri"/>
            </a:endParaRPr>
          </a:p>
          <a:p>
            <a:pPr indent="-457200" lvl="0" marL="469900" marR="0" rtl="0" algn="l">
              <a:lnSpc>
                <a:spcPct val="100000"/>
              </a:lnSpc>
              <a:spcBef>
                <a:spcPts val="1200"/>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Deux clés:</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620"/>
              </a:spcBef>
              <a:spcAft>
                <a:spcPts val="0"/>
              </a:spcAft>
              <a:buClr>
                <a:srgbClr val="D20000"/>
              </a:buClr>
              <a:buSzPts val="2400"/>
              <a:buFont typeface="Helvetica Neue"/>
              <a:buChar char="▪"/>
            </a:pPr>
            <a:r>
              <a:rPr b="1" i="0" lang="en-US" sz="2000" u="none" cap="none" strike="noStrike">
                <a:solidFill>
                  <a:srgbClr val="006FC0"/>
                </a:solidFill>
                <a:latin typeface="Calibri"/>
                <a:ea typeface="Calibri"/>
                <a:cs typeface="Calibri"/>
                <a:sym typeface="Calibri"/>
              </a:rPr>
              <a:t>Clé publique</a:t>
            </a:r>
            <a:r>
              <a:rPr b="0" i="0" lang="en-US" sz="2000" u="none" cap="none" strike="noStrike">
                <a:solidFill>
                  <a:schemeClr val="dk1"/>
                </a:solidFill>
                <a:latin typeface="Calibri"/>
                <a:ea typeface="Calibri"/>
                <a:cs typeface="Calibri"/>
                <a:sym typeface="Calibri"/>
              </a:rPr>
              <a:t>: Connue par tout le monde, et peut être utilisée pour</a:t>
            </a:r>
            <a:endParaRPr b="0" i="0" sz="2000" u="none" cap="none" strike="noStrike">
              <a:solidFill>
                <a:schemeClr val="dk1"/>
              </a:solidFill>
              <a:latin typeface="Calibri"/>
              <a:ea typeface="Calibri"/>
              <a:cs typeface="Calibri"/>
              <a:sym typeface="Calibri"/>
            </a:endParaRPr>
          </a:p>
          <a:p>
            <a:pPr indent="0" lvl="0" marL="756285" marR="0" rtl="0" algn="l">
              <a:lnSpc>
                <a:spcPct val="100000"/>
              </a:lnSpc>
              <a:spcBef>
                <a:spcPts val="5"/>
              </a:spcBef>
              <a:spcAft>
                <a:spcPts val="0"/>
              </a:spcAft>
              <a:buNone/>
            </a:pPr>
            <a:r>
              <a:rPr b="0" i="0" lang="en-US" sz="2000" u="none" cap="none" strike="noStrike">
                <a:solidFill>
                  <a:schemeClr val="dk1"/>
                </a:solidFill>
                <a:latin typeface="Calibri"/>
                <a:ea typeface="Calibri"/>
                <a:cs typeface="Calibri"/>
                <a:sym typeface="Calibri"/>
              </a:rPr>
              <a:t>crypter des messages ou pour vérifier la signature.</a:t>
            </a:r>
            <a:endParaRPr/>
          </a:p>
          <a:p>
            <a:pPr indent="-287019" lvl="1" marL="756285" marR="5080" rtl="0" algn="l">
              <a:lnSpc>
                <a:spcPct val="100000"/>
              </a:lnSpc>
              <a:spcBef>
                <a:spcPts val="600"/>
              </a:spcBef>
              <a:spcAft>
                <a:spcPts val="0"/>
              </a:spcAft>
              <a:buClr>
                <a:srgbClr val="D20000"/>
              </a:buClr>
              <a:buSzPts val="2400"/>
              <a:buFont typeface="Helvetica Neue"/>
              <a:buChar char="▪"/>
            </a:pPr>
            <a:r>
              <a:rPr b="1" i="0" lang="en-US" sz="2000" u="none" cap="none" strike="noStrike">
                <a:solidFill>
                  <a:srgbClr val="006FC0"/>
                </a:solidFill>
                <a:latin typeface="Calibri"/>
                <a:ea typeface="Calibri"/>
                <a:cs typeface="Calibri"/>
                <a:sym typeface="Calibri"/>
              </a:rPr>
              <a:t>Clé	privée</a:t>
            </a:r>
            <a:r>
              <a:rPr b="0" i="0" lang="en-US" sz="2000" u="none" cap="none" strike="noStrike">
                <a:solidFill>
                  <a:schemeClr val="dk1"/>
                </a:solidFill>
                <a:latin typeface="Calibri"/>
                <a:ea typeface="Calibri"/>
                <a:cs typeface="Calibri"/>
                <a:sym typeface="Calibri"/>
              </a:rPr>
              <a:t>:	Connue	par	le	récepteur	uniquement,	utilisée	pour  décrypter les messages, ou pour créer la signature.</a:t>
            </a:r>
            <a:endParaRPr/>
          </a:p>
          <a:p>
            <a:pPr indent="-457200" lvl="0" marL="469900" marR="6985" rtl="0" algn="l">
              <a:lnSpc>
                <a:spcPct val="100000"/>
              </a:lnSpc>
              <a:spcBef>
                <a:spcPts val="1780"/>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Si on crypte avec l’une de ces clés, le décryptage  se fait uniquement avec l’autre.</a:t>
            </a:r>
            <a:endParaRPr b="0" i="0" sz="2800" u="none" cap="none" strike="noStrike">
              <a:solidFill>
                <a:schemeClr val="dk1"/>
              </a:solidFill>
              <a:latin typeface="Calibri"/>
              <a:ea typeface="Calibri"/>
              <a:cs typeface="Calibri"/>
              <a:sym typeface="Calibri"/>
            </a:endParaRPr>
          </a:p>
          <a:p>
            <a:pPr indent="-457200" lvl="0" marL="469900" marR="5715" rtl="0" algn="l">
              <a:lnSpc>
                <a:spcPct val="100000"/>
              </a:lnSpc>
              <a:spcBef>
                <a:spcPts val="1200"/>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Impossible	de trouver	la clé privée	à partir de la  clé publique.</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3"/>
          <p:cNvSpPr txBox="1"/>
          <p:nvPr/>
        </p:nvSpPr>
        <p:spPr>
          <a:xfrm>
            <a:off x="291189" y="1267372"/>
            <a:ext cx="8531225" cy="1515415"/>
          </a:xfrm>
          <a:prstGeom prst="rect">
            <a:avLst/>
          </a:prstGeom>
          <a:noFill/>
          <a:ln>
            <a:noFill/>
          </a:ln>
        </p:spPr>
        <p:txBody>
          <a:bodyPr anchorCtr="0" anchor="t" bIns="0" lIns="0" spcFirstLastPara="1" rIns="0" wrap="square" tIns="69200">
            <a:spAutoFit/>
          </a:bodyPr>
          <a:lstStyle/>
          <a:p>
            <a:pPr indent="0" lvl="0" marL="12700" marR="0" rtl="0" algn="l">
              <a:lnSpc>
                <a:spcPct val="100000"/>
              </a:lnSpc>
              <a:spcBef>
                <a:spcPts val="0"/>
              </a:spcBef>
              <a:spcAft>
                <a:spcPts val="0"/>
              </a:spcAft>
              <a:buNone/>
            </a:pPr>
            <a:r>
              <a:rPr b="1" i="0" lang="en-US" sz="2800" u="none" cap="none" strike="noStrike">
                <a:solidFill>
                  <a:schemeClr val="dk1"/>
                </a:solidFill>
                <a:latin typeface="Calibri"/>
                <a:ea typeface="Calibri"/>
                <a:cs typeface="Calibri"/>
                <a:sym typeface="Calibri"/>
              </a:rPr>
              <a:t>Chiffrement Asymétrique</a:t>
            </a:r>
            <a:endParaRPr b="0" i="0" sz="2800" u="none" cap="none" strike="noStrike">
              <a:solidFill>
                <a:schemeClr val="dk1"/>
              </a:solidFill>
              <a:latin typeface="Calibri"/>
              <a:ea typeface="Calibri"/>
              <a:cs typeface="Calibri"/>
              <a:sym typeface="Calibri"/>
            </a:endParaRPr>
          </a:p>
          <a:p>
            <a:pPr indent="-285115" lvl="0" marL="754380" marR="5080" rtl="0" algn="just">
              <a:lnSpc>
                <a:spcPct val="80000"/>
              </a:lnSpc>
              <a:spcBef>
                <a:spcPts val="1010"/>
              </a:spcBef>
              <a:spcAft>
                <a:spcPts val="0"/>
              </a:spcAft>
              <a:buClr>
                <a:srgbClr val="D20000"/>
              </a:buClr>
              <a:buSzPts val="2400"/>
              <a:buFont typeface="Calibri"/>
              <a:buChar char="▪"/>
            </a:pPr>
            <a:r>
              <a:rPr b="0" i="0" lang="en-US" sz="2400" u="none" cap="none" strike="noStrike">
                <a:solidFill>
                  <a:schemeClr val="dk1"/>
                </a:solidFill>
                <a:latin typeface="Calibri"/>
                <a:ea typeface="Calibri"/>
                <a:cs typeface="Calibri"/>
                <a:sym typeface="Calibri"/>
              </a:rPr>
              <a:t>Clé publique utilisée pour le chiffrement: tout le  monde peut chiffrer, seul le détendeur de la clé  privée peut déchiffrer.</a:t>
            </a:r>
            <a:endParaRPr/>
          </a:p>
        </p:txBody>
      </p:sp>
      <p:pic>
        <p:nvPicPr>
          <p:cNvPr id="196" name="Google Shape;196;p13"/>
          <p:cNvPicPr preferRelativeResize="0"/>
          <p:nvPr/>
        </p:nvPicPr>
        <p:blipFill rotWithShape="1">
          <a:blip r:embed="rId3">
            <a:alphaModFix/>
          </a:blip>
          <a:srcRect b="0" l="0" r="0" t="0"/>
          <a:stretch/>
        </p:blipFill>
        <p:spPr>
          <a:xfrm>
            <a:off x="669645" y="3021459"/>
            <a:ext cx="8096250" cy="3044317"/>
          </a:xfrm>
          <a:prstGeom prst="rect">
            <a:avLst/>
          </a:prstGeom>
          <a:noFill/>
          <a:ln>
            <a:noFill/>
          </a:ln>
        </p:spPr>
      </p:pic>
      <p:sp>
        <p:nvSpPr>
          <p:cNvPr id="197" name="Google Shape;197;p13"/>
          <p:cNvSpPr txBox="1"/>
          <p:nvPr>
            <p:ph type="title"/>
          </p:nvPr>
        </p:nvSpPr>
        <p:spPr>
          <a:xfrm>
            <a:off x="1066800" y="423778"/>
            <a:ext cx="6022975"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3600"/>
              <a:buFont typeface="Calibri"/>
              <a:buNone/>
            </a:pPr>
            <a:r>
              <a:rPr b="1" lang="en-US" sz="3600">
                <a:solidFill>
                  <a:srgbClr val="C00000"/>
                </a:solidFill>
              </a:rPr>
              <a:t>Principe de fonctionnement</a:t>
            </a:r>
            <a:endParaRPr/>
          </a:p>
        </p:txBody>
      </p:sp>
      <p:sp>
        <p:nvSpPr>
          <p:cNvPr id="198" name="Google Shape;198;p1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nvSpPr>
        <p:spPr>
          <a:xfrm>
            <a:off x="535334" y="1230837"/>
            <a:ext cx="6485255" cy="1253548"/>
          </a:xfrm>
          <a:prstGeom prst="rect">
            <a:avLst/>
          </a:prstGeom>
          <a:noFill/>
          <a:ln>
            <a:noFill/>
          </a:ln>
        </p:spPr>
        <p:txBody>
          <a:bodyPr anchorCtr="0" anchor="t" bIns="0" lIns="0" spcFirstLastPara="1" rIns="0" wrap="square" tIns="250825">
            <a:spAutoFit/>
          </a:bodyPr>
          <a:lstStyle/>
          <a:p>
            <a:pPr indent="-457200" lvl="0" marL="469900" marR="0" rtl="0" algn="l">
              <a:lnSpc>
                <a:spcPct val="100000"/>
              </a:lnSpc>
              <a:spcBef>
                <a:spcPts val="0"/>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Certains algorithmes sont adaptés au:</a:t>
            </a:r>
            <a:endParaRPr b="0" i="0" sz="2800" u="none" cap="none" strike="noStrike">
              <a:solidFill>
                <a:schemeClr val="dk1"/>
              </a:solidFill>
              <a:latin typeface="Calibri"/>
              <a:ea typeface="Calibri"/>
              <a:cs typeface="Calibri"/>
              <a:sym typeface="Calibri"/>
            </a:endParaRPr>
          </a:p>
          <a:p>
            <a:pPr indent="-287019" lvl="1" marL="756285" marR="0" rtl="0" algn="l">
              <a:lnSpc>
                <a:spcPct val="100000"/>
              </a:lnSpc>
              <a:spcBef>
                <a:spcPts val="1814"/>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Chiffrement</a:t>
            </a:r>
            <a:endParaRPr b="0" i="0" sz="2200" u="none" cap="none" strike="noStrike">
              <a:solidFill>
                <a:schemeClr val="dk1"/>
              </a:solidFill>
              <a:latin typeface="Calibri"/>
              <a:ea typeface="Calibri"/>
              <a:cs typeface="Calibri"/>
              <a:sym typeface="Calibri"/>
            </a:endParaRPr>
          </a:p>
        </p:txBody>
      </p:sp>
      <p:sp>
        <p:nvSpPr>
          <p:cNvPr id="204" name="Google Shape;204;p14"/>
          <p:cNvSpPr txBox="1"/>
          <p:nvPr/>
        </p:nvSpPr>
        <p:spPr>
          <a:xfrm>
            <a:off x="7228078" y="4045661"/>
            <a:ext cx="1651000" cy="44307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0" i="0" lang="en-US" sz="2800" u="none" cap="none" strike="noStrike">
                <a:solidFill>
                  <a:schemeClr val="dk1"/>
                </a:solidFill>
                <a:latin typeface="Helvetica Neue"/>
                <a:ea typeface="Helvetica Neue"/>
                <a:cs typeface="Helvetica Neue"/>
                <a:sym typeface="Helvetica Neue"/>
              </a:rPr>
              <a:t>de	la	clé</a:t>
            </a:r>
            <a:endParaRPr b="0" i="0" sz="2800" u="none" cap="none" strike="noStrike">
              <a:solidFill>
                <a:schemeClr val="dk1"/>
              </a:solidFill>
              <a:latin typeface="Helvetica Neue"/>
              <a:ea typeface="Helvetica Neue"/>
              <a:cs typeface="Helvetica Neue"/>
              <a:sym typeface="Helvetica Neue"/>
            </a:endParaRPr>
          </a:p>
        </p:txBody>
      </p:sp>
      <p:sp>
        <p:nvSpPr>
          <p:cNvPr id="205" name="Google Shape;205;p14"/>
          <p:cNvSpPr txBox="1"/>
          <p:nvPr/>
        </p:nvSpPr>
        <p:spPr>
          <a:xfrm>
            <a:off x="535330" y="2504404"/>
            <a:ext cx="6840220" cy="3116879"/>
          </a:xfrm>
          <a:prstGeom prst="rect">
            <a:avLst/>
          </a:prstGeom>
          <a:noFill/>
          <a:ln>
            <a:noFill/>
          </a:ln>
        </p:spPr>
        <p:txBody>
          <a:bodyPr anchorCtr="0" anchor="t" bIns="0" lIns="0" spcFirstLastPara="1" rIns="0" wrap="square" tIns="198750">
            <a:spAutoFit/>
          </a:bodyPr>
          <a:lstStyle/>
          <a:p>
            <a:pPr indent="-287019" lvl="0" marL="756285" marR="0" rtl="0" algn="l">
              <a:lnSpc>
                <a:spcPct val="100000"/>
              </a:lnSpc>
              <a:spcBef>
                <a:spcPts val="0"/>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Signature</a:t>
            </a:r>
            <a:endParaRPr b="0" i="0" sz="2200" u="none" cap="none" strike="noStrike">
              <a:solidFill>
                <a:schemeClr val="dk1"/>
              </a:solidFill>
              <a:latin typeface="Calibri"/>
              <a:ea typeface="Calibri"/>
              <a:cs typeface="Calibri"/>
              <a:sym typeface="Calibri"/>
            </a:endParaRPr>
          </a:p>
          <a:p>
            <a:pPr indent="-287019" lvl="0" marL="756285" marR="0" rtl="0" algn="l">
              <a:lnSpc>
                <a:spcPct val="100000"/>
              </a:lnSpc>
              <a:spcBef>
                <a:spcPts val="1800"/>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Les deux à la fois: RSA, ElGamal et Rabin</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20"/>
              </a:spcBef>
              <a:spcAft>
                <a:spcPts val="0"/>
              </a:spcAft>
              <a:buNone/>
            </a:pPr>
            <a:r>
              <a:t/>
            </a:r>
            <a:endParaRPr b="0" i="0" sz="3150" u="none" cap="none" strike="noStrike">
              <a:solidFill>
                <a:schemeClr val="dk1"/>
              </a:solidFill>
              <a:latin typeface="Calibri"/>
              <a:ea typeface="Calibri"/>
              <a:cs typeface="Calibri"/>
              <a:sym typeface="Calibri"/>
            </a:endParaRPr>
          </a:p>
          <a:p>
            <a:pPr indent="-457200" lvl="0" marL="469900" marR="376555" rtl="0" algn="l">
              <a:lnSpc>
                <a:spcPct val="100000"/>
              </a:lnSpc>
              <a:spcBef>
                <a:spcPts val="5"/>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Chiffrement	d’un	message	à	l’aide  publique </a:t>
            </a:r>
            <a:r>
              <a:rPr b="1" i="0" lang="en-US" sz="2800" u="none" cap="none" strike="noStrike">
                <a:solidFill>
                  <a:srgbClr val="FF0000"/>
                </a:solidFill>
                <a:latin typeface="Calibri"/>
                <a:ea typeface="Calibri"/>
                <a:cs typeface="Calibri"/>
                <a:sym typeface="Calibri"/>
              </a:rPr>
              <a:t>e</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a:p>
            <a:pPr indent="-457200" lvl="0" marL="469900" marR="0" rtl="0" algn="l">
              <a:lnSpc>
                <a:spcPct val="100000"/>
              </a:lnSpc>
              <a:spcBef>
                <a:spcPts val="1800"/>
              </a:spcBef>
              <a:spcAft>
                <a:spcPts val="0"/>
              </a:spcAft>
              <a:buClr>
                <a:srgbClr val="C00000"/>
              </a:buClr>
              <a:buSzPts val="4800"/>
              <a:buFont typeface="Calibri"/>
              <a:buChar char="•"/>
            </a:pPr>
            <a:r>
              <a:rPr b="0" i="0" lang="en-US" sz="2800" u="none" cap="none" strike="noStrike">
                <a:solidFill>
                  <a:schemeClr val="dk1"/>
                </a:solidFill>
                <a:latin typeface="Calibri"/>
                <a:ea typeface="Calibri"/>
                <a:cs typeface="Calibri"/>
                <a:sym typeface="Calibri"/>
              </a:rPr>
              <a:t>Déchiffrement à l’aide de la clé privée </a:t>
            </a:r>
            <a:r>
              <a:rPr b="1" i="0" lang="en-US" sz="2800" u="none" cap="none" strike="noStrike">
                <a:solidFill>
                  <a:srgbClr val="FF0000"/>
                </a:solidFill>
                <a:latin typeface="Calibri"/>
                <a:ea typeface="Calibri"/>
                <a:cs typeface="Calibri"/>
                <a:sym typeface="Calibri"/>
              </a:rPr>
              <a:t>d</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p:txBody>
      </p:sp>
      <p:sp>
        <p:nvSpPr>
          <p:cNvPr id="206" name="Google Shape;206;p14"/>
          <p:cNvSpPr txBox="1"/>
          <p:nvPr>
            <p:ph type="title"/>
          </p:nvPr>
        </p:nvSpPr>
        <p:spPr>
          <a:xfrm>
            <a:off x="1371600" y="305222"/>
            <a:ext cx="4818637" cy="68993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400"/>
              <a:buFont typeface="Calibri"/>
              <a:buNone/>
            </a:pPr>
            <a:r>
              <a:rPr b="1" lang="en-US">
                <a:solidFill>
                  <a:srgbClr val="C00000"/>
                </a:solidFill>
              </a:rPr>
              <a:t>Caractéristiques</a:t>
            </a:r>
            <a:endParaRPr/>
          </a:p>
        </p:txBody>
      </p:sp>
      <p:sp>
        <p:nvSpPr>
          <p:cNvPr id="207" name="Google Shape;207;p1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5"/>
          <p:cNvSpPr txBox="1"/>
          <p:nvPr/>
        </p:nvSpPr>
        <p:spPr>
          <a:xfrm>
            <a:off x="309778" y="1248327"/>
            <a:ext cx="8026400" cy="2423099"/>
          </a:xfrm>
          <a:prstGeom prst="rect">
            <a:avLst/>
          </a:prstGeom>
          <a:noFill/>
          <a:ln>
            <a:noFill/>
          </a:ln>
        </p:spPr>
        <p:txBody>
          <a:bodyPr anchorCtr="0" anchor="t" bIns="0" lIns="0" spcFirstLastPara="1" rIns="0" wrap="square" tIns="116200">
            <a:spAutoFit/>
          </a:bodyPr>
          <a:lstStyle/>
          <a:p>
            <a:pPr indent="0" lvl="0" marL="12700" marR="0" rtl="0" algn="l">
              <a:lnSpc>
                <a:spcPct val="100000"/>
              </a:lnSpc>
              <a:spcBef>
                <a:spcPts val="0"/>
              </a:spcBef>
              <a:spcAft>
                <a:spcPts val="0"/>
              </a:spcAft>
              <a:buNone/>
            </a:pPr>
            <a:r>
              <a:rPr b="1" i="0" lang="en-US" sz="3000" u="none" cap="none" strike="noStrike">
                <a:solidFill>
                  <a:schemeClr val="dk1"/>
                </a:solidFill>
                <a:latin typeface="Calibri"/>
                <a:ea typeface="Calibri"/>
                <a:cs typeface="Calibri"/>
                <a:sym typeface="Calibri"/>
              </a:rPr>
              <a:t>La confidentialité:</a:t>
            </a:r>
            <a:endParaRPr b="0" i="0" sz="3000" u="none" cap="none" strike="noStrike">
              <a:solidFill>
                <a:schemeClr val="dk1"/>
              </a:solidFill>
              <a:latin typeface="Calibri"/>
              <a:ea typeface="Calibri"/>
              <a:cs typeface="Calibri"/>
              <a:sym typeface="Calibri"/>
            </a:endParaRPr>
          </a:p>
          <a:p>
            <a:pPr indent="-285750" lvl="0" marL="755015" marR="0" rtl="0" algn="l">
              <a:lnSpc>
                <a:spcPct val="100000"/>
              </a:lnSpc>
              <a:spcBef>
                <a:spcPts val="710"/>
              </a:spcBef>
              <a:spcAft>
                <a:spcPts val="0"/>
              </a:spcAft>
              <a:buClr>
                <a:srgbClr val="D20000"/>
              </a:buClr>
              <a:buSzPts val="2600"/>
              <a:buFont typeface="Calibri"/>
              <a:buChar char="▪"/>
            </a:pPr>
            <a:r>
              <a:rPr b="0" i="0" lang="en-US" sz="2600" u="none" cap="none" strike="noStrike">
                <a:solidFill>
                  <a:schemeClr val="dk1"/>
                </a:solidFill>
                <a:latin typeface="Calibri"/>
                <a:ea typeface="Calibri"/>
                <a:cs typeface="Calibri"/>
                <a:sym typeface="Calibri"/>
              </a:rPr>
              <a:t>Alice obtient la clé publique de Bob</a:t>
            </a:r>
            <a:endParaRPr/>
          </a:p>
          <a:p>
            <a:pPr indent="-285115" lvl="0" marL="755015" marR="5080" rtl="0" algn="l">
              <a:lnSpc>
                <a:spcPct val="100000"/>
              </a:lnSpc>
              <a:spcBef>
                <a:spcPts val="605"/>
              </a:spcBef>
              <a:spcAft>
                <a:spcPts val="0"/>
              </a:spcAft>
              <a:buClr>
                <a:srgbClr val="D20000"/>
              </a:buClr>
              <a:buSzPts val="2600"/>
              <a:buFont typeface="Calibri"/>
              <a:buChar char="▪"/>
            </a:pPr>
            <a:r>
              <a:rPr b="0" i="0" lang="en-US" sz="2600" u="none" cap="none" strike="noStrike">
                <a:solidFill>
                  <a:schemeClr val="dk1"/>
                </a:solidFill>
                <a:latin typeface="Calibri"/>
                <a:ea typeface="Calibri"/>
                <a:cs typeface="Calibri"/>
                <a:sym typeface="Calibri"/>
              </a:rPr>
              <a:t>Alice chiffre un message avec </a:t>
            </a:r>
            <a:r>
              <a:rPr b="1" i="0" lang="en-US" sz="2600" u="none" cap="none" strike="noStrike">
                <a:solidFill>
                  <a:schemeClr val="dk1"/>
                </a:solidFill>
                <a:latin typeface="Calibri"/>
                <a:ea typeface="Calibri"/>
                <a:cs typeface="Calibri"/>
                <a:sym typeface="Calibri"/>
              </a:rPr>
              <a:t>la clé publique de  Bob</a:t>
            </a:r>
            <a:endParaRPr b="0" i="0" sz="2600" u="none" cap="none" strike="noStrike">
              <a:solidFill>
                <a:schemeClr val="dk1"/>
              </a:solidFill>
              <a:latin typeface="Calibri"/>
              <a:ea typeface="Calibri"/>
              <a:cs typeface="Calibri"/>
              <a:sym typeface="Calibri"/>
            </a:endParaRPr>
          </a:p>
          <a:p>
            <a:pPr indent="-285750" lvl="0" marL="755015" marR="0" rtl="0" algn="l">
              <a:lnSpc>
                <a:spcPct val="100000"/>
              </a:lnSpc>
              <a:spcBef>
                <a:spcPts val="600"/>
              </a:spcBef>
              <a:spcAft>
                <a:spcPts val="0"/>
              </a:spcAft>
              <a:buClr>
                <a:srgbClr val="D20000"/>
              </a:buClr>
              <a:buSzPts val="2600"/>
              <a:buFont typeface="Calibri"/>
              <a:buChar char="▪"/>
            </a:pPr>
            <a:r>
              <a:rPr b="0" i="0" lang="en-US" sz="2600" u="none" cap="none" strike="noStrike">
                <a:solidFill>
                  <a:schemeClr val="dk1"/>
                </a:solidFill>
                <a:latin typeface="Calibri"/>
                <a:ea typeface="Calibri"/>
                <a:cs typeface="Calibri"/>
                <a:sym typeface="Calibri"/>
              </a:rPr>
              <a:t>Bob déchiffre avec </a:t>
            </a:r>
            <a:r>
              <a:rPr b="1" i="0" lang="en-US" sz="2600" u="none" cap="none" strike="noStrike">
                <a:solidFill>
                  <a:schemeClr val="dk1"/>
                </a:solidFill>
                <a:latin typeface="Calibri"/>
                <a:ea typeface="Calibri"/>
                <a:cs typeface="Calibri"/>
                <a:sym typeface="Calibri"/>
              </a:rPr>
              <a:t>sa clé privée</a:t>
            </a:r>
            <a:endParaRPr b="0" i="0" sz="2600" u="none" cap="none" strike="noStrike">
              <a:solidFill>
                <a:schemeClr val="dk1"/>
              </a:solidFill>
              <a:latin typeface="Calibri"/>
              <a:ea typeface="Calibri"/>
              <a:cs typeface="Calibri"/>
              <a:sym typeface="Calibri"/>
            </a:endParaRPr>
          </a:p>
        </p:txBody>
      </p:sp>
      <p:sp>
        <p:nvSpPr>
          <p:cNvPr id="213" name="Google Shape;213;p15"/>
          <p:cNvSpPr txBox="1"/>
          <p:nvPr>
            <p:ph type="title"/>
          </p:nvPr>
        </p:nvSpPr>
        <p:spPr>
          <a:xfrm>
            <a:off x="1066800" y="438423"/>
            <a:ext cx="5662295"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Scénario d’utilisation</a:t>
            </a:r>
            <a:endParaRPr/>
          </a:p>
        </p:txBody>
      </p:sp>
      <p:sp>
        <p:nvSpPr>
          <p:cNvPr id="214" name="Google Shape;214;p15"/>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grpSp>
        <p:nvGrpSpPr>
          <p:cNvPr id="215" name="Google Shape;215;p15"/>
          <p:cNvGrpSpPr/>
          <p:nvPr/>
        </p:nvGrpSpPr>
        <p:grpSpPr>
          <a:xfrm>
            <a:off x="280415" y="3712463"/>
            <a:ext cx="8610600" cy="3072385"/>
            <a:chOff x="280415" y="3712462"/>
            <a:chExt cx="8610600" cy="3072384"/>
          </a:xfrm>
        </p:grpSpPr>
        <p:pic>
          <p:nvPicPr>
            <p:cNvPr id="216" name="Google Shape;216;p15"/>
            <p:cNvPicPr preferRelativeResize="0"/>
            <p:nvPr/>
          </p:nvPicPr>
          <p:blipFill rotWithShape="1">
            <a:blip r:embed="rId3">
              <a:alphaModFix/>
            </a:blip>
            <a:srcRect b="0" l="0" r="0" t="0"/>
            <a:stretch/>
          </p:blipFill>
          <p:spPr>
            <a:xfrm>
              <a:off x="280415" y="3712462"/>
              <a:ext cx="8610600" cy="3072384"/>
            </a:xfrm>
            <a:prstGeom prst="rect">
              <a:avLst/>
            </a:prstGeom>
            <a:noFill/>
            <a:ln>
              <a:noFill/>
            </a:ln>
          </p:spPr>
        </p:pic>
        <p:pic>
          <p:nvPicPr>
            <p:cNvPr id="217" name="Google Shape;217;p15"/>
            <p:cNvPicPr preferRelativeResize="0"/>
            <p:nvPr/>
          </p:nvPicPr>
          <p:blipFill rotWithShape="1">
            <a:blip r:embed="rId4">
              <a:alphaModFix/>
            </a:blip>
            <a:srcRect b="0" l="0" r="0" t="0"/>
            <a:stretch/>
          </p:blipFill>
          <p:spPr>
            <a:xfrm>
              <a:off x="344551" y="3776840"/>
              <a:ext cx="8428355" cy="2888996"/>
            </a:xfrm>
            <a:prstGeom prst="rect">
              <a:avLst/>
            </a:prstGeom>
            <a:noFill/>
            <a:ln>
              <a:noFill/>
            </a:ln>
          </p:spPr>
        </p:pic>
      </p:grpSp>
      <p:sp>
        <p:nvSpPr>
          <p:cNvPr id="218" name="Google Shape;218;p15"/>
          <p:cNvSpPr/>
          <p:nvPr/>
        </p:nvSpPr>
        <p:spPr>
          <a:xfrm>
            <a:off x="325504" y="3757803"/>
            <a:ext cx="8466455" cy="2927350"/>
          </a:xfrm>
          <a:custGeom>
            <a:rect b="b" l="l" r="r" t="t"/>
            <a:pathLst>
              <a:path extrusionOk="0" h="2927350" w="8466455">
                <a:moveTo>
                  <a:pt x="0" y="2927096"/>
                </a:moveTo>
                <a:lnTo>
                  <a:pt x="8466455" y="2927096"/>
                </a:lnTo>
                <a:lnTo>
                  <a:pt x="8466455" y="0"/>
                </a:lnTo>
                <a:lnTo>
                  <a:pt x="0" y="0"/>
                </a:lnTo>
                <a:lnTo>
                  <a:pt x="0" y="2927096"/>
                </a:lnTo>
                <a:close/>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6"/>
          <p:cNvSpPr txBox="1"/>
          <p:nvPr/>
        </p:nvSpPr>
        <p:spPr>
          <a:xfrm>
            <a:off x="204012" y="1232196"/>
            <a:ext cx="8008620" cy="2048638"/>
          </a:xfrm>
          <a:prstGeom prst="rect">
            <a:avLst/>
          </a:prstGeom>
          <a:noFill/>
          <a:ln>
            <a:noFill/>
          </a:ln>
        </p:spPr>
        <p:txBody>
          <a:bodyPr anchorCtr="0" anchor="t" bIns="0" lIns="0" spcFirstLastPara="1" rIns="0" wrap="square" tIns="116200">
            <a:spAutoFit/>
          </a:bodyPr>
          <a:lstStyle/>
          <a:p>
            <a:pPr indent="0" lvl="0" marL="12700" marR="0" rtl="0" algn="l">
              <a:lnSpc>
                <a:spcPct val="100000"/>
              </a:lnSpc>
              <a:spcBef>
                <a:spcPts val="0"/>
              </a:spcBef>
              <a:spcAft>
                <a:spcPts val="0"/>
              </a:spcAft>
              <a:buNone/>
            </a:pPr>
            <a:r>
              <a:rPr b="1" lang="en-US" sz="3000">
                <a:solidFill>
                  <a:schemeClr val="dk1"/>
                </a:solidFill>
                <a:latin typeface="Calibri"/>
                <a:ea typeface="Calibri"/>
                <a:cs typeface="Calibri"/>
                <a:sym typeface="Calibri"/>
              </a:rPr>
              <a:t>Authentification et non-répudiation d’envoi:</a:t>
            </a:r>
            <a:endParaRPr sz="3000">
              <a:solidFill>
                <a:schemeClr val="dk1"/>
              </a:solidFill>
              <a:latin typeface="Calibri"/>
              <a:ea typeface="Calibri"/>
              <a:cs typeface="Calibri"/>
              <a:sym typeface="Calibri"/>
            </a:endParaRPr>
          </a:p>
          <a:p>
            <a:pPr indent="-285115" lvl="0" marL="754380" marR="0" rtl="0" algn="l">
              <a:lnSpc>
                <a:spcPct val="100000"/>
              </a:lnSpc>
              <a:spcBef>
                <a:spcPts val="710"/>
              </a:spcBef>
              <a:spcAft>
                <a:spcPts val="0"/>
              </a:spcAft>
              <a:buClr>
                <a:srgbClr val="D20000"/>
              </a:buClr>
              <a:buSzPts val="2600"/>
              <a:buFont typeface="Calibri"/>
              <a:buChar char="▪"/>
            </a:pPr>
            <a:r>
              <a:rPr lang="en-US" sz="2600">
                <a:solidFill>
                  <a:schemeClr val="dk1"/>
                </a:solidFill>
                <a:latin typeface="Calibri"/>
                <a:ea typeface="Calibri"/>
                <a:cs typeface="Calibri"/>
                <a:sym typeface="Calibri"/>
              </a:rPr>
              <a:t>Alice chiffre un message avec sa </a:t>
            </a:r>
            <a:r>
              <a:rPr b="1" lang="en-US" sz="2600">
                <a:solidFill>
                  <a:schemeClr val="dk1"/>
                </a:solidFill>
                <a:latin typeface="Calibri"/>
                <a:ea typeface="Calibri"/>
                <a:cs typeface="Calibri"/>
                <a:sym typeface="Calibri"/>
              </a:rPr>
              <a:t>clé privée</a:t>
            </a:r>
            <a:endParaRPr sz="2600">
              <a:solidFill>
                <a:schemeClr val="dk1"/>
              </a:solidFill>
              <a:latin typeface="Calibri"/>
              <a:ea typeface="Calibri"/>
              <a:cs typeface="Calibri"/>
              <a:sym typeface="Calibri"/>
            </a:endParaRPr>
          </a:p>
          <a:p>
            <a:pPr indent="-285115" lvl="0" marL="754380" marR="0" rtl="0" algn="l">
              <a:lnSpc>
                <a:spcPct val="100000"/>
              </a:lnSpc>
              <a:spcBef>
                <a:spcPts val="700"/>
              </a:spcBef>
              <a:spcAft>
                <a:spcPts val="0"/>
              </a:spcAft>
              <a:buClr>
                <a:srgbClr val="D20000"/>
              </a:buClr>
              <a:buSzPts val="2600"/>
              <a:buFont typeface="Calibri"/>
              <a:buChar char="▪"/>
            </a:pPr>
            <a:r>
              <a:rPr lang="en-US" sz="2600">
                <a:solidFill>
                  <a:schemeClr val="dk1"/>
                </a:solidFill>
                <a:latin typeface="Calibri"/>
                <a:ea typeface="Calibri"/>
                <a:cs typeface="Calibri"/>
                <a:sym typeface="Calibri"/>
              </a:rPr>
              <a:t>Bob reçoit la clé publique d'Alice</a:t>
            </a:r>
            <a:endParaRPr sz="2600">
              <a:solidFill>
                <a:schemeClr val="dk1"/>
              </a:solidFill>
              <a:latin typeface="Calibri"/>
              <a:ea typeface="Calibri"/>
              <a:cs typeface="Calibri"/>
              <a:sym typeface="Calibri"/>
            </a:endParaRPr>
          </a:p>
          <a:p>
            <a:pPr indent="-285115" lvl="0" marL="754380" marR="0" rtl="0" algn="l">
              <a:lnSpc>
                <a:spcPct val="100000"/>
              </a:lnSpc>
              <a:spcBef>
                <a:spcPts val="705"/>
              </a:spcBef>
              <a:spcAft>
                <a:spcPts val="0"/>
              </a:spcAft>
              <a:buClr>
                <a:srgbClr val="D20000"/>
              </a:buClr>
              <a:buSzPts val="2600"/>
              <a:buFont typeface="Calibri"/>
              <a:buChar char="▪"/>
            </a:pPr>
            <a:r>
              <a:rPr lang="en-US" sz="2600">
                <a:solidFill>
                  <a:schemeClr val="dk1"/>
                </a:solidFill>
                <a:latin typeface="Calibri"/>
                <a:ea typeface="Calibri"/>
                <a:cs typeface="Calibri"/>
                <a:sym typeface="Calibri"/>
              </a:rPr>
              <a:t>Bob déchiffre en utilisant la </a:t>
            </a:r>
            <a:r>
              <a:rPr b="1" lang="en-US" sz="2600">
                <a:solidFill>
                  <a:schemeClr val="dk1"/>
                </a:solidFill>
                <a:latin typeface="Calibri"/>
                <a:ea typeface="Calibri"/>
                <a:cs typeface="Calibri"/>
                <a:sym typeface="Calibri"/>
              </a:rPr>
              <a:t>clé publique d'Alice</a:t>
            </a:r>
            <a:endParaRPr sz="2600">
              <a:solidFill>
                <a:schemeClr val="dk1"/>
              </a:solidFill>
              <a:latin typeface="Calibri"/>
              <a:ea typeface="Calibri"/>
              <a:cs typeface="Calibri"/>
              <a:sym typeface="Calibri"/>
            </a:endParaRPr>
          </a:p>
        </p:txBody>
      </p:sp>
      <p:sp>
        <p:nvSpPr>
          <p:cNvPr id="224" name="Google Shape;224;p16"/>
          <p:cNvSpPr txBox="1"/>
          <p:nvPr>
            <p:ph type="title"/>
          </p:nvPr>
        </p:nvSpPr>
        <p:spPr>
          <a:xfrm>
            <a:off x="990600" y="407645"/>
            <a:ext cx="6917232"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Scénario d’utilisation</a:t>
            </a:r>
            <a:endParaRPr/>
          </a:p>
        </p:txBody>
      </p:sp>
      <p:sp>
        <p:nvSpPr>
          <p:cNvPr id="225" name="Google Shape;225;p16"/>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grpSp>
        <p:nvGrpSpPr>
          <p:cNvPr id="226" name="Google Shape;226;p16"/>
          <p:cNvGrpSpPr/>
          <p:nvPr/>
        </p:nvGrpSpPr>
        <p:grpSpPr>
          <a:xfrm>
            <a:off x="266704" y="3491485"/>
            <a:ext cx="8598408" cy="3268979"/>
            <a:chOff x="266700" y="3491482"/>
            <a:chExt cx="8598408" cy="3268979"/>
          </a:xfrm>
        </p:grpSpPr>
        <p:pic>
          <p:nvPicPr>
            <p:cNvPr id="227" name="Google Shape;227;p16"/>
            <p:cNvPicPr preferRelativeResize="0"/>
            <p:nvPr/>
          </p:nvPicPr>
          <p:blipFill rotWithShape="1">
            <a:blip r:embed="rId3">
              <a:alphaModFix/>
            </a:blip>
            <a:srcRect b="0" l="0" r="0" t="0"/>
            <a:stretch/>
          </p:blipFill>
          <p:spPr>
            <a:xfrm>
              <a:off x="266700" y="3491482"/>
              <a:ext cx="8598408" cy="3268979"/>
            </a:xfrm>
            <a:prstGeom prst="rect">
              <a:avLst/>
            </a:prstGeom>
            <a:noFill/>
            <a:ln>
              <a:noFill/>
            </a:ln>
          </p:spPr>
        </p:pic>
        <p:pic>
          <p:nvPicPr>
            <p:cNvPr id="228" name="Google Shape;228;p16"/>
            <p:cNvPicPr preferRelativeResize="0"/>
            <p:nvPr/>
          </p:nvPicPr>
          <p:blipFill rotWithShape="1">
            <a:blip r:embed="rId4">
              <a:alphaModFix/>
            </a:blip>
            <a:srcRect b="0" l="0" r="0" t="0"/>
            <a:stretch/>
          </p:blipFill>
          <p:spPr>
            <a:xfrm>
              <a:off x="331304" y="3555720"/>
              <a:ext cx="8415147" cy="3086100"/>
            </a:xfrm>
            <a:prstGeom prst="rect">
              <a:avLst/>
            </a:prstGeom>
            <a:noFill/>
            <a:ln>
              <a:noFill/>
            </a:ln>
          </p:spPr>
        </p:pic>
      </p:grpSp>
      <p:sp>
        <p:nvSpPr>
          <p:cNvPr id="229" name="Google Shape;229;p16"/>
          <p:cNvSpPr/>
          <p:nvPr/>
        </p:nvSpPr>
        <p:spPr>
          <a:xfrm>
            <a:off x="312258" y="3536670"/>
            <a:ext cx="8453755" cy="3124200"/>
          </a:xfrm>
          <a:custGeom>
            <a:rect b="b" l="l" r="r" t="t"/>
            <a:pathLst>
              <a:path extrusionOk="0" h="3124200" w="8453755">
                <a:moveTo>
                  <a:pt x="0" y="3124200"/>
                </a:moveTo>
                <a:lnTo>
                  <a:pt x="8453247" y="3124200"/>
                </a:lnTo>
                <a:lnTo>
                  <a:pt x="8453247" y="0"/>
                </a:lnTo>
                <a:lnTo>
                  <a:pt x="0" y="0"/>
                </a:lnTo>
                <a:lnTo>
                  <a:pt x="0" y="3124200"/>
                </a:lnTo>
                <a:close/>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nvSpPr>
        <p:spPr>
          <a:xfrm>
            <a:off x="344220" y="1376934"/>
            <a:ext cx="1821814" cy="44307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2800">
                <a:solidFill>
                  <a:schemeClr val="dk1"/>
                </a:solidFill>
                <a:latin typeface="Calibri"/>
                <a:ea typeface="Calibri"/>
                <a:cs typeface="Calibri"/>
                <a:sym typeface="Calibri"/>
              </a:rPr>
              <a:t>Avantages</a:t>
            </a:r>
            <a:endParaRPr sz="2800">
              <a:solidFill>
                <a:schemeClr val="dk1"/>
              </a:solidFill>
              <a:latin typeface="Calibri"/>
              <a:ea typeface="Calibri"/>
              <a:cs typeface="Calibri"/>
              <a:sym typeface="Calibri"/>
            </a:endParaRPr>
          </a:p>
        </p:txBody>
      </p:sp>
      <p:sp>
        <p:nvSpPr>
          <p:cNvPr id="235" name="Google Shape;235;p17"/>
          <p:cNvSpPr txBox="1"/>
          <p:nvPr/>
        </p:nvSpPr>
        <p:spPr>
          <a:xfrm>
            <a:off x="801424" y="1803605"/>
            <a:ext cx="1983739" cy="413575"/>
          </a:xfrm>
          <a:prstGeom prst="rect">
            <a:avLst/>
          </a:prstGeom>
          <a:noFill/>
          <a:ln>
            <a:noFill/>
          </a:ln>
        </p:spPr>
        <p:txBody>
          <a:bodyPr anchorCtr="0" anchor="t" bIns="0" lIns="0" spcFirstLastPara="1" rIns="0" wrap="square" tIns="13325">
            <a:spAutoFit/>
          </a:bodyPr>
          <a:lstStyle/>
          <a:p>
            <a:pPr indent="-287019" lvl="0" marL="299085" marR="0" rtl="0" algn="l">
              <a:lnSpc>
                <a:spcPct val="100000"/>
              </a:lnSpc>
              <a:spcBef>
                <a:spcPts val="0"/>
              </a:spcBef>
              <a:spcAft>
                <a:spcPts val="0"/>
              </a:spcAft>
              <a:buClr>
                <a:srgbClr val="D20000"/>
              </a:buClr>
              <a:buSzPts val="2800"/>
              <a:buFont typeface="Calibri"/>
              <a:buChar char="▪"/>
            </a:pPr>
            <a:r>
              <a:rPr lang="en-US" sz="2600">
                <a:solidFill>
                  <a:schemeClr val="dk1"/>
                </a:solidFill>
                <a:latin typeface="Calibri"/>
                <a:ea typeface="Calibri"/>
                <a:cs typeface="Calibri"/>
                <a:sym typeface="Calibri"/>
              </a:rPr>
              <a:t>Une	seule</a:t>
            </a:r>
            <a:endParaRPr sz="2600">
              <a:solidFill>
                <a:schemeClr val="dk1"/>
              </a:solidFill>
              <a:latin typeface="Calibri"/>
              <a:ea typeface="Calibri"/>
              <a:cs typeface="Calibri"/>
              <a:sym typeface="Calibri"/>
            </a:endParaRPr>
          </a:p>
        </p:txBody>
      </p:sp>
      <p:sp>
        <p:nvSpPr>
          <p:cNvPr id="236" name="Google Shape;236;p17"/>
          <p:cNvSpPr txBox="1"/>
          <p:nvPr/>
        </p:nvSpPr>
        <p:spPr>
          <a:xfrm>
            <a:off x="3032890" y="1803605"/>
            <a:ext cx="5809615" cy="41357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600">
                <a:solidFill>
                  <a:schemeClr val="dk1"/>
                </a:solidFill>
                <a:latin typeface="Helvetica Neue"/>
                <a:ea typeface="Helvetica Neue"/>
                <a:cs typeface="Helvetica Neue"/>
                <a:sym typeface="Helvetica Neue"/>
              </a:rPr>
              <a:t>clé	publique	publiée	vers	tous	les</a:t>
            </a:r>
            <a:endParaRPr sz="2600">
              <a:solidFill>
                <a:schemeClr val="dk1"/>
              </a:solidFill>
              <a:latin typeface="Helvetica Neue"/>
              <a:ea typeface="Helvetica Neue"/>
              <a:cs typeface="Helvetica Neue"/>
              <a:sym typeface="Helvetica Neue"/>
            </a:endParaRPr>
          </a:p>
        </p:txBody>
      </p:sp>
      <p:sp>
        <p:nvSpPr>
          <p:cNvPr id="237" name="Google Shape;237;p17"/>
          <p:cNvSpPr txBox="1"/>
          <p:nvPr>
            <p:ph type="title"/>
          </p:nvPr>
        </p:nvSpPr>
        <p:spPr>
          <a:xfrm>
            <a:off x="990600" y="438423"/>
            <a:ext cx="599783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Avantages &amp; limitations</a:t>
            </a:r>
            <a:endParaRPr/>
          </a:p>
        </p:txBody>
      </p:sp>
      <p:sp>
        <p:nvSpPr>
          <p:cNvPr id="238" name="Google Shape;238;p17"/>
          <p:cNvSpPr txBox="1"/>
          <p:nvPr>
            <p:ph idx="1" type="body"/>
          </p:nvPr>
        </p:nvSpPr>
        <p:spPr>
          <a:xfrm>
            <a:off x="801420" y="2082912"/>
            <a:ext cx="8037830" cy="2747547"/>
          </a:xfrm>
          <a:prstGeom prst="rect">
            <a:avLst/>
          </a:prstGeom>
          <a:noFill/>
          <a:ln>
            <a:noFill/>
          </a:ln>
        </p:spPr>
        <p:txBody>
          <a:bodyPr anchorCtr="0" anchor="t" bIns="0" lIns="0" spcFirstLastPara="1" rIns="0" wrap="square" tIns="130175">
            <a:spAutoFit/>
          </a:bodyPr>
          <a:lstStyle/>
          <a:p>
            <a:pPr indent="-228600" lvl="0" marL="299085" rtl="0" algn="l">
              <a:lnSpc>
                <a:spcPct val="100000"/>
              </a:lnSpc>
              <a:spcBef>
                <a:spcPts val="0"/>
              </a:spcBef>
              <a:spcAft>
                <a:spcPts val="0"/>
              </a:spcAft>
              <a:buClr>
                <a:schemeClr val="dk1"/>
              </a:buClr>
              <a:buSzPts val="2800"/>
              <a:buChar char="•"/>
            </a:pPr>
            <a:r>
              <a:rPr lang="en-US">
                <a:latin typeface="Calibri"/>
                <a:ea typeface="Calibri"/>
                <a:cs typeface="Calibri"/>
                <a:sym typeface="Calibri"/>
              </a:rPr>
              <a:t>récepteurs.</a:t>
            </a:r>
            <a:endParaRPr/>
          </a:p>
          <a:p>
            <a:pPr indent="-287019" lvl="0" marL="299085" rtl="0" algn="l">
              <a:lnSpc>
                <a:spcPct val="100000"/>
              </a:lnSpc>
              <a:spcBef>
                <a:spcPts val="1190"/>
              </a:spcBef>
              <a:spcAft>
                <a:spcPts val="0"/>
              </a:spcAft>
              <a:buClr>
                <a:srgbClr val="D20000"/>
              </a:buClr>
              <a:buSzPts val="3015"/>
              <a:buFont typeface="Helvetica Neue"/>
              <a:buChar char="▪"/>
            </a:pPr>
            <a:r>
              <a:rPr b="1" lang="en-US">
                <a:latin typeface="Calibri"/>
                <a:ea typeface="Calibri"/>
                <a:cs typeface="Calibri"/>
                <a:sym typeface="Calibri"/>
              </a:rPr>
              <a:t>n participants</a:t>
            </a:r>
            <a:r>
              <a:rPr lang="en-US">
                <a:latin typeface="Calibri"/>
                <a:ea typeface="Calibri"/>
                <a:cs typeface="Calibri"/>
                <a:sym typeface="Calibri"/>
              </a:rPr>
              <a:t>: </a:t>
            </a:r>
            <a:r>
              <a:rPr b="1" lang="en-US">
                <a:solidFill>
                  <a:srgbClr val="FF0000"/>
                </a:solidFill>
                <a:latin typeface="Calibri"/>
                <a:ea typeface="Calibri"/>
                <a:cs typeface="Calibri"/>
                <a:sym typeface="Calibri"/>
              </a:rPr>
              <a:t>2n </a:t>
            </a:r>
            <a:r>
              <a:rPr lang="en-US">
                <a:latin typeface="Calibri"/>
                <a:ea typeface="Calibri"/>
                <a:cs typeface="Calibri"/>
                <a:sym typeface="Calibri"/>
              </a:rPr>
              <a:t>clés doivent être générées</a:t>
            </a:r>
            <a:endParaRPr/>
          </a:p>
          <a:p>
            <a:pPr indent="-228600" lvl="0" marL="299085" rtl="0" algn="l">
              <a:lnSpc>
                <a:spcPct val="100000"/>
              </a:lnSpc>
              <a:spcBef>
                <a:spcPts val="1200"/>
              </a:spcBef>
              <a:spcAft>
                <a:spcPts val="0"/>
              </a:spcAft>
              <a:buClr>
                <a:schemeClr val="dk1"/>
              </a:buClr>
              <a:buSzPts val="2800"/>
              <a:buChar char="•"/>
            </a:pPr>
            <a:r>
              <a:rPr b="1" lang="en-US">
                <a:latin typeface="Calibri"/>
                <a:ea typeface="Calibri"/>
                <a:cs typeface="Calibri"/>
                <a:sym typeface="Calibri"/>
              </a:rPr>
              <a:t>(O(n)).</a:t>
            </a:r>
            <a:endParaRPr/>
          </a:p>
          <a:p>
            <a:pPr indent="-287019" lvl="0" marL="299085" marR="5080" rtl="0" algn="l">
              <a:lnSpc>
                <a:spcPct val="100000"/>
              </a:lnSpc>
              <a:spcBef>
                <a:spcPts val="1215"/>
              </a:spcBef>
              <a:spcAft>
                <a:spcPts val="0"/>
              </a:spcAft>
              <a:buClr>
                <a:srgbClr val="D20000"/>
              </a:buClr>
              <a:buSzPts val="3015"/>
              <a:buChar char="▪"/>
            </a:pPr>
            <a:r>
              <a:rPr lang="en-US">
                <a:latin typeface="Calibri"/>
                <a:ea typeface="Calibri"/>
                <a:cs typeface="Calibri"/>
                <a:sym typeface="Calibri"/>
              </a:rPr>
              <a:t>Pas	besoin	d’établir	un	canal	sûr	pour	la  transmission de la clé</a:t>
            </a:r>
            <a:endParaRPr/>
          </a:p>
        </p:txBody>
      </p:sp>
      <p:sp>
        <p:nvSpPr>
          <p:cNvPr id="239" name="Google Shape;239;p1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240" name="Google Shape;240;p17"/>
          <p:cNvSpPr txBox="1"/>
          <p:nvPr/>
        </p:nvSpPr>
        <p:spPr>
          <a:xfrm>
            <a:off x="801420" y="4791583"/>
            <a:ext cx="8039100" cy="412934"/>
          </a:xfrm>
          <a:prstGeom prst="rect">
            <a:avLst/>
          </a:prstGeom>
          <a:noFill/>
          <a:ln>
            <a:noFill/>
          </a:ln>
        </p:spPr>
        <p:txBody>
          <a:bodyPr anchorCtr="0" anchor="t" bIns="0" lIns="0" spcFirstLastPara="1" rIns="0" wrap="square" tIns="12700">
            <a:spAutoFit/>
          </a:bodyPr>
          <a:lstStyle/>
          <a:p>
            <a:pPr indent="-287019" lvl="0" marL="299085" marR="0" rtl="0" algn="l">
              <a:lnSpc>
                <a:spcPct val="100000"/>
              </a:lnSpc>
              <a:spcBef>
                <a:spcPts val="0"/>
              </a:spcBef>
              <a:spcAft>
                <a:spcPts val="0"/>
              </a:spcAft>
              <a:buClr>
                <a:srgbClr val="D20000"/>
              </a:buClr>
              <a:buSzPts val="2800"/>
              <a:buFont typeface="Calibri"/>
              <a:buChar char="▪"/>
            </a:pPr>
            <a:r>
              <a:rPr lang="en-US" sz="2600">
                <a:solidFill>
                  <a:schemeClr val="dk1"/>
                </a:solidFill>
                <a:latin typeface="Calibri"/>
                <a:ea typeface="Calibri"/>
                <a:cs typeface="Calibri"/>
                <a:sym typeface="Calibri"/>
              </a:rPr>
              <a:t>Plusieurs	fonctions	de	sécurité:	</a:t>
            </a:r>
            <a:r>
              <a:rPr lang="en-US" sz="2600">
                <a:solidFill>
                  <a:srgbClr val="FF0000"/>
                </a:solidFill>
                <a:latin typeface="Calibri"/>
                <a:ea typeface="Calibri"/>
                <a:cs typeface="Calibri"/>
                <a:sym typeface="Calibri"/>
              </a:rPr>
              <a:t>confidentialité</a:t>
            </a:r>
            <a:r>
              <a:rPr lang="en-US"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p:txBody>
      </p:sp>
      <p:sp>
        <p:nvSpPr>
          <p:cNvPr id="241" name="Google Shape;241;p17"/>
          <p:cNvSpPr txBox="1"/>
          <p:nvPr/>
        </p:nvSpPr>
        <p:spPr>
          <a:xfrm>
            <a:off x="801424" y="5065963"/>
            <a:ext cx="7668895" cy="1088760"/>
          </a:xfrm>
          <a:prstGeom prst="rect">
            <a:avLst/>
          </a:prstGeom>
          <a:noFill/>
          <a:ln>
            <a:noFill/>
          </a:ln>
        </p:spPr>
        <p:txBody>
          <a:bodyPr anchorCtr="0" anchor="t" bIns="0" lIns="0" spcFirstLastPara="1" rIns="0" wrap="square" tIns="133350">
            <a:spAutoFit/>
          </a:bodyPr>
          <a:lstStyle/>
          <a:p>
            <a:pPr indent="0" lvl="0" marL="299085" marR="0" rtl="0" algn="l">
              <a:lnSpc>
                <a:spcPct val="100000"/>
              </a:lnSpc>
              <a:spcBef>
                <a:spcPts val="0"/>
              </a:spcBef>
              <a:spcAft>
                <a:spcPts val="0"/>
              </a:spcAft>
              <a:buNone/>
            </a:pPr>
            <a:r>
              <a:rPr lang="en-US" sz="2600">
                <a:solidFill>
                  <a:srgbClr val="FF0000"/>
                </a:solidFill>
                <a:latin typeface="Calibri"/>
                <a:ea typeface="Calibri"/>
                <a:cs typeface="Calibri"/>
                <a:sym typeface="Calibri"/>
              </a:rPr>
              <a:t>authentification</a:t>
            </a:r>
            <a:r>
              <a:rPr lang="en-US" sz="2600">
                <a:solidFill>
                  <a:schemeClr val="dk1"/>
                </a:solidFill>
                <a:latin typeface="Calibri"/>
                <a:ea typeface="Calibri"/>
                <a:cs typeface="Calibri"/>
                <a:sym typeface="Calibri"/>
              </a:rPr>
              <a:t>, et </a:t>
            </a:r>
            <a:r>
              <a:rPr lang="en-US" sz="2600">
                <a:solidFill>
                  <a:srgbClr val="FF0000"/>
                </a:solidFill>
                <a:latin typeface="Calibri"/>
                <a:ea typeface="Calibri"/>
                <a:cs typeface="Calibri"/>
                <a:sym typeface="Calibri"/>
              </a:rPr>
              <a:t>non-répudiation</a:t>
            </a:r>
            <a:r>
              <a:rPr lang="en-US" sz="2600">
                <a:solidFill>
                  <a:schemeClr val="dk1"/>
                </a:solidFill>
                <a:latin typeface="Calibri"/>
                <a:ea typeface="Calibri"/>
                <a:cs typeface="Calibri"/>
                <a:sym typeface="Calibri"/>
              </a:rPr>
              <a:t>.</a:t>
            </a:r>
            <a:endParaRPr sz="2600">
              <a:solidFill>
                <a:schemeClr val="dk1"/>
              </a:solidFill>
              <a:latin typeface="Calibri"/>
              <a:ea typeface="Calibri"/>
              <a:cs typeface="Calibri"/>
              <a:sym typeface="Calibri"/>
            </a:endParaRPr>
          </a:p>
          <a:p>
            <a:pPr indent="-287019" lvl="0" marL="299085" marR="0" rtl="0" algn="l">
              <a:lnSpc>
                <a:spcPct val="100000"/>
              </a:lnSpc>
              <a:spcBef>
                <a:spcPts val="1215"/>
              </a:spcBef>
              <a:spcAft>
                <a:spcPts val="0"/>
              </a:spcAft>
              <a:buClr>
                <a:srgbClr val="D20000"/>
              </a:buClr>
              <a:buSzPts val="2800"/>
              <a:buFont typeface="Calibri"/>
              <a:buChar char="▪"/>
            </a:pPr>
            <a:r>
              <a:rPr lang="en-US" sz="2600">
                <a:solidFill>
                  <a:schemeClr val="dk1"/>
                </a:solidFill>
                <a:latin typeface="Calibri"/>
                <a:ea typeface="Calibri"/>
                <a:cs typeface="Calibri"/>
                <a:sym typeface="Calibri"/>
              </a:rPr>
              <a:t>Plus sûr qu’un algorithme de cryptage symétrique.</a:t>
            </a:r>
            <a:endParaRPr sz="26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nvSpPr>
        <p:spPr>
          <a:xfrm>
            <a:off x="158597" y="1364948"/>
            <a:ext cx="8722360" cy="281359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3000">
                <a:solidFill>
                  <a:schemeClr val="dk1"/>
                </a:solidFill>
                <a:latin typeface="Trebuchet MS"/>
                <a:ea typeface="Trebuchet MS"/>
                <a:cs typeface="Trebuchet MS"/>
                <a:sym typeface="Trebuchet MS"/>
              </a:rPr>
              <a:t>Inconvénients</a:t>
            </a:r>
            <a:endParaRPr sz="3000">
              <a:solidFill>
                <a:schemeClr val="dk1"/>
              </a:solidFill>
              <a:latin typeface="Trebuchet MS"/>
              <a:ea typeface="Trebuchet MS"/>
              <a:cs typeface="Trebuchet MS"/>
              <a:sym typeface="Trebuchet MS"/>
            </a:endParaRPr>
          </a:p>
          <a:p>
            <a:pPr indent="-356870" lvl="0" marL="542925" marR="5080" rtl="0" algn="l">
              <a:lnSpc>
                <a:spcPct val="100000"/>
              </a:lnSpc>
              <a:spcBef>
                <a:spcPts val="15"/>
              </a:spcBef>
              <a:spcAft>
                <a:spcPts val="0"/>
              </a:spcAft>
              <a:buClr>
                <a:srgbClr val="D20000"/>
              </a:buClr>
              <a:buSzPts val="2800"/>
              <a:buFont typeface="Helvetica Neue"/>
              <a:buChar char="▪"/>
            </a:pPr>
            <a:r>
              <a:rPr lang="en-US" sz="2600">
                <a:solidFill>
                  <a:schemeClr val="dk1"/>
                </a:solidFill>
                <a:latin typeface="Helvetica Neue"/>
                <a:ea typeface="Helvetica Neue"/>
                <a:cs typeface="Helvetica Neue"/>
                <a:sym typeface="Helvetica Neue"/>
              </a:rPr>
              <a:t>Requiert	trop	d’opérations,	donc	n’est	pas  recommandé pour de grande quantité d’information:</a:t>
            </a:r>
            <a:endParaRPr sz="2600">
              <a:solidFill>
                <a:schemeClr val="dk1"/>
              </a:solidFill>
              <a:latin typeface="Helvetica Neue"/>
              <a:ea typeface="Helvetica Neue"/>
              <a:cs typeface="Helvetica Neue"/>
              <a:sym typeface="Helvetica Neue"/>
            </a:endParaRPr>
          </a:p>
          <a:p>
            <a:pPr indent="-332740" lvl="1" marL="1259205" marR="0" rtl="0" algn="l">
              <a:lnSpc>
                <a:spcPct val="100000"/>
              </a:lnSpc>
              <a:spcBef>
                <a:spcPts val="1210"/>
              </a:spcBef>
              <a:spcAft>
                <a:spcPts val="0"/>
              </a:spcAft>
              <a:buClr>
                <a:srgbClr val="C00000"/>
              </a:buClr>
              <a:buSzPts val="2200"/>
              <a:buFont typeface="Noto Sans Symbols"/>
              <a:buChar char="⮚"/>
            </a:pPr>
            <a:r>
              <a:rPr b="0" i="0" lang="en-US" sz="2200" u="none" cap="none" strike="noStrike">
                <a:solidFill>
                  <a:schemeClr val="dk1"/>
                </a:solidFill>
                <a:latin typeface="Helvetica Neue"/>
                <a:ea typeface="Helvetica Neue"/>
                <a:cs typeface="Helvetica Neue"/>
                <a:sym typeface="Helvetica Neue"/>
              </a:rPr>
              <a:t>Dix fois plus lent que le cryptage symétrique.</a:t>
            </a:r>
            <a:endParaRPr b="0" i="0" sz="2200" u="none" cap="none" strike="noStrike">
              <a:solidFill>
                <a:schemeClr val="dk1"/>
              </a:solidFill>
              <a:latin typeface="Helvetica Neue"/>
              <a:ea typeface="Helvetica Neue"/>
              <a:cs typeface="Helvetica Neue"/>
              <a:sym typeface="Helvetica Neue"/>
            </a:endParaRPr>
          </a:p>
          <a:p>
            <a:pPr indent="-332740" lvl="1" marL="1259205" marR="0" rtl="0" algn="l">
              <a:lnSpc>
                <a:spcPct val="100000"/>
              </a:lnSpc>
              <a:spcBef>
                <a:spcPts val="1200"/>
              </a:spcBef>
              <a:spcAft>
                <a:spcPts val="0"/>
              </a:spcAft>
              <a:buClr>
                <a:srgbClr val="C00000"/>
              </a:buClr>
              <a:buSzPts val="2200"/>
              <a:buFont typeface="Noto Sans Symbols"/>
              <a:buChar char="⮚"/>
            </a:pPr>
            <a:r>
              <a:rPr b="0" i="0" lang="en-US" sz="2200" u="none" cap="none" strike="noStrike">
                <a:solidFill>
                  <a:schemeClr val="dk1"/>
                </a:solidFill>
                <a:latin typeface="Helvetica Neue"/>
                <a:ea typeface="Helvetica Neue"/>
                <a:cs typeface="Helvetica Neue"/>
                <a:sym typeface="Helvetica Neue"/>
              </a:rPr>
              <a:t>Recommandé pour l’échange de clés de session.</a:t>
            </a:r>
            <a:endParaRPr b="0" i="0" sz="2200" u="none" cap="none" strike="noStrike">
              <a:solidFill>
                <a:schemeClr val="dk1"/>
              </a:solidFill>
              <a:latin typeface="Helvetica Neue"/>
              <a:ea typeface="Helvetica Neue"/>
              <a:cs typeface="Helvetica Neue"/>
              <a:sym typeface="Helvetica Neue"/>
            </a:endParaRPr>
          </a:p>
          <a:p>
            <a:pPr indent="-357505" lvl="0" marL="542925" marR="0" rtl="0" algn="l">
              <a:lnSpc>
                <a:spcPct val="100000"/>
              </a:lnSpc>
              <a:spcBef>
                <a:spcPts val="1195"/>
              </a:spcBef>
              <a:spcAft>
                <a:spcPts val="0"/>
              </a:spcAft>
              <a:buClr>
                <a:srgbClr val="D20000"/>
              </a:buClr>
              <a:buSzPts val="2800"/>
              <a:buFont typeface="Helvetica Neue"/>
              <a:buChar char="▪"/>
            </a:pPr>
            <a:r>
              <a:rPr lang="en-US" sz="2600">
                <a:solidFill>
                  <a:schemeClr val="dk1"/>
                </a:solidFill>
                <a:latin typeface="Helvetica Neue"/>
                <a:ea typeface="Helvetica Neue"/>
                <a:cs typeface="Helvetica Neue"/>
                <a:sym typeface="Helvetica Neue"/>
              </a:rPr>
              <a:t>Vulnérable aux attaques de type </a:t>
            </a:r>
            <a:r>
              <a:rPr b="1" lang="en-US" sz="2600">
                <a:solidFill>
                  <a:schemeClr val="dk1"/>
                </a:solidFill>
                <a:latin typeface="Arial"/>
                <a:ea typeface="Arial"/>
                <a:cs typeface="Arial"/>
                <a:sym typeface="Arial"/>
              </a:rPr>
              <a:t>Man In the Middle</a:t>
            </a:r>
            <a:endParaRPr sz="2600">
              <a:solidFill>
                <a:schemeClr val="dk1"/>
              </a:solidFill>
              <a:latin typeface="Arial"/>
              <a:ea typeface="Arial"/>
              <a:cs typeface="Arial"/>
              <a:sym typeface="Arial"/>
            </a:endParaRPr>
          </a:p>
        </p:txBody>
      </p:sp>
      <p:sp>
        <p:nvSpPr>
          <p:cNvPr id="247" name="Google Shape;247;p18"/>
          <p:cNvSpPr txBox="1"/>
          <p:nvPr/>
        </p:nvSpPr>
        <p:spPr>
          <a:xfrm>
            <a:off x="1072997" y="4142004"/>
            <a:ext cx="6153150" cy="1828706"/>
          </a:xfrm>
          <a:prstGeom prst="rect">
            <a:avLst/>
          </a:prstGeom>
          <a:noFill/>
          <a:ln>
            <a:noFill/>
          </a:ln>
        </p:spPr>
        <p:txBody>
          <a:bodyPr anchorCtr="0" anchor="t" bIns="0" lIns="0" spcFirstLastPara="1" rIns="0" wrap="square" tIns="165100">
            <a:spAutoFit/>
          </a:bodyPr>
          <a:lstStyle/>
          <a:p>
            <a:pPr indent="-332740" lvl="0" marL="344805" marR="0" rtl="0" algn="l">
              <a:lnSpc>
                <a:spcPct val="100000"/>
              </a:lnSpc>
              <a:spcBef>
                <a:spcPts val="0"/>
              </a:spcBef>
              <a:spcAft>
                <a:spcPts val="0"/>
              </a:spcAft>
              <a:buClr>
                <a:srgbClr val="C00000"/>
              </a:buClr>
              <a:buSzPts val="2200"/>
              <a:buFont typeface="Noto Sans Symbols"/>
              <a:buChar char="⮚"/>
            </a:pPr>
            <a:r>
              <a:rPr lang="en-US" sz="2200">
                <a:solidFill>
                  <a:schemeClr val="dk1"/>
                </a:solidFill>
                <a:latin typeface="Helvetica Neue"/>
                <a:ea typeface="Helvetica Neue"/>
                <a:cs typeface="Helvetica Neue"/>
                <a:sym typeface="Helvetica Neue"/>
              </a:rPr>
              <a:t>Problème d’authentification d’un destinataire.</a:t>
            </a:r>
            <a:endParaRPr sz="2200">
              <a:solidFill>
                <a:schemeClr val="dk1"/>
              </a:solidFill>
              <a:latin typeface="Helvetica Neue"/>
              <a:ea typeface="Helvetica Neue"/>
              <a:cs typeface="Helvetica Neue"/>
              <a:sym typeface="Helvetica Neue"/>
            </a:endParaRPr>
          </a:p>
          <a:p>
            <a:pPr indent="-332740" lvl="0" marL="344805" marR="5080" rtl="0" algn="l">
              <a:lnSpc>
                <a:spcPct val="100000"/>
              </a:lnSpc>
              <a:spcBef>
                <a:spcPts val="1200"/>
              </a:spcBef>
              <a:spcAft>
                <a:spcPts val="0"/>
              </a:spcAft>
              <a:buClr>
                <a:srgbClr val="C00000"/>
              </a:buClr>
              <a:buSzPts val="2200"/>
              <a:buFont typeface="Noto Sans Symbols"/>
              <a:buChar char="⮚"/>
            </a:pPr>
            <a:r>
              <a:rPr lang="en-US" sz="2200">
                <a:solidFill>
                  <a:schemeClr val="dk1"/>
                </a:solidFill>
                <a:latin typeface="Helvetica Neue"/>
                <a:ea typeface="Helvetica Neue"/>
                <a:cs typeface="Helvetica Neue"/>
                <a:sym typeface="Helvetica Neue"/>
              </a:rPr>
              <a:t>Il	n’y	a	aucune	certitude	à	savoir	qui	est  propriétaire de la clé publique.</a:t>
            </a:r>
            <a:endParaRPr sz="2200">
              <a:solidFill>
                <a:schemeClr val="dk1"/>
              </a:solidFill>
              <a:latin typeface="Helvetica Neue"/>
              <a:ea typeface="Helvetica Neue"/>
              <a:cs typeface="Helvetica Neue"/>
              <a:sym typeface="Helvetica Neue"/>
            </a:endParaRPr>
          </a:p>
          <a:p>
            <a:pPr indent="-332740" lvl="0" marL="344805" marR="0" rtl="0" algn="l">
              <a:lnSpc>
                <a:spcPct val="100000"/>
              </a:lnSpc>
              <a:spcBef>
                <a:spcPts val="1200"/>
              </a:spcBef>
              <a:spcAft>
                <a:spcPts val="0"/>
              </a:spcAft>
              <a:buClr>
                <a:srgbClr val="C00000"/>
              </a:buClr>
              <a:buSzPts val="2200"/>
              <a:buFont typeface="Noto Sans Symbols"/>
              <a:buChar char="⮚"/>
            </a:pPr>
            <a:r>
              <a:rPr lang="en-US" sz="2200">
                <a:solidFill>
                  <a:schemeClr val="dk1"/>
                </a:solidFill>
                <a:latin typeface="Helvetica Neue"/>
                <a:ea typeface="Helvetica Neue"/>
                <a:cs typeface="Helvetica Neue"/>
                <a:sym typeface="Helvetica Neue"/>
              </a:rPr>
              <a:t>Un	attaquant	peut	usurper	l'identité	d'une</a:t>
            </a:r>
            <a:endParaRPr sz="2200">
              <a:solidFill>
                <a:schemeClr val="dk1"/>
              </a:solidFill>
              <a:latin typeface="Helvetica Neue"/>
              <a:ea typeface="Helvetica Neue"/>
              <a:cs typeface="Helvetica Neue"/>
              <a:sym typeface="Helvetica Neue"/>
            </a:endParaRPr>
          </a:p>
        </p:txBody>
      </p:sp>
      <p:sp>
        <p:nvSpPr>
          <p:cNvPr id="248" name="Google Shape;248;p18"/>
          <p:cNvSpPr txBox="1"/>
          <p:nvPr/>
        </p:nvSpPr>
        <p:spPr>
          <a:xfrm>
            <a:off x="7261610" y="4782694"/>
            <a:ext cx="1618615" cy="1217641"/>
          </a:xfrm>
          <a:prstGeom prst="rect">
            <a:avLst/>
          </a:prstGeom>
          <a:noFill/>
          <a:ln>
            <a:noFill/>
          </a:ln>
        </p:spPr>
        <p:txBody>
          <a:bodyPr anchorCtr="0" anchor="t" bIns="0" lIns="0" spcFirstLastPara="1" rIns="0" wrap="square" tIns="12050">
            <a:spAutoFit/>
          </a:bodyPr>
          <a:lstStyle/>
          <a:p>
            <a:pPr indent="0" lvl="0" marL="139065" marR="0" rtl="0" algn="l">
              <a:lnSpc>
                <a:spcPct val="100000"/>
              </a:lnSpc>
              <a:spcBef>
                <a:spcPts val="0"/>
              </a:spcBef>
              <a:spcAft>
                <a:spcPts val="0"/>
              </a:spcAft>
              <a:buNone/>
            </a:pPr>
            <a:r>
              <a:rPr lang="en-US" sz="2200">
                <a:solidFill>
                  <a:schemeClr val="dk1"/>
                </a:solidFill>
                <a:latin typeface="Helvetica Neue"/>
                <a:ea typeface="Helvetica Neue"/>
                <a:cs typeface="Helvetica Neue"/>
                <a:sym typeface="Helvetica Neue"/>
              </a:rPr>
              <a:t>le	véritable</a:t>
            </a:r>
            <a:endParaRPr sz="2200">
              <a:solidFill>
                <a:schemeClr val="dk1"/>
              </a:solidFill>
              <a:latin typeface="Helvetica Neue"/>
              <a:ea typeface="Helvetica Neue"/>
              <a:cs typeface="Helvetica Neue"/>
              <a:sym typeface="Helvetica Neue"/>
            </a:endParaRPr>
          </a:p>
          <a:p>
            <a:pPr indent="0" lvl="0" marL="0" marR="0" rtl="0" algn="l">
              <a:lnSpc>
                <a:spcPct val="100000"/>
              </a:lnSpc>
              <a:spcBef>
                <a:spcPts val="50"/>
              </a:spcBef>
              <a:spcAft>
                <a:spcPts val="0"/>
              </a:spcAft>
              <a:buNone/>
            </a:pPr>
            <a:r>
              <a:t/>
            </a:r>
            <a:endParaRPr sz="3350">
              <a:solidFill>
                <a:schemeClr val="dk1"/>
              </a:solidFill>
              <a:latin typeface="Helvetica Neue"/>
              <a:ea typeface="Helvetica Neue"/>
              <a:cs typeface="Helvetica Neue"/>
              <a:sym typeface="Helvetica Neue"/>
            </a:endParaRPr>
          </a:p>
          <a:p>
            <a:pPr indent="0" lvl="0" marL="12700" marR="0" rtl="0" algn="l">
              <a:lnSpc>
                <a:spcPct val="100000"/>
              </a:lnSpc>
              <a:spcBef>
                <a:spcPts val="0"/>
              </a:spcBef>
              <a:spcAft>
                <a:spcPts val="0"/>
              </a:spcAft>
              <a:buNone/>
            </a:pPr>
            <a:r>
              <a:rPr lang="en-US" sz="2200">
                <a:solidFill>
                  <a:schemeClr val="dk1"/>
                </a:solidFill>
                <a:latin typeface="Helvetica Neue"/>
                <a:ea typeface="Helvetica Neue"/>
                <a:cs typeface="Helvetica Neue"/>
                <a:sym typeface="Helvetica Neue"/>
              </a:rPr>
              <a:t>personne	et</a:t>
            </a:r>
            <a:endParaRPr sz="2200">
              <a:solidFill>
                <a:schemeClr val="dk1"/>
              </a:solidFill>
              <a:latin typeface="Helvetica Neue"/>
              <a:ea typeface="Helvetica Neue"/>
              <a:cs typeface="Helvetica Neue"/>
              <a:sym typeface="Helvetica Neue"/>
            </a:endParaRPr>
          </a:p>
        </p:txBody>
      </p:sp>
      <p:sp>
        <p:nvSpPr>
          <p:cNvPr id="249" name="Google Shape;249;p18"/>
          <p:cNvSpPr txBox="1"/>
          <p:nvPr/>
        </p:nvSpPr>
        <p:spPr>
          <a:xfrm>
            <a:off x="1405512" y="5941264"/>
            <a:ext cx="2854325" cy="350737"/>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200">
                <a:solidFill>
                  <a:schemeClr val="dk1"/>
                </a:solidFill>
                <a:latin typeface="Helvetica Neue"/>
                <a:ea typeface="Helvetica Neue"/>
                <a:cs typeface="Helvetica Neue"/>
                <a:sym typeface="Helvetica Neue"/>
              </a:rPr>
              <a:t>utiliser sa clé publique.</a:t>
            </a:r>
            <a:endParaRPr sz="2200">
              <a:solidFill>
                <a:schemeClr val="dk1"/>
              </a:solidFill>
              <a:latin typeface="Helvetica Neue"/>
              <a:ea typeface="Helvetica Neue"/>
              <a:cs typeface="Helvetica Neue"/>
              <a:sym typeface="Helvetica Neue"/>
            </a:endParaRPr>
          </a:p>
        </p:txBody>
      </p:sp>
      <p:sp>
        <p:nvSpPr>
          <p:cNvPr id="250" name="Google Shape;250;p18"/>
          <p:cNvSpPr txBox="1"/>
          <p:nvPr>
            <p:ph type="title"/>
          </p:nvPr>
        </p:nvSpPr>
        <p:spPr>
          <a:xfrm>
            <a:off x="914400" y="366776"/>
            <a:ext cx="6074033"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3600"/>
              <a:buFont typeface="Calibri"/>
              <a:buNone/>
            </a:pPr>
            <a:r>
              <a:rPr b="1" lang="en-US" sz="3600">
                <a:solidFill>
                  <a:srgbClr val="C00000"/>
                </a:solidFill>
              </a:rPr>
              <a:t>Avantages &amp; limitations</a:t>
            </a:r>
            <a:endParaRPr/>
          </a:p>
        </p:txBody>
      </p:sp>
      <p:sp>
        <p:nvSpPr>
          <p:cNvPr id="251" name="Google Shape;251;p1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9"/>
          <p:cNvSpPr txBox="1"/>
          <p:nvPr/>
        </p:nvSpPr>
        <p:spPr>
          <a:xfrm>
            <a:off x="271779" y="1375916"/>
            <a:ext cx="8700770" cy="5334794"/>
          </a:xfrm>
          <a:prstGeom prst="rect">
            <a:avLst/>
          </a:prstGeom>
          <a:noFill/>
          <a:ln>
            <a:noFill/>
          </a:ln>
        </p:spPr>
        <p:txBody>
          <a:bodyPr anchorCtr="0" anchor="t" bIns="0" lIns="0" spcFirstLastPara="1" rIns="0" wrap="square" tIns="12700">
            <a:spAutoFit/>
          </a:bodyPr>
          <a:lstStyle/>
          <a:p>
            <a:pPr indent="0" lvl="0" marL="37465" marR="0" rtl="0" algn="l">
              <a:lnSpc>
                <a:spcPct val="100000"/>
              </a:lnSpc>
              <a:spcBef>
                <a:spcPts val="0"/>
              </a:spcBef>
              <a:spcAft>
                <a:spcPts val="0"/>
              </a:spcAft>
              <a:buNone/>
            </a:pPr>
            <a:r>
              <a:rPr b="1" lang="en-US" sz="2700">
                <a:solidFill>
                  <a:schemeClr val="dk1"/>
                </a:solidFill>
                <a:latin typeface="Calibri"/>
                <a:ea typeface="Calibri"/>
                <a:cs typeface="Calibri"/>
                <a:sym typeface="Calibri"/>
              </a:rPr>
              <a:t>Diffie-Hellman</a:t>
            </a:r>
            <a:endParaRPr sz="2700">
              <a:solidFill>
                <a:schemeClr val="dk1"/>
              </a:solidFill>
              <a:latin typeface="Calibri"/>
              <a:ea typeface="Calibri"/>
              <a:cs typeface="Calibri"/>
              <a:sym typeface="Calibri"/>
            </a:endParaRPr>
          </a:p>
          <a:p>
            <a:pPr indent="-287019" lvl="0" marL="781050" marR="0" rtl="0" algn="l">
              <a:lnSpc>
                <a:spcPct val="100000"/>
              </a:lnSpc>
              <a:spcBef>
                <a:spcPts val="5"/>
              </a:spcBef>
              <a:spcAft>
                <a:spcPts val="0"/>
              </a:spcAft>
              <a:buClr>
                <a:srgbClr val="D20000"/>
              </a:buClr>
              <a:buSzPts val="2400"/>
              <a:buFont typeface="Calibri"/>
              <a:buChar char="▪"/>
            </a:pPr>
            <a:r>
              <a:rPr lang="en-US" sz="2200">
                <a:solidFill>
                  <a:schemeClr val="dk1"/>
                </a:solidFill>
                <a:latin typeface="Calibri"/>
                <a:ea typeface="Calibri"/>
                <a:cs typeface="Calibri"/>
                <a:sym typeface="Calibri"/>
              </a:rPr>
              <a:t>Concept inventé en 1976</a:t>
            </a:r>
            <a:endParaRPr sz="2200">
              <a:solidFill>
                <a:schemeClr val="dk1"/>
              </a:solidFill>
              <a:latin typeface="Calibri"/>
              <a:ea typeface="Calibri"/>
              <a:cs typeface="Calibri"/>
              <a:sym typeface="Calibri"/>
            </a:endParaRPr>
          </a:p>
          <a:p>
            <a:pPr indent="-287019" lvl="0" marL="781050" marR="240665" rtl="0" algn="l">
              <a:lnSpc>
                <a:spcPct val="115000"/>
              </a:lnSpc>
              <a:spcBef>
                <a:spcPts val="685"/>
              </a:spcBef>
              <a:spcAft>
                <a:spcPts val="0"/>
              </a:spcAft>
              <a:buClr>
                <a:srgbClr val="D20000"/>
              </a:buClr>
              <a:buSzPts val="2400"/>
              <a:buFont typeface="Calibri"/>
              <a:buChar char="▪"/>
            </a:pPr>
            <a:r>
              <a:rPr lang="en-US" sz="2200">
                <a:solidFill>
                  <a:schemeClr val="dk1"/>
                </a:solidFill>
                <a:latin typeface="Calibri"/>
                <a:ea typeface="Calibri"/>
                <a:cs typeface="Calibri"/>
                <a:sym typeface="Calibri"/>
              </a:rPr>
              <a:t>Résoudre	le	problème	de	distribution	de	clés	posé	par	la  cryptographie à clés secrètes.</a:t>
            </a:r>
            <a:endParaRPr sz="2200">
              <a:solidFill>
                <a:schemeClr val="dk1"/>
              </a:solidFill>
              <a:latin typeface="Calibri"/>
              <a:ea typeface="Calibri"/>
              <a:cs typeface="Calibri"/>
              <a:sym typeface="Calibri"/>
            </a:endParaRPr>
          </a:p>
          <a:p>
            <a:pPr indent="-287019" lvl="0" marL="781050" marR="0" rtl="0" algn="l">
              <a:lnSpc>
                <a:spcPct val="117499"/>
              </a:lnSpc>
              <a:spcBef>
                <a:spcPts val="425"/>
              </a:spcBef>
              <a:spcAft>
                <a:spcPts val="0"/>
              </a:spcAft>
              <a:buClr>
                <a:srgbClr val="D20000"/>
              </a:buClr>
              <a:buSzPts val="2400"/>
              <a:buFont typeface="Calibri"/>
              <a:buChar char="▪"/>
            </a:pPr>
            <a:r>
              <a:rPr lang="en-US" sz="2200">
                <a:solidFill>
                  <a:schemeClr val="dk1"/>
                </a:solidFill>
                <a:latin typeface="Calibri"/>
                <a:ea typeface="Calibri"/>
                <a:cs typeface="Calibri"/>
                <a:sym typeface="Calibri"/>
              </a:rPr>
              <a:t>Algorithme	utilisé	pour	l’échange	et	la	distribution	des	clés</a:t>
            </a:r>
            <a:endParaRPr sz="2200">
              <a:solidFill>
                <a:schemeClr val="dk1"/>
              </a:solidFill>
              <a:latin typeface="Calibri"/>
              <a:ea typeface="Calibri"/>
              <a:cs typeface="Calibri"/>
              <a:sym typeface="Calibri"/>
            </a:endParaRPr>
          </a:p>
          <a:p>
            <a:pPr indent="0" lvl="0" marL="781050" marR="0" rtl="0" algn="l">
              <a:lnSpc>
                <a:spcPct val="117499"/>
              </a:lnSpc>
              <a:spcBef>
                <a:spcPts val="0"/>
              </a:spcBef>
              <a:spcAft>
                <a:spcPts val="0"/>
              </a:spcAft>
              <a:buNone/>
            </a:pPr>
            <a:r>
              <a:rPr lang="en-US" sz="2200">
                <a:solidFill>
                  <a:schemeClr val="dk1"/>
                </a:solidFill>
                <a:latin typeface="Calibri"/>
                <a:ea typeface="Calibri"/>
                <a:cs typeface="Calibri"/>
                <a:sym typeface="Calibri"/>
              </a:rPr>
              <a:t>symétriques.</a:t>
            </a:r>
            <a:endParaRPr sz="2200">
              <a:solidFill>
                <a:schemeClr val="dk1"/>
              </a:solidFill>
              <a:latin typeface="Calibri"/>
              <a:ea typeface="Calibri"/>
              <a:cs typeface="Calibri"/>
              <a:sym typeface="Calibri"/>
            </a:endParaRPr>
          </a:p>
          <a:p>
            <a:pPr indent="0" lvl="0" marL="25400" marR="0" rtl="0" algn="l">
              <a:lnSpc>
                <a:spcPct val="100000"/>
              </a:lnSpc>
              <a:spcBef>
                <a:spcPts val="1190"/>
              </a:spcBef>
              <a:spcAft>
                <a:spcPts val="0"/>
              </a:spcAft>
              <a:buNone/>
            </a:pPr>
            <a:r>
              <a:rPr b="1" lang="en-US" sz="2700">
                <a:solidFill>
                  <a:schemeClr val="dk1"/>
                </a:solidFill>
                <a:latin typeface="Calibri"/>
                <a:ea typeface="Calibri"/>
                <a:cs typeface="Calibri"/>
                <a:sym typeface="Calibri"/>
              </a:rPr>
              <a:t>RSA (</a:t>
            </a:r>
            <a:r>
              <a:rPr b="1" lang="en-US" sz="2800">
                <a:solidFill>
                  <a:schemeClr val="dk1"/>
                </a:solidFill>
                <a:latin typeface="Calibri"/>
                <a:ea typeface="Calibri"/>
                <a:cs typeface="Calibri"/>
                <a:sym typeface="Calibri"/>
              </a:rPr>
              <a:t>Rivest–Shamir–Adleman)</a:t>
            </a:r>
            <a:endParaRPr sz="2800">
              <a:solidFill>
                <a:schemeClr val="dk1"/>
              </a:solidFill>
              <a:latin typeface="Calibri"/>
              <a:ea typeface="Calibri"/>
              <a:cs typeface="Calibri"/>
              <a:sym typeface="Calibri"/>
            </a:endParaRPr>
          </a:p>
          <a:p>
            <a:pPr indent="-287019" lvl="0" marL="781050" marR="0" rtl="0" algn="l">
              <a:lnSpc>
                <a:spcPct val="100000"/>
              </a:lnSpc>
              <a:spcBef>
                <a:spcPts val="15"/>
              </a:spcBef>
              <a:spcAft>
                <a:spcPts val="0"/>
              </a:spcAft>
              <a:buClr>
                <a:srgbClr val="D20000"/>
              </a:buClr>
              <a:buSzPts val="2400"/>
              <a:buFont typeface="Calibri"/>
              <a:buChar char="▪"/>
            </a:pPr>
            <a:r>
              <a:rPr lang="en-US" sz="2200">
                <a:solidFill>
                  <a:schemeClr val="dk1"/>
                </a:solidFill>
                <a:latin typeface="Calibri"/>
                <a:ea typeface="Calibri"/>
                <a:cs typeface="Calibri"/>
                <a:sym typeface="Calibri"/>
              </a:rPr>
              <a:t>Concept inventé en 1978</a:t>
            </a:r>
            <a:endParaRPr sz="2200">
              <a:solidFill>
                <a:schemeClr val="dk1"/>
              </a:solidFill>
              <a:latin typeface="Calibri"/>
              <a:ea typeface="Calibri"/>
              <a:cs typeface="Calibri"/>
              <a:sym typeface="Calibri"/>
            </a:endParaRPr>
          </a:p>
          <a:p>
            <a:pPr indent="-287019" lvl="0" marL="781050" marR="59055" rtl="0" algn="l">
              <a:lnSpc>
                <a:spcPct val="100000"/>
              </a:lnSpc>
              <a:spcBef>
                <a:spcPts val="600"/>
              </a:spcBef>
              <a:spcAft>
                <a:spcPts val="0"/>
              </a:spcAft>
              <a:buClr>
                <a:srgbClr val="D20000"/>
              </a:buClr>
              <a:buSzPts val="2400"/>
              <a:buFont typeface="Calibri"/>
              <a:buChar char="▪"/>
            </a:pPr>
            <a:r>
              <a:rPr lang="en-US" sz="2200">
                <a:solidFill>
                  <a:schemeClr val="dk1"/>
                </a:solidFill>
                <a:latin typeface="Calibri"/>
                <a:ea typeface="Calibri"/>
                <a:cs typeface="Calibri"/>
                <a:sym typeface="Calibri"/>
              </a:rPr>
              <a:t>Le plus connu et le plus utilisé comme algorithme de cryptage  asymétrique.</a:t>
            </a:r>
            <a:endParaRPr sz="2200">
              <a:solidFill>
                <a:schemeClr val="dk1"/>
              </a:solidFill>
              <a:latin typeface="Calibri"/>
              <a:ea typeface="Calibri"/>
              <a:cs typeface="Calibri"/>
              <a:sym typeface="Calibri"/>
            </a:endParaRPr>
          </a:p>
          <a:p>
            <a:pPr indent="-287019" lvl="0" marL="781050" marR="0" rtl="0" algn="l">
              <a:lnSpc>
                <a:spcPct val="100000"/>
              </a:lnSpc>
              <a:spcBef>
                <a:spcPts val="600"/>
              </a:spcBef>
              <a:spcAft>
                <a:spcPts val="0"/>
              </a:spcAft>
              <a:buClr>
                <a:srgbClr val="D20000"/>
              </a:buClr>
              <a:buSzPts val="2400"/>
              <a:buFont typeface="Calibri"/>
              <a:buChar char="▪"/>
            </a:pPr>
            <a:r>
              <a:rPr lang="en-US" sz="2200">
                <a:solidFill>
                  <a:schemeClr val="dk1"/>
                </a:solidFill>
                <a:latin typeface="Calibri"/>
                <a:ea typeface="Calibri"/>
                <a:cs typeface="Calibri"/>
                <a:sym typeface="Calibri"/>
              </a:rPr>
              <a:t>Basés sur des problèmes mathématiques difficiles à	résoudre:</a:t>
            </a:r>
            <a:endParaRPr/>
          </a:p>
          <a:p>
            <a:pPr indent="-360680" lvl="1" marL="1457960" marR="0" rtl="0" algn="l">
              <a:lnSpc>
                <a:spcPct val="100000"/>
              </a:lnSpc>
              <a:spcBef>
                <a:spcPts val="210"/>
              </a:spcBef>
              <a:spcAft>
                <a:spcPts val="0"/>
              </a:spcAft>
              <a:buClr>
                <a:srgbClr val="D20000"/>
              </a:buClr>
              <a:buSzPts val="2400"/>
              <a:buFont typeface="Courier New"/>
              <a:buChar char="o"/>
            </a:pPr>
            <a:r>
              <a:rPr b="0" i="0" lang="en-US" sz="2000" u="none" cap="none" strike="noStrike">
                <a:solidFill>
                  <a:schemeClr val="dk1"/>
                </a:solidFill>
                <a:latin typeface="Calibri"/>
                <a:ea typeface="Calibri"/>
                <a:cs typeface="Calibri"/>
                <a:sym typeface="Calibri"/>
              </a:rPr>
              <a:t>Logarithme discret</a:t>
            </a:r>
            <a:endParaRPr/>
          </a:p>
          <a:p>
            <a:pPr indent="-360045" lvl="1" marL="1457960" marR="55880" rtl="0" algn="l">
              <a:lnSpc>
                <a:spcPct val="120000"/>
              </a:lnSpc>
              <a:spcBef>
                <a:spcPts val="600"/>
              </a:spcBef>
              <a:spcAft>
                <a:spcPts val="0"/>
              </a:spcAft>
              <a:buClr>
                <a:srgbClr val="D20000"/>
              </a:buClr>
              <a:buSzPts val="2400"/>
              <a:buFont typeface="Courier New"/>
              <a:buChar char="o"/>
            </a:pPr>
            <a:r>
              <a:rPr b="0" i="0" lang="en-US" sz="2000" u="none" cap="none" strike="noStrike">
                <a:solidFill>
                  <a:schemeClr val="dk1"/>
                </a:solidFill>
                <a:latin typeface="Calibri"/>
                <a:ea typeface="Calibri"/>
                <a:cs typeface="Calibri"/>
                <a:sym typeface="Calibri"/>
              </a:rPr>
              <a:t>Factorisation	des	grands	nombres	en	un	produit	de	deux  nombres premiers entre eux.						</a:t>
            </a:r>
            <a:endParaRPr b="0" baseline="30000" i="0" sz="2400" u="none" cap="none" strike="noStrike">
              <a:solidFill>
                <a:schemeClr val="dk1"/>
              </a:solidFill>
              <a:latin typeface="Calibri"/>
              <a:ea typeface="Calibri"/>
              <a:cs typeface="Calibri"/>
              <a:sym typeface="Calibri"/>
            </a:endParaRPr>
          </a:p>
        </p:txBody>
      </p:sp>
      <p:sp>
        <p:nvSpPr>
          <p:cNvPr id="257" name="Google Shape;257;p19"/>
          <p:cNvSpPr txBox="1"/>
          <p:nvPr>
            <p:ph type="title"/>
          </p:nvPr>
        </p:nvSpPr>
        <p:spPr>
          <a:xfrm>
            <a:off x="1219200" y="349461"/>
            <a:ext cx="5992494"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Exemple d’algorithmes</a:t>
            </a:r>
            <a:endParaRPr/>
          </a:p>
        </p:txBody>
      </p:sp>
      <p:sp>
        <p:nvSpPr>
          <p:cNvPr id="258" name="Google Shape;258;p19"/>
          <p:cNvSpPr txBox="1"/>
          <p:nvPr>
            <p:ph idx="12" type="sldNum"/>
          </p:nvPr>
        </p:nvSpPr>
        <p:spPr>
          <a:xfrm>
            <a:off x="86772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0"/>
          <p:cNvSpPr txBox="1"/>
          <p:nvPr>
            <p:ph type="title"/>
          </p:nvPr>
        </p:nvSpPr>
        <p:spPr>
          <a:xfrm>
            <a:off x="1066800" y="437782"/>
            <a:ext cx="5149090" cy="629018"/>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Chiffrement hybride</a:t>
            </a:r>
            <a:endParaRPr b="1" sz="4000">
              <a:solidFill>
                <a:srgbClr val="C00000"/>
              </a:solidFill>
            </a:endParaRPr>
          </a:p>
        </p:txBody>
      </p:sp>
      <p:sp>
        <p:nvSpPr>
          <p:cNvPr id="264" name="Google Shape;264;p20"/>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265" name="Google Shape;265;p20"/>
          <p:cNvSpPr txBox="1"/>
          <p:nvPr/>
        </p:nvSpPr>
        <p:spPr>
          <a:xfrm>
            <a:off x="535330" y="1568323"/>
            <a:ext cx="8041640" cy="3413114"/>
          </a:xfrm>
          <a:prstGeom prst="rect">
            <a:avLst/>
          </a:prstGeom>
          <a:noFill/>
          <a:ln>
            <a:noFill/>
          </a:ln>
        </p:spPr>
        <p:txBody>
          <a:bodyPr anchorCtr="0" anchor="t" bIns="0" lIns="0" spcFirstLastPara="1" rIns="0" wrap="square" tIns="12050">
            <a:spAutoFit/>
          </a:bodyPr>
          <a:lstStyle/>
          <a:p>
            <a:pPr indent="-457200" lvl="0" marL="469900" marR="0" rtl="0" algn="l">
              <a:lnSpc>
                <a:spcPct val="100000"/>
              </a:lnSpc>
              <a:spcBef>
                <a:spcPts val="0"/>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Chiffrement combinant le chiffrement à </a:t>
            </a:r>
            <a:r>
              <a:rPr lang="en-US" sz="2200">
                <a:solidFill>
                  <a:srgbClr val="006FC0"/>
                </a:solidFill>
                <a:latin typeface="Calibri"/>
                <a:ea typeface="Calibri"/>
                <a:cs typeface="Calibri"/>
                <a:sym typeface="Calibri"/>
              </a:rPr>
              <a:t>clés symétriques </a:t>
            </a:r>
            <a:r>
              <a:rPr lang="en-US" sz="2200">
                <a:solidFill>
                  <a:schemeClr val="dk1"/>
                </a:solidFill>
                <a:latin typeface="Calibri"/>
                <a:ea typeface="Calibri"/>
                <a:cs typeface="Calibri"/>
                <a:sym typeface="Calibri"/>
              </a:rPr>
              <a:t>et</a:t>
            </a:r>
            <a:endParaRPr sz="220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200">
                <a:solidFill>
                  <a:schemeClr val="dk1"/>
                </a:solidFill>
                <a:latin typeface="Calibri"/>
                <a:ea typeface="Calibri"/>
                <a:cs typeface="Calibri"/>
                <a:sym typeface="Calibri"/>
              </a:rPr>
              <a:t>le chiffrement à </a:t>
            </a:r>
            <a:r>
              <a:rPr lang="en-US" sz="2200">
                <a:solidFill>
                  <a:srgbClr val="006FC0"/>
                </a:solidFill>
                <a:latin typeface="Calibri"/>
                <a:ea typeface="Calibri"/>
                <a:cs typeface="Calibri"/>
                <a:sym typeface="Calibri"/>
              </a:rPr>
              <a:t>clés asymétriques</a:t>
            </a:r>
            <a:r>
              <a:rPr lang="en-US"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457200" lvl="0" marL="469900" marR="6350" rtl="0" algn="l">
              <a:lnSpc>
                <a:spcPct val="100000"/>
              </a:lnSpc>
              <a:spcBef>
                <a:spcPts val="1800"/>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L’expéditeur génère une clé à usage unique (appelée clé de  session).</a:t>
            </a:r>
            <a:endParaRPr sz="2200">
              <a:solidFill>
                <a:schemeClr val="dk1"/>
              </a:solidFill>
              <a:latin typeface="Calibri"/>
              <a:ea typeface="Calibri"/>
              <a:cs typeface="Calibri"/>
              <a:sym typeface="Calibri"/>
            </a:endParaRPr>
          </a:p>
          <a:p>
            <a:pPr indent="-457200" lvl="0" marL="469900" marR="5080" rtl="0" algn="l">
              <a:lnSpc>
                <a:spcPct val="100000"/>
              </a:lnSpc>
              <a:spcBef>
                <a:spcPts val="1805"/>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Cette	clé	sera	utilisée	pour	chiffrer	symétriquement	le  document.</a:t>
            </a:r>
            <a:endParaRPr sz="2200">
              <a:solidFill>
                <a:schemeClr val="dk1"/>
              </a:solidFill>
              <a:latin typeface="Calibri"/>
              <a:ea typeface="Calibri"/>
              <a:cs typeface="Calibri"/>
              <a:sym typeface="Calibri"/>
            </a:endParaRPr>
          </a:p>
          <a:p>
            <a:pPr indent="-457200" lvl="0" marL="469900" marR="8890" rtl="0" algn="l">
              <a:lnSpc>
                <a:spcPct val="100000"/>
              </a:lnSpc>
              <a:spcBef>
                <a:spcPts val="1800"/>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Puis	la	clé	sera	chiffrée	asymétriquement	avec	la	clé  publique du destinataire.</a:t>
            </a:r>
            <a:endParaRPr sz="2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9" name="Shape 269"/>
        <p:cNvGrpSpPr/>
        <p:nvPr/>
      </p:nvGrpSpPr>
      <p:grpSpPr>
        <a:xfrm>
          <a:off x="0" y="0"/>
          <a:ext cx="0" cy="0"/>
          <a:chOff x="0" y="0"/>
          <a:chExt cx="0" cy="0"/>
        </a:xfrm>
      </p:grpSpPr>
      <p:sp>
        <p:nvSpPr>
          <p:cNvPr id="270" name="Google Shape;270;p21"/>
          <p:cNvSpPr txBox="1"/>
          <p:nvPr>
            <p:ph type="title"/>
          </p:nvPr>
        </p:nvSpPr>
        <p:spPr>
          <a:xfrm>
            <a:off x="1143000" y="350223"/>
            <a:ext cx="6096000" cy="567463"/>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C00000"/>
              </a:buClr>
              <a:buSzPts val="3600"/>
              <a:buFont typeface="Calibri"/>
              <a:buNone/>
            </a:pPr>
            <a:r>
              <a:rPr b="1" lang="en-US" sz="3600">
                <a:solidFill>
                  <a:srgbClr val="C00000"/>
                </a:solidFill>
              </a:rPr>
              <a:t>Chiffrement hybride</a:t>
            </a:r>
            <a:endParaRPr b="1" sz="3600">
              <a:solidFill>
                <a:srgbClr val="C00000"/>
              </a:solidFill>
            </a:endParaRPr>
          </a:p>
        </p:txBody>
      </p:sp>
      <p:sp>
        <p:nvSpPr>
          <p:cNvPr id="271" name="Google Shape;271;p21"/>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272" name="Google Shape;272;p21"/>
          <p:cNvSpPr txBox="1"/>
          <p:nvPr/>
        </p:nvSpPr>
        <p:spPr>
          <a:xfrm>
            <a:off x="495100" y="1480186"/>
            <a:ext cx="3681095" cy="350737"/>
          </a:xfrm>
          <a:prstGeom prst="rect">
            <a:avLst/>
          </a:prstGeom>
          <a:noFill/>
          <a:ln>
            <a:noFill/>
          </a:ln>
        </p:spPr>
        <p:txBody>
          <a:bodyPr anchorCtr="0" anchor="t" bIns="0" lIns="0" spcFirstLastPara="1" rIns="0" wrap="square" tIns="12050">
            <a:spAutoFit/>
          </a:bodyPr>
          <a:lstStyle/>
          <a:p>
            <a:pPr indent="-457833" lvl="0" marL="469900" marR="0" rtl="0" algn="l">
              <a:lnSpc>
                <a:spcPct val="100000"/>
              </a:lnSpc>
              <a:spcBef>
                <a:spcPts val="0"/>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Chiffrement	asymétrique</a:t>
            </a:r>
            <a:endParaRPr sz="2200">
              <a:solidFill>
                <a:schemeClr val="dk1"/>
              </a:solidFill>
              <a:latin typeface="Calibri"/>
              <a:ea typeface="Calibri"/>
              <a:cs typeface="Calibri"/>
              <a:sym typeface="Calibri"/>
            </a:endParaRPr>
          </a:p>
        </p:txBody>
      </p:sp>
      <p:pic>
        <p:nvPicPr>
          <p:cNvPr id="273" name="Google Shape;273;p21"/>
          <p:cNvPicPr preferRelativeResize="0"/>
          <p:nvPr/>
        </p:nvPicPr>
        <p:blipFill rotWithShape="1">
          <a:blip r:embed="rId3">
            <a:alphaModFix/>
          </a:blip>
          <a:srcRect b="0" l="0" r="0" t="0"/>
          <a:stretch/>
        </p:blipFill>
        <p:spPr>
          <a:xfrm>
            <a:off x="0" y="2415033"/>
            <a:ext cx="9144000" cy="4442968"/>
          </a:xfrm>
          <a:prstGeom prst="rect">
            <a:avLst/>
          </a:prstGeom>
          <a:noFill/>
          <a:ln>
            <a:noFill/>
          </a:ln>
        </p:spPr>
      </p:pic>
      <p:sp>
        <p:nvSpPr>
          <p:cNvPr id="274" name="Google Shape;274;p21"/>
          <p:cNvSpPr txBox="1"/>
          <p:nvPr/>
        </p:nvSpPr>
        <p:spPr>
          <a:xfrm>
            <a:off x="4380738" y="1480186"/>
            <a:ext cx="4098290" cy="350737"/>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pour	l’envoi	d’une	clé	secret</a:t>
            </a:r>
            <a:endParaRPr sz="2200">
              <a:solidFill>
                <a:schemeClr val="dk1"/>
              </a:solidFill>
              <a:latin typeface="Calibri"/>
              <a:ea typeface="Calibri"/>
              <a:cs typeface="Calibri"/>
              <a:sym typeface="Calibri"/>
            </a:endParaRPr>
          </a:p>
        </p:txBody>
      </p:sp>
      <p:sp>
        <p:nvSpPr>
          <p:cNvPr id="275" name="Google Shape;275;p21"/>
          <p:cNvSpPr txBox="1"/>
          <p:nvPr/>
        </p:nvSpPr>
        <p:spPr>
          <a:xfrm>
            <a:off x="952601" y="1815543"/>
            <a:ext cx="4951730" cy="350737"/>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200">
                <a:solidFill>
                  <a:schemeClr val="dk1"/>
                </a:solidFill>
                <a:latin typeface="Calibri"/>
                <a:ea typeface="Calibri"/>
                <a:cs typeface="Calibri"/>
                <a:sym typeface="Calibri"/>
              </a:rPr>
              <a:t>utilisée dans un chiffrement symétrique.</a:t>
            </a:r>
            <a:endParaRPr sz="22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txBox="1"/>
          <p:nvPr/>
        </p:nvSpPr>
        <p:spPr>
          <a:xfrm>
            <a:off x="158601" y="1181790"/>
            <a:ext cx="8721725" cy="5078313"/>
          </a:xfrm>
          <a:prstGeom prst="rect">
            <a:avLst/>
          </a:prstGeom>
          <a:noFill/>
          <a:ln>
            <a:noFill/>
          </a:ln>
        </p:spPr>
        <p:txBody>
          <a:bodyPr anchorCtr="0" anchor="t" bIns="0" lIns="0" spcFirstLastPara="1" rIns="0" wrap="square" tIns="198100">
            <a:spAutoFit/>
          </a:bodyPr>
          <a:lstStyle/>
          <a:p>
            <a:pPr indent="-457200" lvl="0" marL="469900" marR="0" rtl="0" algn="l">
              <a:lnSpc>
                <a:spcPct val="100000"/>
              </a:lnSpc>
              <a:spcBef>
                <a:spcPts val="0"/>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Temps d’exécution du chiffrement et du déchiffrement rapide:</a:t>
            </a:r>
            <a:endParaRPr sz="2200">
              <a:solidFill>
                <a:schemeClr val="dk1"/>
              </a:solidFill>
              <a:latin typeface="Calibri"/>
              <a:ea typeface="Calibri"/>
              <a:cs typeface="Calibri"/>
              <a:sym typeface="Calibri"/>
            </a:endParaRPr>
          </a:p>
          <a:p>
            <a:pPr indent="-287019" lvl="1" marL="756285" marR="5080" rtl="0" algn="just">
              <a:lnSpc>
                <a:spcPct val="100000"/>
              </a:lnSpc>
              <a:spcBef>
                <a:spcPts val="1805"/>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le document est chiffré symétriquement donc chiffrement et  déchiffrement rapide;</a:t>
            </a:r>
            <a:endParaRPr b="0" i="0" sz="2200" u="none" cap="none" strike="noStrike">
              <a:solidFill>
                <a:schemeClr val="dk1"/>
              </a:solidFill>
              <a:latin typeface="Calibri"/>
              <a:ea typeface="Calibri"/>
              <a:cs typeface="Calibri"/>
              <a:sym typeface="Calibri"/>
            </a:endParaRPr>
          </a:p>
          <a:p>
            <a:pPr indent="-287019" lvl="1" marL="756285" marR="5080" rtl="0" algn="just">
              <a:lnSpc>
                <a:spcPct val="100000"/>
              </a:lnSpc>
              <a:spcBef>
                <a:spcPts val="1800"/>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la clé de session est chiffrée asymétriquement. La clé de  session est un document de taille réduit donc chiffrement et  déchiffrement rapide.</a:t>
            </a:r>
            <a:endParaRPr b="0" i="0" sz="2200" u="none" cap="none" strike="noStrike">
              <a:solidFill>
                <a:schemeClr val="dk1"/>
              </a:solidFill>
              <a:latin typeface="Calibri"/>
              <a:ea typeface="Calibri"/>
              <a:cs typeface="Calibri"/>
              <a:sym typeface="Calibri"/>
            </a:endParaRPr>
          </a:p>
          <a:p>
            <a:pPr indent="-457200" lvl="0" marL="469900" marR="0" rtl="0" algn="l">
              <a:lnSpc>
                <a:spcPct val="100000"/>
              </a:lnSpc>
              <a:spcBef>
                <a:spcPts val="1805"/>
              </a:spcBef>
              <a:spcAft>
                <a:spcPts val="0"/>
              </a:spcAft>
              <a:buClr>
                <a:srgbClr val="C00000"/>
              </a:buClr>
              <a:buSzPts val="3300"/>
              <a:buFont typeface="Calibri"/>
              <a:buChar char="•"/>
            </a:pPr>
            <a:r>
              <a:rPr lang="en-US" sz="2200">
                <a:solidFill>
                  <a:schemeClr val="dk1"/>
                </a:solidFill>
                <a:latin typeface="Calibri"/>
                <a:ea typeface="Calibri"/>
                <a:cs typeface="Calibri"/>
                <a:sym typeface="Calibri"/>
              </a:rPr>
              <a:t>En	chiffrant	asymétriquement	la	clé	de	session,	on	garde	les</a:t>
            </a:r>
            <a:endParaRPr sz="220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200">
                <a:solidFill>
                  <a:schemeClr val="dk1"/>
                </a:solidFill>
                <a:latin typeface="Calibri"/>
                <a:ea typeface="Calibri"/>
                <a:cs typeface="Calibri"/>
                <a:sym typeface="Calibri"/>
              </a:rPr>
              <a:t>avantages de ce chiffrement:</a:t>
            </a:r>
            <a:endParaRPr sz="2200">
              <a:solidFill>
                <a:schemeClr val="dk1"/>
              </a:solidFill>
              <a:latin typeface="Calibri"/>
              <a:ea typeface="Calibri"/>
              <a:cs typeface="Calibri"/>
              <a:sym typeface="Calibri"/>
            </a:endParaRPr>
          </a:p>
          <a:p>
            <a:pPr indent="-287019" lvl="1" marL="756285" marR="0" rtl="0" algn="l">
              <a:lnSpc>
                <a:spcPct val="100000"/>
              </a:lnSpc>
              <a:spcBef>
                <a:spcPts val="1800"/>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la gestion exponentielle du nombre de clé disparaît ;</a:t>
            </a:r>
            <a:endParaRPr b="0" i="0" sz="2200" u="none" cap="none" strike="noStrike">
              <a:solidFill>
                <a:schemeClr val="dk1"/>
              </a:solidFill>
              <a:latin typeface="Calibri"/>
              <a:ea typeface="Calibri"/>
              <a:cs typeface="Calibri"/>
              <a:sym typeface="Calibri"/>
            </a:endParaRPr>
          </a:p>
          <a:p>
            <a:pPr indent="-287019" lvl="1" marL="756285" marR="8890" rtl="0" algn="just">
              <a:lnSpc>
                <a:spcPct val="100000"/>
              </a:lnSpc>
              <a:spcBef>
                <a:spcPts val="1800"/>
              </a:spcBef>
              <a:spcAft>
                <a:spcPts val="0"/>
              </a:spcAft>
              <a:buClr>
                <a:srgbClr val="D20000"/>
              </a:buClr>
              <a:buSzPts val="2400"/>
              <a:buFont typeface="Calibri"/>
              <a:buChar char="▪"/>
            </a:pPr>
            <a:r>
              <a:rPr b="0" i="0" lang="en-US" sz="2200" u="none" cap="none" strike="noStrike">
                <a:solidFill>
                  <a:schemeClr val="dk1"/>
                </a:solidFill>
                <a:latin typeface="Calibri"/>
                <a:ea typeface="Calibri"/>
                <a:cs typeface="Calibri"/>
                <a:sym typeface="Calibri"/>
              </a:rPr>
              <a:t>le texte chiffré peut transiter via un réseau réputé non sûr sans  risque d’être décrypter par un tiers.</a:t>
            </a:r>
            <a:endParaRPr b="0" i="0" sz="2200" u="none" cap="none" strike="noStrike">
              <a:solidFill>
                <a:schemeClr val="dk1"/>
              </a:solidFill>
              <a:latin typeface="Calibri"/>
              <a:ea typeface="Calibri"/>
              <a:cs typeface="Calibri"/>
              <a:sym typeface="Calibri"/>
            </a:endParaRPr>
          </a:p>
        </p:txBody>
      </p:sp>
      <p:sp>
        <p:nvSpPr>
          <p:cNvPr id="281" name="Google Shape;281;p22"/>
          <p:cNvSpPr txBox="1"/>
          <p:nvPr>
            <p:ph type="title"/>
          </p:nvPr>
        </p:nvSpPr>
        <p:spPr>
          <a:xfrm>
            <a:off x="1371600" y="274444"/>
            <a:ext cx="4184527" cy="751488"/>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800"/>
              <a:buFont typeface="Calibri"/>
              <a:buNone/>
            </a:pPr>
            <a:r>
              <a:rPr b="1" lang="en-US" sz="4800">
                <a:solidFill>
                  <a:srgbClr val="C00000"/>
                </a:solidFill>
              </a:rPr>
              <a:t>Avantages</a:t>
            </a:r>
            <a:endParaRPr/>
          </a:p>
        </p:txBody>
      </p:sp>
      <p:sp>
        <p:nvSpPr>
          <p:cNvPr id="282" name="Google Shape;282;p22"/>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3"/>
          <p:cNvSpPr txBox="1"/>
          <p:nvPr>
            <p:ph type="title"/>
          </p:nvPr>
        </p:nvSpPr>
        <p:spPr>
          <a:xfrm>
            <a:off x="990600" y="564177"/>
            <a:ext cx="555485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Plan du chapitre</a:t>
            </a:r>
            <a:endParaRPr/>
          </a:p>
        </p:txBody>
      </p:sp>
      <p:sp>
        <p:nvSpPr>
          <p:cNvPr id="288" name="Google Shape;288;p23"/>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289" name="Google Shape;289;p23"/>
          <p:cNvSpPr txBox="1"/>
          <p:nvPr/>
        </p:nvSpPr>
        <p:spPr>
          <a:xfrm>
            <a:off x="402742" y="1544456"/>
            <a:ext cx="8512658" cy="4052391"/>
          </a:xfrm>
          <a:prstGeom prst="rect">
            <a:avLst/>
          </a:prstGeom>
          <a:noFill/>
          <a:ln>
            <a:noFill/>
          </a:ln>
        </p:spPr>
        <p:txBody>
          <a:bodyPr anchorCtr="0" anchor="t" bIns="0" lIns="0" spcFirstLastPara="1" rIns="0" wrap="square" tIns="81275">
            <a:spAutoFit/>
          </a:bodyPr>
          <a:lstStyle/>
          <a:p>
            <a:pPr indent="-457200" lvl="0" marL="469900" marR="0" rtl="0" algn="l">
              <a:lnSpc>
                <a:spcPct val="100000"/>
              </a:lnSpc>
              <a:spcBef>
                <a:spcPts val="0"/>
              </a:spcBef>
              <a:spcAft>
                <a:spcPts val="0"/>
              </a:spcAft>
              <a:buClr>
                <a:srgbClr val="C00000"/>
              </a:buClr>
              <a:buSzPts val="3600"/>
              <a:buFont typeface="Calibri"/>
              <a:buChar char="•"/>
            </a:pPr>
            <a:r>
              <a:rPr lang="en-US" sz="2400">
                <a:solidFill>
                  <a:schemeClr val="dk1"/>
                </a:solidFill>
                <a:latin typeface="Calibri"/>
                <a:ea typeface="Calibri"/>
                <a:cs typeface="Calibri"/>
                <a:sym typeface="Calibri"/>
              </a:rPr>
              <a:t>Introduction</a:t>
            </a:r>
            <a:endParaRPr sz="2400">
              <a:solidFill>
                <a:schemeClr val="dk1"/>
              </a:solidFill>
              <a:latin typeface="Calibri"/>
              <a:ea typeface="Calibri"/>
              <a:cs typeface="Calibri"/>
              <a:sym typeface="Calibri"/>
            </a:endParaRPr>
          </a:p>
          <a:p>
            <a:pPr indent="-457200" lvl="0" marL="469900" marR="0" rtl="0" algn="l">
              <a:lnSpc>
                <a:spcPct val="100000"/>
              </a:lnSpc>
              <a:spcBef>
                <a:spcPts val="1800"/>
              </a:spcBef>
              <a:spcAft>
                <a:spcPts val="0"/>
              </a:spcAft>
              <a:buClr>
                <a:srgbClr val="C00000"/>
              </a:buClr>
              <a:buSzPts val="3600"/>
              <a:buFont typeface="Calibri"/>
              <a:buChar char="•"/>
            </a:pPr>
            <a:r>
              <a:rPr lang="en-US" sz="2400">
                <a:solidFill>
                  <a:schemeClr val="dk1"/>
                </a:solidFill>
                <a:latin typeface="Calibri"/>
                <a:ea typeface="Calibri"/>
                <a:cs typeface="Calibri"/>
                <a:sym typeface="Calibri"/>
              </a:rPr>
              <a:t>Moyens cryptographiques et services offerts</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chiffrement Symétrique, Asymétrique et Hybride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hachage cryptographique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La signature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Le certificat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Calibri"/>
                <a:ea typeface="Calibri"/>
                <a:cs typeface="Calibri"/>
                <a:sym typeface="Calibri"/>
              </a:rPr>
              <a:t>Infrastructure de Gestion des Clés</a:t>
            </a:r>
            <a:endParaRPr/>
          </a:p>
        </p:txBody>
      </p:sp>
      <p:sp>
        <p:nvSpPr>
          <p:cNvPr id="290" name="Google Shape;290;p23"/>
          <p:cNvSpPr/>
          <p:nvPr/>
        </p:nvSpPr>
        <p:spPr>
          <a:xfrm>
            <a:off x="402742" y="3303951"/>
            <a:ext cx="7467600" cy="533400"/>
          </a:xfrm>
          <a:prstGeom prst="rect">
            <a:avLst/>
          </a:prstGeom>
          <a:solidFill>
            <a:srgbClr val="FF7C80">
              <a:alpha val="5725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4"/>
          <p:cNvSpPr txBox="1"/>
          <p:nvPr>
            <p:ph type="title"/>
          </p:nvPr>
        </p:nvSpPr>
        <p:spPr>
          <a:xfrm>
            <a:off x="533400" y="350222"/>
            <a:ext cx="70103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Les fonctions de hachage</a:t>
            </a:r>
            <a:endParaRPr/>
          </a:p>
        </p:txBody>
      </p:sp>
      <p:sp>
        <p:nvSpPr>
          <p:cNvPr id="296" name="Google Shape;296;p24"/>
          <p:cNvSpPr txBox="1"/>
          <p:nvPr>
            <p:ph idx="12" type="sldNum"/>
          </p:nvPr>
        </p:nvSpPr>
        <p:spPr>
          <a:xfrm>
            <a:off x="86010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297" name="Google Shape;297;p24"/>
          <p:cNvSpPr txBox="1"/>
          <p:nvPr/>
        </p:nvSpPr>
        <p:spPr>
          <a:xfrm>
            <a:off x="92154" y="1363283"/>
            <a:ext cx="9051849" cy="827791"/>
          </a:xfrm>
          <a:prstGeom prst="rect">
            <a:avLst/>
          </a:prstGeom>
          <a:noFill/>
          <a:ln>
            <a:noFill/>
          </a:ln>
        </p:spPr>
        <p:txBody>
          <a:bodyPr anchorCtr="0" anchor="t" bIns="0" lIns="0" spcFirstLastPara="1" rIns="0" wrap="square" tIns="37450">
            <a:spAutoFit/>
          </a:bodyPr>
          <a:lstStyle/>
          <a:p>
            <a:pPr indent="-457834" lvl="0" marL="469900" marR="0" rtl="0" algn="l">
              <a:lnSpc>
                <a:spcPct val="100000"/>
              </a:lnSpc>
              <a:spcBef>
                <a:spcPts val="0"/>
              </a:spcBef>
              <a:spcAft>
                <a:spcPts val="0"/>
              </a:spcAft>
              <a:buClr>
                <a:srgbClr val="C00000"/>
              </a:buClr>
              <a:buSzPts val="4500"/>
              <a:buFont typeface="Calibri"/>
              <a:buChar char="•"/>
            </a:pPr>
            <a:r>
              <a:rPr b="1" lang="en-US" sz="2800">
                <a:solidFill>
                  <a:schemeClr val="dk1"/>
                </a:solidFill>
                <a:latin typeface="Calibri"/>
                <a:ea typeface="Calibri"/>
                <a:cs typeface="Calibri"/>
                <a:sym typeface="Calibri"/>
              </a:rPr>
              <a:t>Fonction de hachage = fonction de condensation</a:t>
            </a:r>
            <a:endParaRPr/>
          </a:p>
          <a:p>
            <a:pPr indent="-285749" lvl="1" marL="755015" marR="0" rtl="0" algn="l">
              <a:lnSpc>
                <a:spcPct val="100000"/>
              </a:lnSpc>
              <a:spcBef>
                <a:spcPts val="390"/>
              </a:spcBef>
              <a:spcAft>
                <a:spcPts val="0"/>
              </a:spcAft>
              <a:buClr>
                <a:srgbClr val="D20000"/>
              </a:buClr>
              <a:buSzPts val="2167"/>
              <a:buFont typeface="Calibri"/>
              <a:buChar char="▪"/>
            </a:pPr>
            <a:r>
              <a:rPr b="0" i="0" lang="en-US" sz="2000" u="none" cap="none" strike="noStrike">
                <a:solidFill>
                  <a:schemeClr val="dk1"/>
                </a:solidFill>
                <a:latin typeface="Calibri"/>
                <a:ea typeface="Calibri"/>
                <a:cs typeface="Calibri"/>
                <a:sym typeface="Calibri"/>
              </a:rPr>
              <a:t>Convertir	une	chaine	(M)	de	longueur	quelconque	en</a:t>
            </a:r>
            <a:endParaRPr b="0" i="0" sz="2000" u="none" cap="none" strike="noStrike">
              <a:solidFill>
                <a:schemeClr val="dk1"/>
              </a:solidFill>
              <a:latin typeface="Calibri"/>
              <a:ea typeface="Calibri"/>
              <a:cs typeface="Calibri"/>
              <a:sym typeface="Calibri"/>
            </a:endParaRPr>
          </a:p>
        </p:txBody>
      </p:sp>
      <p:sp>
        <p:nvSpPr>
          <p:cNvPr id="298" name="Google Shape;298;p24"/>
          <p:cNvSpPr txBox="1"/>
          <p:nvPr/>
        </p:nvSpPr>
        <p:spPr>
          <a:xfrm>
            <a:off x="834648" y="2229994"/>
            <a:ext cx="7676515"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Calibri"/>
                <a:ea typeface="Calibri"/>
                <a:cs typeface="Calibri"/>
                <a:sym typeface="Calibri"/>
              </a:rPr>
              <a:t>une	chaine	de	taille	inférieur	et	généralement	fixe</a:t>
            </a:r>
            <a:endParaRPr sz="2400">
              <a:solidFill>
                <a:schemeClr val="dk1"/>
              </a:solidFill>
              <a:latin typeface="Calibri"/>
              <a:ea typeface="Calibri"/>
              <a:cs typeface="Calibri"/>
              <a:sym typeface="Calibri"/>
            </a:endParaRPr>
          </a:p>
        </p:txBody>
      </p:sp>
      <p:sp>
        <p:nvSpPr>
          <p:cNvPr id="299" name="Google Shape;299;p24"/>
          <p:cNvSpPr txBox="1"/>
          <p:nvPr/>
        </p:nvSpPr>
        <p:spPr>
          <a:xfrm>
            <a:off x="549659" y="2476279"/>
            <a:ext cx="7301865" cy="1641475"/>
          </a:xfrm>
          <a:prstGeom prst="rect">
            <a:avLst/>
          </a:prstGeom>
          <a:noFill/>
          <a:ln>
            <a:noFill/>
          </a:ln>
        </p:spPr>
        <p:txBody>
          <a:bodyPr anchorCtr="0" anchor="t" bIns="0" lIns="0" spcFirstLastPara="1" rIns="0" wrap="square" tIns="132075">
            <a:spAutoFit/>
          </a:bodyPr>
          <a:lstStyle/>
          <a:p>
            <a:pPr indent="0" lvl="0" marL="297180" marR="0" rtl="0" algn="l">
              <a:lnSpc>
                <a:spcPct val="100000"/>
              </a:lnSpc>
              <a:spcBef>
                <a:spcPts val="0"/>
              </a:spcBef>
              <a:spcAft>
                <a:spcPts val="0"/>
              </a:spcAft>
              <a:buNone/>
            </a:pPr>
            <a:r>
              <a:rPr lang="en-US" sz="2400">
                <a:solidFill>
                  <a:schemeClr val="dk1"/>
                </a:solidFill>
                <a:latin typeface="Calibri"/>
                <a:ea typeface="Calibri"/>
                <a:cs typeface="Calibri"/>
                <a:sym typeface="Calibri"/>
              </a:rPr>
              <a:t>appelée empreinte (digest), ou condensé:</a:t>
            </a:r>
            <a:endParaRPr sz="2400">
              <a:solidFill>
                <a:schemeClr val="dk1"/>
              </a:solidFill>
              <a:latin typeface="Calibri"/>
              <a:ea typeface="Calibri"/>
              <a:cs typeface="Calibri"/>
              <a:sym typeface="Calibri"/>
            </a:endParaRPr>
          </a:p>
          <a:p>
            <a:pPr indent="0" lvl="0" marL="396875" marR="0" rtl="0" algn="ctr">
              <a:lnSpc>
                <a:spcPct val="100000"/>
              </a:lnSpc>
              <a:spcBef>
                <a:spcPts val="1180"/>
              </a:spcBef>
              <a:spcAft>
                <a:spcPts val="0"/>
              </a:spcAft>
              <a:buNone/>
            </a:pPr>
            <a:r>
              <a:rPr b="1" lang="en-US" sz="3000">
                <a:solidFill>
                  <a:schemeClr val="dk1"/>
                </a:solidFill>
                <a:latin typeface="Calibri"/>
                <a:ea typeface="Calibri"/>
                <a:cs typeface="Calibri"/>
                <a:sym typeface="Calibri"/>
              </a:rPr>
              <a:t>h = H(M)</a:t>
            </a:r>
            <a:endParaRPr sz="3000">
              <a:solidFill>
                <a:schemeClr val="dk1"/>
              </a:solidFill>
              <a:latin typeface="Calibri"/>
              <a:ea typeface="Calibri"/>
              <a:cs typeface="Calibri"/>
              <a:sym typeface="Calibri"/>
            </a:endParaRPr>
          </a:p>
          <a:p>
            <a:pPr indent="-285115" lvl="0" marL="297180" marR="0" rtl="0" algn="l">
              <a:lnSpc>
                <a:spcPct val="100000"/>
              </a:lnSpc>
              <a:spcBef>
                <a:spcPts val="1225"/>
              </a:spcBef>
              <a:spcAft>
                <a:spcPts val="0"/>
              </a:spcAft>
              <a:buClr>
                <a:srgbClr val="D20000"/>
              </a:buClr>
              <a:buSzPts val="2600"/>
              <a:buFont typeface="Calibri"/>
              <a:buChar char="▪"/>
            </a:pPr>
            <a:r>
              <a:rPr lang="en-US" sz="2400">
                <a:solidFill>
                  <a:schemeClr val="dk1"/>
                </a:solidFill>
                <a:latin typeface="Calibri"/>
                <a:ea typeface="Calibri"/>
                <a:cs typeface="Calibri"/>
                <a:sym typeface="Calibri"/>
              </a:rPr>
              <a:t>Avec	une	probabilité	très	forte	que	deux	fichiers</a:t>
            </a:r>
            <a:endParaRPr sz="2400">
              <a:solidFill>
                <a:schemeClr val="dk1"/>
              </a:solidFill>
              <a:latin typeface="Calibri"/>
              <a:ea typeface="Calibri"/>
              <a:cs typeface="Calibri"/>
              <a:sym typeface="Calibri"/>
            </a:endParaRPr>
          </a:p>
        </p:txBody>
      </p:sp>
      <p:sp>
        <p:nvSpPr>
          <p:cNvPr id="300" name="Google Shape;300;p24"/>
          <p:cNvSpPr txBox="1"/>
          <p:nvPr/>
        </p:nvSpPr>
        <p:spPr>
          <a:xfrm>
            <a:off x="834644" y="4089907"/>
            <a:ext cx="7016750"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400">
                <a:solidFill>
                  <a:schemeClr val="dk1"/>
                </a:solidFill>
                <a:latin typeface="Helvetica Neue"/>
                <a:ea typeface="Helvetica Neue"/>
                <a:cs typeface="Helvetica Neue"/>
                <a:sym typeface="Helvetica Neue"/>
              </a:rPr>
              <a:t>différents	donnent	deux	empreintes	différentes</a:t>
            </a:r>
            <a:endParaRPr sz="2400">
              <a:solidFill>
                <a:schemeClr val="dk1"/>
              </a:solidFill>
              <a:latin typeface="Helvetica Neue"/>
              <a:ea typeface="Helvetica Neue"/>
              <a:cs typeface="Helvetica Neue"/>
              <a:sym typeface="Helvetica Neue"/>
            </a:endParaRPr>
          </a:p>
        </p:txBody>
      </p:sp>
      <p:sp>
        <p:nvSpPr>
          <p:cNvPr id="301" name="Google Shape;301;p24"/>
          <p:cNvSpPr txBox="1"/>
          <p:nvPr/>
        </p:nvSpPr>
        <p:spPr>
          <a:xfrm>
            <a:off x="549655" y="4338853"/>
            <a:ext cx="7303770" cy="1392689"/>
          </a:xfrm>
          <a:prstGeom prst="rect">
            <a:avLst/>
          </a:prstGeom>
          <a:noFill/>
          <a:ln>
            <a:noFill/>
          </a:ln>
        </p:spPr>
        <p:txBody>
          <a:bodyPr anchorCtr="0" anchor="t" bIns="0" lIns="0" spcFirstLastPara="1" rIns="0" wrap="square" tIns="129525">
            <a:spAutoFit/>
          </a:bodyPr>
          <a:lstStyle/>
          <a:p>
            <a:pPr indent="0" lvl="0" marL="297180" marR="0" rtl="0" algn="l">
              <a:lnSpc>
                <a:spcPct val="100000"/>
              </a:lnSpc>
              <a:spcBef>
                <a:spcPts val="0"/>
              </a:spcBef>
              <a:spcAft>
                <a:spcPts val="0"/>
              </a:spcAft>
              <a:buNone/>
            </a:pPr>
            <a:r>
              <a:rPr lang="en-US" sz="2400">
                <a:solidFill>
                  <a:schemeClr val="dk1"/>
                </a:solidFill>
                <a:latin typeface="Calibri"/>
                <a:ea typeface="Calibri"/>
                <a:cs typeface="Calibri"/>
                <a:sym typeface="Calibri"/>
              </a:rPr>
              <a:t>(propriété : résistance aux collisions)</a:t>
            </a:r>
            <a:endParaRPr sz="2400">
              <a:solidFill>
                <a:schemeClr val="dk1"/>
              </a:solidFill>
              <a:latin typeface="Calibri"/>
              <a:ea typeface="Calibri"/>
              <a:cs typeface="Calibri"/>
              <a:sym typeface="Calibri"/>
            </a:endParaRPr>
          </a:p>
          <a:p>
            <a:pPr indent="-285115" lvl="0" marL="297180" marR="5080" rtl="0" algn="l">
              <a:lnSpc>
                <a:spcPct val="100000"/>
              </a:lnSpc>
              <a:spcBef>
                <a:spcPts val="1200"/>
              </a:spcBef>
              <a:spcAft>
                <a:spcPts val="0"/>
              </a:spcAft>
              <a:buClr>
                <a:srgbClr val="D20000"/>
              </a:buClr>
              <a:buSzPts val="2600"/>
              <a:buFont typeface="Calibri"/>
              <a:buChar char="▪"/>
            </a:pPr>
            <a:r>
              <a:rPr lang="en-US" sz="2400">
                <a:solidFill>
                  <a:schemeClr val="dk1"/>
                </a:solidFill>
                <a:latin typeface="Calibri"/>
                <a:ea typeface="Calibri"/>
                <a:cs typeface="Calibri"/>
                <a:sym typeface="Calibri"/>
              </a:rPr>
              <a:t>Il	doit	être	très	difficile	de	trouver	un	couple	de  messages (M, M’) qui ont le même condensé.</a:t>
            </a:r>
            <a:endParaRPr sz="2400">
              <a:solidFill>
                <a:schemeClr val="dk1"/>
              </a:solidFill>
              <a:latin typeface="Calibri"/>
              <a:ea typeface="Calibri"/>
              <a:cs typeface="Calibri"/>
              <a:sym typeface="Calibri"/>
            </a:endParaRPr>
          </a:p>
        </p:txBody>
      </p:sp>
      <p:pic>
        <p:nvPicPr>
          <p:cNvPr id="302" name="Google Shape;302;p24"/>
          <p:cNvPicPr preferRelativeResize="0"/>
          <p:nvPr/>
        </p:nvPicPr>
        <p:blipFill rotWithShape="1">
          <a:blip r:embed="rId3">
            <a:alphaModFix/>
          </a:blip>
          <a:srcRect b="0" l="0" r="0" t="0"/>
          <a:stretch/>
        </p:blipFill>
        <p:spPr>
          <a:xfrm>
            <a:off x="7885051" y="4306913"/>
            <a:ext cx="1258951" cy="209249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25"/>
          <p:cNvPicPr preferRelativeResize="0"/>
          <p:nvPr/>
        </p:nvPicPr>
        <p:blipFill rotWithShape="1">
          <a:blip r:embed="rId3">
            <a:alphaModFix/>
          </a:blip>
          <a:srcRect b="0" l="0" r="0" t="0"/>
          <a:stretch/>
        </p:blipFill>
        <p:spPr>
          <a:xfrm>
            <a:off x="6699975" y="4790264"/>
            <a:ext cx="1107232" cy="1968706"/>
          </a:xfrm>
          <a:prstGeom prst="rect">
            <a:avLst/>
          </a:prstGeom>
          <a:noFill/>
          <a:ln>
            <a:noFill/>
          </a:ln>
        </p:spPr>
      </p:pic>
      <p:sp>
        <p:nvSpPr>
          <p:cNvPr id="308" name="Google Shape;308;p25"/>
          <p:cNvSpPr txBox="1"/>
          <p:nvPr/>
        </p:nvSpPr>
        <p:spPr>
          <a:xfrm>
            <a:off x="153724" y="1107344"/>
            <a:ext cx="8749665" cy="4067780"/>
          </a:xfrm>
          <a:prstGeom prst="rect">
            <a:avLst/>
          </a:prstGeom>
          <a:noFill/>
          <a:ln>
            <a:noFill/>
          </a:ln>
        </p:spPr>
        <p:txBody>
          <a:bodyPr anchorCtr="0" anchor="t" bIns="0" lIns="0" spcFirstLastPara="1" rIns="0" wrap="square" tIns="187950">
            <a:spAutoFit/>
          </a:bodyPr>
          <a:lstStyle/>
          <a:p>
            <a:pPr indent="-457833" lvl="0" marL="469900" marR="0" rtl="0" algn="l">
              <a:lnSpc>
                <a:spcPct val="100000"/>
              </a:lnSpc>
              <a:spcBef>
                <a:spcPts val="0"/>
              </a:spcBef>
              <a:spcAft>
                <a:spcPts val="0"/>
              </a:spcAft>
              <a:buClr>
                <a:srgbClr val="C00000"/>
              </a:buClr>
              <a:buSzPts val="4500"/>
              <a:buFont typeface="Helvetica Neue"/>
              <a:buChar char="•"/>
            </a:pPr>
            <a:r>
              <a:rPr b="1" lang="en-US" sz="3000">
                <a:solidFill>
                  <a:schemeClr val="dk1"/>
                </a:solidFill>
                <a:latin typeface="Calibri"/>
                <a:ea typeface="Calibri"/>
                <a:cs typeface="Calibri"/>
                <a:sym typeface="Calibri"/>
              </a:rPr>
              <a:t>Propriétés</a:t>
            </a:r>
            <a:endParaRPr sz="3000">
              <a:solidFill>
                <a:schemeClr val="dk1"/>
              </a:solidFill>
              <a:latin typeface="Calibri"/>
              <a:ea typeface="Calibri"/>
              <a:cs typeface="Calibri"/>
              <a:sym typeface="Calibri"/>
            </a:endParaRPr>
          </a:p>
          <a:p>
            <a:pPr indent="-285115" lvl="1" marL="755015" marR="153035" rtl="0" algn="just">
              <a:lnSpc>
                <a:spcPct val="100200"/>
              </a:lnSpc>
              <a:spcBef>
                <a:spcPts val="1200"/>
              </a:spcBef>
              <a:spcAft>
                <a:spcPts val="0"/>
              </a:spcAft>
              <a:buClr>
                <a:srgbClr val="D20000"/>
              </a:buClr>
              <a:buSzPts val="2600"/>
              <a:buFont typeface="Helvetica Neue"/>
              <a:buChar char="▪"/>
            </a:pPr>
            <a:r>
              <a:rPr b="1" i="0" lang="en-US" sz="2600" u="none" cap="none" strike="noStrike">
                <a:solidFill>
                  <a:srgbClr val="006FC0"/>
                </a:solidFill>
                <a:latin typeface="Calibri"/>
                <a:ea typeface="Calibri"/>
                <a:cs typeface="Calibri"/>
                <a:sym typeface="Calibri"/>
              </a:rPr>
              <a:t>A sens unique</a:t>
            </a:r>
            <a:r>
              <a:rPr b="0" i="0" lang="en-US" sz="2600" u="none" cap="none" strike="noStrike">
                <a:solidFill>
                  <a:schemeClr val="dk1"/>
                </a:solidFill>
                <a:latin typeface="Calibri"/>
                <a:ea typeface="Calibri"/>
                <a:cs typeface="Calibri"/>
                <a:sym typeface="Calibri"/>
              </a:rPr>
              <a:t>: il est difficile de trouver la chaîne  initiale à partir de l’empreinte  </a:t>
            </a:r>
            <a:r>
              <a:rPr b="1" i="0" lang="en-US" sz="2600" u="none" cap="none" strike="noStrike">
                <a:solidFill>
                  <a:schemeClr val="dk1"/>
                </a:solidFill>
                <a:latin typeface="Calibri"/>
                <a:ea typeface="Calibri"/>
                <a:cs typeface="Calibri"/>
                <a:sym typeface="Calibri"/>
              </a:rPr>
              <a:t>one way hash  function</a:t>
            </a:r>
            <a:endParaRPr b="0" i="0" sz="2600" u="none" cap="none" strike="noStrike">
              <a:solidFill>
                <a:schemeClr val="dk1"/>
              </a:solidFill>
              <a:latin typeface="Calibri"/>
              <a:ea typeface="Calibri"/>
              <a:cs typeface="Calibri"/>
              <a:sym typeface="Calibri"/>
            </a:endParaRPr>
          </a:p>
          <a:p>
            <a:pPr indent="-285115" lvl="1" marL="755015" marR="520065" rtl="0" algn="l">
              <a:lnSpc>
                <a:spcPct val="100400"/>
              </a:lnSpc>
              <a:spcBef>
                <a:spcPts val="1780"/>
              </a:spcBef>
              <a:spcAft>
                <a:spcPts val="0"/>
              </a:spcAft>
              <a:buClr>
                <a:srgbClr val="D20000"/>
              </a:buClr>
              <a:buSzPts val="2600"/>
              <a:buFont typeface="Helvetica Neue"/>
              <a:buChar char="▪"/>
            </a:pPr>
            <a:r>
              <a:rPr b="1" i="0" lang="en-US" sz="2600" u="none" cap="none" strike="noStrike">
                <a:solidFill>
                  <a:srgbClr val="006FC0"/>
                </a:solidFill>
                <a:latin typeface="Calibri"/>
                <a:ea typeface="Calibri"/>
                <a:cs typeface="Calibri"/>
                <a:sym typeface="Calibri"/>
              </a:rPr>
              <a:t>Sans	collision</a:t>
            </a:r>
            <a:r>
              <a:rPr b="0" i="0" lang="en-US" sz="2600" u="none" cap="none" strike="noStrike">
                <a:solidFill>
                  <a:schemeClr val="dk1"/>
                </a:solidFill>
                <a:latin typeface="Calibri"/>
                <a:ea typeface="Calibri"/>
                <a:cs typeface="Calibri"/>
                <a:sym typeface="Calibri"/>
              </a:rPr>
              <a:t>:	il	est	impossible	de	trouver	deux  messages ayant la même empreinte.</a:t>
            </a:r>
            <a:endParaRPr/>
          </a:p>
          <a:p>
            <a:pPr indent="-285115" lvl="1" marL="755015" marR="5080" rtl="0" algn="l">
              <a:lnSpc>
                <a:spcPct val="100000"/>
              </a:lnSpc>
              <a:spcBef>
                <a:spcPts val="1790"/>
              </a:spcBef>
              <a:spcAft>
                <a:spcPts val="0"/>
              </a:spcAft>
              <a:buClr>
                <a:srgbClr val="D20000"/>
              </a:buClr>
              <a:buSzPts val="2600"/>
              <a:buFont typeface="Helvetica Neue"/>
              <a:buChar char="▪"/>
            </a:pPr>
            <a:r>
              <a:rPr b="0" i="0" lang="en-US" sz="2600" u="none" cap="none" strike="noStrike">
                <a:solidFill>
                  <a:schemeClr val="dk1"/>
                </a:solidFill>
                <a:latin typeface="Calibri"/>
                <a:ea typeface="Calibri"/>
                <a:cs typeface="Calibri"/>
                <a:sym typeface="Calibri"/>
              </a:rPr>
              <a:t>La	moindre	modification	des	données	produit	une  valeur de hachage différente.</a:t>
            </a:r>
            <a:endParaRPr b="0" i="0" sz="2600" u="none" cap="none" strike="noStrike">
              <a:solidFill>
                <a:schemeClr val="dk1"/>
              </a:solidFill>
              <a:latin typeface="Calibri"/>
              <a:ea typeface="Calibri"/>
              <a:cs typeface="Calibri"/>
              <a:sym typeface="Calibri"/>
            </a:endParaRPr>
          </a:p>
        </p:txBody>
      </p:sp>
      <p:sp>
        <p:nvSpPr>
          <p:cNvPr id="309" name="Google Shape;309;p25"/>
          <p:cNvSpPr txBox="1"/>
          <p:nvPr>
            <p:ph type="title"/>
          </p:nvPr>
        </p:nvSpPr>
        <p:spPr>
          <a:xfrm>
            <a:off x="685800" y="447548"/>
            <a:ext cx="70103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Les fonctions de hachage</a:t>
            </a:r>
            <a:endParaRPr/>
          </a:p>
        </p:txBody>
      </p:sp>
      <p:sp>
        <p:nvSpPr>
          <p:cNvPr id="310" name="Google Shape;310;p25"/>
          <p:cNvSpPr txBox="1"/>
          <p:nvPr>
            <p:ph idx="12" type="sldNum"/>
          </p:nvPr>
        </p:nvSpPr>
        <p:spPr>
          <a:xfrm>
            <a:off x="85248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nvSpPr>
        <p:spPr>
          <a:xfrm>
            <a:off x="153720" y="1282700"/>
            <a:ext cx="8768080" cy="5219378"/>
          </a:xfrm>
          <a:prstGeom prst="rect">
            <a:avLst/>
          </a:prstGeom>
          <a:noFill/>
          <a:ln>
            <a:noFill/>
          </a:ln>
        </p:spPr>
        <p:txBody>
          <a:bodyPr anchorCtr="0" anchor="t" bIns="0" lIns="0" spcFirstLastPara="1" rIns="0" wrap="square" tIns="12700">
            <a:spAutoFit/>
          </a:bodyPr>
          <a:lstStyle/>
          <a:p>
            <a:pPr indent="-457833" lvl="0" marL="469900" marR="0" rtl="0" algn="l">
              <a:lnSpc>
                <a:spcPct val="100000"/>
              </a:lnSpc>
              <a:spcBef>
                <a:spcPts val="0"/>
              </a:spcBef>
              <a:spcAft>
                <a:spcPts val="0"/>
              </a:spcAft>
              <a:buClr>
                <a:srgbClr val="C00000"/>
              </a:buClr>
              <a:buSzPts val="4500"/>
              <a:buFont typeface="Helvetica Neue"/>
              <a:buChar char="•"/>
            </a:pPr>
            <a:r>
              <a:rPr b="1" lang="en-US" sz="3000">
                <a:solidFill>
                  <a:schemeClr val="dk1"/>
                </a:solidFill>
                <a:latin typeface="Calibri"/>
                <a:ea typeface="Calibri"/>
                <a:cs typeface="Calibri"/>
                <a:sym typeface="Calibri"/>
              </a:rPr>
              <a:t>Utilités</a:t>
            </a:r>
            <a:endParaRPr sz="3000">
              <a:solidFill>
                <a:schemeClr val="dk1"/>
              </a:solidFill>
              <a:latin typeface="Calibri"/>
              <a:ea typeface="Calibri"/>
              <a:cs typeface="Calibri"/>
              <a:sym typeface="Calibri"/>
            </a:endParaRPr>
          </a:p>
          <a:p>
            <a:pPr indent="-285750" lvl="1" marL="755015" marR="0" rtl="0" algn="just">
              <a:lnSpc>
                <a:spcPct val="100000"/>
              </a:lnSpc>
              <a:spcBef>
                <a:spcPts val="1000"/>
              </a:spcBef>
              <a:spcAft>
                <a:spcPts val="0"/>
              </a:spcAft>
              <a:buClr>
                <a:srgbClr val="D20000"/>
              </a:buClr>
              <a:buSzPts val="2600"/>
              <a:buFont typeface="Helvetica Neue"/>
              <a:buChar char="▪"/>
            </a:pPr>
            <a:r>
              <a:rPr b="0" i="0" lang="en-US" sz="2600" u="none" cap="none" strike="noStrike">
                <a:solidFill>
                  <a:schemeClr val="dk1"/>
                </a:solidFill>
                <a:latin typeface="Calibri"/>
                <a:ea typeface="Calibri"/>
                <a:cs typeface="Calibri"/>
                <a:sym typeface="Calibri"/>
              </a:rPr>
              <a:t>La signature d’un message d’une taille quelconque</a:t>
            </a:r>
            <a:endParaRPr/>
          </a:p>
          <a:p>
            <a:pPr indent="-285750" lvl="2" marL="1212215" marR="0" rtl="0" algn="just">
              <a:spcBef>
                <a:spcPts val="1000"/>
              </a:spcBef>
              <a:spcAft>
                <a:spcPts val="0"/>
              </a:spcAft>
              <a:buClr>
                <a:srgbClr val="D20000"/>
              </a:buClr>
              <a:buSzPts val="2400"/>
              <a:buFont typeface="Helvetica Neue"/>
              <a:buChar char="▪"/>
            </a:pPr>
            <a:r>
              <a:rPr b="0" i="0" lang="en-US" sz="2400" u="none" cap="none" strike="noStrike">
                <a:solidFill>
                  <a:schemeClr val="dk1"/>
                </a:solidFill>
                <a:latin typeface="Calibri"/>
                <a:ea typeface="Calibri"/>
                <a:cs typeface="Calibri"/>
                <a:sym typeface="Calibri"/>
              </a:rPr>
              <a:t>Signer le H(M) au lieu de signer le message M</a:t>
            </a:r>
            <a:endParaRPr b="0" i="0" sz="2400" u="none" cap="none" strike="noStrike">
              <a:solidFill>
                <a:schemeClr val="dk1"/>
              </a:solidFill>
              <a:latin typeface="Calibri"/>
              <a:ea typeface="Calibri"/>
              <a:cs typeface="Calibri"/>
              <a:sym typeface="Calibri"/>
            </a:endParaRPr>
          </a:p>
          <a:p>
            <a:pPr indent="-285750" lvl="1" marL="755015" marR="0" rtl="0" algn="just">
              <a:spcBef>
                <a:spcPts val="1000"/>
              </a:spcBef>
              <a:spcAft>
                <a:spcPts val="0"/>
              </a:spcAft>
              <a:buClr>
                <a:srgbClr val="D20000"/>
              </a:buClr>
              <a:buSzPts val="2600"/>
              <a:buFont typeface="Helvetica Neue"/>
              <a:buChar char="▪"/>
            </a:pPr>
            <a:r>
              <a:rPr b="0" i="0" lang="en-US" sz="2600" u="none" cap="none" strike="noStrike">
                <a:solidFill>
                  <a:schemeClr val="dk1"/>
                </a:solidFill>
                <a:latin typeface="Calibri"/>
                <a:ea typeface="Calibri"/>
                <a:cs typeface="Calibri"/>
                <a:sym typeface="Calibri"/>
              </a:rPr>
              <a:t>Dérivation d’une clé secrète à partir d’un mot de  passe</a:t>
            </a:r>
            <a:endParaRPr/>
          </a:p>
          <a:p>
            <a:pPr indent="-285750" lvl="2" marL="1212215" marR="0" rtl="0" algn="just">
              <a:spcBef>
                <a:spcPts val="1000"/>
              </a:spcBef>
              <a:spcAft>
                <a:spcPts val="0"/>
              </a:spcAft>
              <a:buClr>
                <a:srgbClr val="D20000"/>
              </a:buClr>
              <a:buSzPts val="2400"/>
              <a:buFont typeface="Helvetica Neue"/>
              <a:buChar char="▪"/>
            </a:pPr>
            <a:r>
              <a:rPr b="0" i="0" lang="en-US" sz="2400" u="none" cap="none" strike="noStrike">
                <a:solidFill>
                  <a:schemeClr val="dk1"/>
                </a:solidFill>
                <a:latin typeface="Calibri"/>
                <a:ea typeface="Calibri"/>
                <a:cs typeface="Calibri"/>
                <a:sym typeface="Calibri"/>
              </a:rPr>
              <a:t>Hacher un mot de passe pour produire une empreinte de taille 128 bits utilisée comme clé de cryptage.</a:t>
            </a:r>
            <a:endParaRPr/>
          </a:p>
          <a:p>
            <a:pPr indent="-285750" lvl="1" marL="755015" marR="0" rtl="0" algn="just">
              <a:spcBef>
                <a:spcPts val="1000"/>
              </a:spcBef>
              <a:spcAft>
                <a:spcPts val="0"/>
              </a:spcAft>
              <a:buClr>
                <a:srgbClr val="D20000"/>
              </a:buClr>
              <a:buSzPts val="2600"/>
              <a:buFont typeface="Helvetica Neue"/>
              <a:buChar char="▪"/>
            </a:pPr>
            <a:r>
              <a:rPr b="0" i="0" lang="en-US" sz="2600" u="none" cap="none" strike="noStrike">
                <a:solidFill>
                  <a:schemeClr val="dk1"/>
                </a:solidFill>
                <a:latin typeface="Calibri"/>
                <a:ea typeface="Calibri"/>
                <a:cs typeface="Calibri"/>
                <a:sym typeface="Calibri"/>
              </a:rPr>
              <a:t>Vérification de l’intégrité des messages</a:t>
            </a:r>
            <a:endParaRPr/>
          </a:p>
          <a:p>
            <a:pPr indent="-285750" lvl="1" marL="755015" marR="0" rtl="0" algn="just">
              <a:spcBef>
                <a:spcPts val="1000"/>
              </a:spcBef>
              <a:spcAft>
                <a:spcPts val="0"/>
              </a:spcAft>
              <a:buClr>
                <a:srgbClr val="D20000"/>
              </a:buClr>
              <a:buSzPts val="2600"/>
              <a:buFont typeface="Helvetica Neue"/>
              <a:buChar char="▪"/>
            </a:pPr>
            <a:r>
              <a:rPr b="0" i="0" lang="en-US" sz="2600" u="none" cap="none" strike="noStrike">
                <a:solidFill>
                  <a:schemeClr val="dk1"/>
                </a:solidFill>
                <a:latin typeface="Calibri"/>
                <a:ea typeface="Calibri"/>
                <a:cs typeface="Calibri"/>
                <a:sym typeface="Calibri"/>
              </a:rPr>
              <a:t>Stockage des mots de passe</a:t>
            </a:r>
            <a:endParaRPr/>
          </a:p>
          <a:p>
            <a:pPr indent="-285750" lvl="2" marL="1212215" marR="0" rtl="0" algn="just">
              <a:spcBef>
                <a:spcPts val="1000"/>
              </a:spcBef>
              <a:spcAft>
                <a:spcPts val="0"/>
              </a:spcAft>
              <a:buClr>
                <a:srgbClr val="D20000"/>
              </a:buClr>
              <a:buSzPts val="2400"/>
              <a:buFont typeface="Helvetica Neue"/>
              <a:buChar char="▪"/>
            </a:pPr>
            <a:r>
              <a:rPr b="0" i="0" lang="en-US" sz="2400" u="none" cap="none" strike="noStrike">
                <a:solidFill>
                  <a:schemeClr val="dk1"/>
                </a:solidFill>
                <a:latin typeface="Calibri"/>
                <a:ea typeface="Calibri"/>
                <a:cs typeface="Calibri"/>
                <a:sym typeface="Calibri"/>
              </a:rPr>
              <a:t>Stocker la paire « salt, H(salt||pwd) » , où salt  est aléatoire.</a:t>
            </a:r>
            <a:endParaRPr b="0" i="0" sz="2400" u="none" cap="none" strike="noStrike">
              <a:solidFill>
                <a:schemeClr val="dk1"/>
              </a:solidFill>
              <a:latin typeface="Calibri"/>
              <a:ea typeface="Calibri"/>
              <a:cs typeface="Calibri"/>
              <a:sym typeface="Calibri"/>
            </a:endParaRPr>
          </a:p>
        </p:txBody>
      </p:sp>
      <p:sp>
        <p:nvSpPr>
          <p:cNvPr id="316" name="Google Shape;316;p26"/>
          <p:cNvSpPr txBox="1"/>
          <p:nvPr>
            <p:ph type="title"/>
          </p:nvPr>
        </p:nvSpPr>
        <p:spPr>
          <a:xfrm>
            <a:off x="533400" y="513982"/>
            <a:ext cx="70103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Les fonctions de hachage</a:t>
            </a:r>
            <a:endParaRPr/>
          </a:p>
        </p:txBody>
      </p:sp>
      <p:sp>
        <p:nvSpPr>
          <p:cNvPr id="317" name="Google Shape;317;p26"/>
          <p:cNvSpPr txBox="1"/>
          <p:nvPr>
            <p:ph idx="12" type="sldNum"/>
          </p:nvPr>
        </p:nvSpPr>
        <p:spPr>
          <a:xfrm>
            <a:off x="86772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pic>
        <p:nvPicPr>
          <p:cNvPr id="322" name="Google Shape;322;p27"/>
          <p:cNvPicPr preferRelativeResize="0"/>
          <p:nvPr/>
        </p:nvPicPr>
        <p:blipFill rotWithShape="1">
          <a:blip r:embed="rId3">
            <a:alphaModFix/>
          </a:blip>
          <a:srcRect b="0" l="0" r="0" t="0"/>
          <a:stretch/>
        </p:blipFill>
        <p:spPr>
          <a:xfrm>
            <a:off x="198780" y="1470939"/>
            <a:ext cx="8680196" cy="4936490"/>
          </a:xfrm>
          <a:prstGeom prst="rect">
            <a:avLst/>
          </a:prstGeom>
          <a:noFill/>
          <a:ln>
            <a:noFill/>
          </a:ln>
        </p:spPr>
      </p:pic>
      <p:sp>
        <p:nvSpPr>
          <p:cNvPr id="323" name="Google Shape;323;p27"/>
          <p:cNvSpPr txBox="1"/>
          <p:nvPr>
            <p:ph type="title"/>
          </p:nvPr>
        </p:nvSpPr>
        <p:spPr>
          <a:xfrm>
            <a:off x="1143000" y="457200"/>
            <a:ext cx="4939030" cy="566822"/>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3600"/>
              <a:buFont typeface="Trebuchet MS"/>
              <a:buNone/>
            </a:pPr>
            <a:r>
              <a:rPr lang="en-US">
                <a:solidFill>
                  <a:srgbClr val="C00000"/>
                </a:solidFill>
              </a:rPr>
              <a:t>Exemple d’algorithmes</a:t>
            </a:r>
            <a:endParaRPr/>
          </a:p>
        </p:txBody>
      </p:sp>
      <p:sp>
        <p:nvSpPr>
          <p:cNvPr id="324" name="Google Shape;324;p27"/>
          <p:cNvSpPr txBox="1"/>
          <p:nvPr>
            <p:ph idx="12" type="sldNum"/>
          </p:nvPr>
        </p:nvSpPr>
        <p:spPr>
          <a:xfrm>
            <a:off x="86772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8"/>
          <p:cNvSpPr txBox="1"/>
          <p:nvPr>
            <p:ph type="title"/>
          </p:nvPr>
        </p:nvSpPr>
        <p:spPr>
          <a:xfrm>
            <a:off x="990600" y="564177"/>
            <a:ext cx="555485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Plan du chapitre</a:t>
            </a:r>
            <a:endParaRPr/>
          </a:p>
        </p:txBody>
      </p:sp>
      <p:sp>
        <p:nvSpPr>
          <p:cNvPr id="330" name="Google Shape;330;p28"/>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331" name="Google Shape;331;p28"/>
          <p:cNvSpPr txBox="1"/>
          <p:nvPr/>
        </p:nvSpPr>
        <p:spPr>
          <a:xfrm>
            <a:off x="402742" y="1544456"/>
            <a:ext cx="8512658" cy="4052391"/>
          </a:xfrm>
          <a:prstGeom prst="rect">
            <a:avLst/>
          </a:prstGeom>
          <a:noFill/>
          <a:ln>
            <a:noFill/>
          </a:ln>
        </p:spPr>
        <p:txBody>
          <a:bodyPr anchorCtr="0" anchor="t" bIns="0" lIns="0" spcFirstLastPara="1" rIns="0" wrap="square" tIns="81275">
            <a:spAutoFit/>
          </a:bodyPr>
          <a:lstStyle/>
          <a:p>
            <a:pPr indent="-457200" lvl="0" marL="469900" marR="0" rtl="0" algn="l">
              <a:lnSpc>
                <a:spcPct val="100000"/>
              </a:lnSpc>
              <a:spcBef>
                <a:spcPts val="0"/>
              </a:spcBef>
              <a:spcAft>
                <a:spcPts val="0"/>
              </a:spcAft>
              <a:buClr>
                <a:srgbClr val="C00000"/>
              </a:buClr>
              <a:buSzPts val="3600"/>
              <a:buFont typeface="Helvetica Neue"/>
              <a:buChar char="•"/>
            </a:pPr>
            <a:r>
              <a:rPr lang="en-US" sz="2400">
                <a:solidFill>
                  <a:schemeClr val="dk1"/>
                </a:solidFill>
                <a:latin typeface="Helvetica Neue"/>
                <a:ea typeface="Helvetica Neue"/>
                <a:cs typeface="Helvetica Neue"/>
                <a:sym typeface="Helvetica Neue"/>
              </a:rPr>
              <a:t>Introduction</a:t>
            </a:r>
            <a:endParaRPr sz="2400">
              <a:solidFill>
                <a:schemeClr val="dk1"/>
              </a:solidFill>
              <a:latin typeface="Helvetica Neue"/>
              <a:ea typeface="Helvetica Neue"/>
              <a:cs typeface="Helvetica Neue"/>
              <a:sym typeface="Helvetica Neue"/>
            </a:endParaRPr>
          </a:p>
          <a:p>
            <a:pPr indent="-457200" lvl="0" marL="469900" marR="0" rtl="0" algn="l">
              <a:lnSpc>
                <a:spcPct val="100000"/>
              </a:lnSpc>
              <a:spcBef>
                <a:spcPts val="1800"/>
              </a:spcBef>
              <a:spcAft>
                <a:spcPts val="0"/>
              </a:spcAft>
              <a:buClr>
                <a:srgbClr val="C00000"/>
              </a:buClr>
              <a:buSzPts val="3600"/>
              <a:buFont typeface="Helvetica Neue"/>
              <a:buChar char="•"/>
            </a:pPr>
            <a:r>
              <a:rPr lang="en-US" sz="2400">
                <a:solidFill>
                  <a:schemeClr val="dk1"/>
                </a:solidFill>
                <a:latin typeface="Helvetica Neue"/>
                <a:ea typeface="Helvetica Neue"/>
                <a:cs typeface="Helvetica Neue"/>
                <a:sym typeface="Helvetica Neue"/>
              </a:rPr>
              <a:t>Moyens cryptographiques et services offerts</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chiffrement Symétrique, Asymétrique et Hybride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hachage cryptographique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La signature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certificat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Infrastructure de Gestion des Clés</a:t>
            </a:r>
            <a:endParaRPr/>
          </a:p>
        </p:txBody>
      </p:sp>
      <p:sp>
        <p:nvSpPr>
          <p:cNvPr id="332" name="Google Shape;332;p28"/>
          <p:cNvSpPr/>
          <p:nvPr/>
        </p:nvSpPr>
        <p:spPr>
          <a:xfrm>
            <a:off x="400467" y="3962400"/>
            <a:ext cx="7467600" cy="533400"/>
          </a:xfrm>
          <a:prstGeom prst="rect">
            <a:avLst/>
          </a:prstGeom>
          <a:solidFill>
            <a:srgbClr val="FF7C80">
              <a:alpha val="5725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9"/>
          <p:cNvSpPr txBox="1"/>
          <p:nvPr/>
        </p:nvSpPr>
        <p:spPr>
          <a:xfrm>
            <a:off x="627989" y="1423493"/>
            <a:ext cx="7936230" cy="1704954"/>
          </a:xfrm>
          <a:prstGeom prst="rect">
            <a:avLst/>
          </a:prstGeom>
          <a:noFill/>
          <a:ln>
            <a:noFill/>
          </a:ln>
        </p:spPr>
        <p:txBody>
          <a:bodyPr anchorCtr="0" anchor="t" bIns="0" lIns="0" spcFirstLastPara="1" rIns="0" wrap="square" tIns="12050">
            <a:spAutoFit/>
          </a:bodyPr>
          <a:lstStyle/>
          <a:p>
            <a:pPr indent="-457200" lvl="0" marL="469265" marR="5080" rtl="0" algn="just">
              <a:lnSpc>
                <a:spcPct val="100000"/>
              </a:lnSpc>
              <a:spcBef>
                <a:spcPts val="0"/>
              </a:spcBef>
              <a:spcAft>
                <a:spcPts val="0"/>
              </a:spcAft>
              <a:buClr>
                <a:srgbClr val="C00000"/>
              </a:buClr>
              <a:buSzPts val="3300"/>
              <a:buFont typeface="Helvetica Neue"/>
              <a:buChar char="•"/>
            </a:pPr>
            <a:r>
              <a:rPr b="1" lang="en-US" sz="2200">
                <a:solidFill>
                  <a:schemeClr val="dk1"/>
                </a:solidFill>
                <a:latin typeface="Calibri"/>
                <a:ea typeface="Calibri"/>
                <a:cs typeface="Calibri"/>
                <a:sym typeface="Calibri"/>
              </a:rPr>
              <a:t>Signature numérique (ISO 7498-2) : </a:t>
            </a:r>
            <a:r>
              <a:rPr lang="en-US" sz="2200">
                <a:solidFill>
                  <a:schemeClr val="dk1"/>
                </a:solidFill>
                <a:latin typeface="Calibri"/>
                <a:ea typeface="Calibri"/>
                <a:cs typeface="Calibri"/>
                <a:sym typeface="Calibri"/>
              </a:rPr>
              <a:t>« Données ajoutées à  une unité de données, ou transformation cryptographique  d’une unité de données, permettant à un destinataire de  prouver la source et l’intégrité de l’unité de données et  protégeant contre le contre façon ».</a:t>
            </a:r>
            <a:endParaRPr sz="2200">
              <a:solidFill>
                <a:schemeClr val="dk1"/>
              </a:solidFill>
              <a:latin typeface="Calibri"/>
              <a:ea typeface="Calibri"/>
              <a:cs typeface="Calibri"/>
              <a:sym typeface="Calibri"/>
            </a:endParaRPr>
          </a:p>
        </p:txBody>
      </p:sp>
      <p:sp>
        <p:nvSpPr>
          <p:cNvPr id="338" name="Google Shape;338;p29"/>
          <p:cNvSpPr txBox="1"/>
          <p:nvPr>
            <p:ph type="title"/>
          </p:nvPr>
        </p:nvSpPr>
        <p:spPr>
          <a:xfrm>
            <a:off x="867488" y="411778"/>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39" name="Google Shape;339;p29"/>
          <p:cNvSpPr txBox="1"/>
          <p:nvPr>
            <p:ph idx="12" type="sldNum"/>
          </p:nvPr>
        </p:nvSpPr>
        <p:spPr>
          <a:xfrm>
            <a:off x="8753477" y="6629400"/>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grpSp>
        <p:nvGrpSpPr>
          <p:cNvPr id="340" name="Google Shape;340;p29"/>
          <p:cNvGrpSpPr/>
          <p:nvPr/>
        </p:nvGrpSpPr>
        <p:grpSpPr>
          <a:xfrm>
            <a:off x="22859" y="3348237"/>
            <a:ext cx="9121141" cy="3366506"/>
            <a:chOff x="22859" y="3348237"/>
            <a:chExt cx="9121141" cy="3366506"/>
          </a:xfrm>
        </p:grpSpPr>
        <p:pic>
          <p:nvPicPr>
            <p:cNvPr id="341" name="Google Shape;341;p29"/>
            <p:cNvPicPr preferRelativeResize="0"/>
            <p:nvPr/>
          </p:nvPicPr>
          <p:blipFill rotWithShape="1">
            <a:blip r:embed="rId3">
              <a:alphaModFix/>
            </a:blip>
            <a:srcRect b="0" l="0" r="0" t="0"/>
            <a:stretch/>
          </p:blipFill>
          <p:spPr>
            <a:xfrm>
              <a:off x="22859" y="3348237"/>
              <a:ext cx="4512563" cy="2264648"/>
            </a:xfrm>
            <a:prstGeom prst="rect">
              <a:avLst/>
            </a:prstGeom>
            <a:noFill/>
            <a:ln>
              <a:noFill/>
            </a:ln>
          </p:spPr>
        </p:pic>
        <p:pic>
          <p:nvPicPr>
            <p:cNvPr id="342" name="Google Shape;342;p29"/>
            <p:cNvPicPr preferRelativeResize="0"/>
            <p:nvPr/>
          </p:nvPicPr>
          <p:blipFill rotWithShape="1">
            <a:blip r:embed="rId4">
              <a:alphaModFix/>
            </a:blip>
            <a:srcRect b="0" l="0" r="0" t="0"/>
            <a:stretch/>
          </p:blipFill>
          <p:spPr>
            <a:xfrm>
              <a:off x="78621" y="3399535"/>
              <a:ext cx="4347591" cy="2104771"/>
            </a:xfrm>
            <a:prstGeom prst="rect">
              <a:avLst/>
            </a:prstGeom>
            <a:noFill/>
            <a:ln>
              <a:noFill/>
            </a:ln>
          </p:spPr>
        </p:pic>
        <p:sp>
          <p:nvSpPr>
            <p:cNvPr id="343" name="Google Shape;343;p29"/>
            <p:cNvSpPr/>
            <p:nvPr/>
          </p:nvSpPr>
          <p:spPr>
            <a:xfrm>
              <a:off x="59571" y="3380485"/>
              <a:ext cx="4385945" cy="2143125"/>
            </a:xfrm>
            <a:custGeom>
              <a:rect b="b" l="l" r="r" t="t"/>
              <a:pathLst>
                <a:path extrusionOk="0" h="2143125" w="4385945">
                  <a:moveTo>
                    <a:pt x="0" y="2142871"/>
                  </a:moveTo>
                  <a:lnTo>
                    <a:pt x="4385691" y="2142871"/>
                  </a:lnTo>
                  <a:lnTo>
                    <a:pt x="4385691" y="0"/>
                  </a:lnTo>
                  <a:lnTo>
                    <a:pt x="0" y="0"/>
                  </a:lnTo>
                  <a:lnTo>
                    <a:pt x="0" y="2142871"/>
                  </a:lnTo>
                  <a:close/>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44" name="Google Shape;344;p29"/>
            <p:cNvPicPr preferRelativeResize="0"/>
            <p:nvPr/>
          </p:nvPicPr>
          <p:blipFill rotWithShape="1">
            <a:blip r:embed="rId5">
              <a:alphaModFix/>
            </a:blip>
            <a:srcRect b="0" l="0" r="0" t="0"/>
            <a:stretch/>
          </p:blipFill>
          <p:spPr>
            <a:xfrm>
              <a:off x="4507992" y="4136135"/>
              <a:ext cx="4636008" cy="2578608"/>
            </a:xfrm>
            <a:prstGeom prst="rect">
              <a:avLst/>
            </a:prstGeom>
            <a:noFill/>
            <a:ln>
              <a:noFill/>
            </a:ln>
          </p:spPr>
        </p:pic>
        <p:pic>
          <p:nvPicPr>
            <p:cNvPr id="345" name="Google Shape;345;p29"/>
            <p:cNvPicPr preferRelativeResize="0"/>
            <p:nvPr/>
          </p:nvPicPr>
          <p:blipFill rotWithShape="1">
            <a:blip r:embed="rId6">
              <a:alphaModFix/>
            </a:blip>
            <a:srcRect b="0" l="0" r="0" t="0"/>
            <a:stretch/>
          </p:blipFill>
          <p:spPr>
            <a:xfrm>
              <a:off x="4572000" y="4200499"/>
              <a:ext cx="4465955" cy="2395601"/>
            </a:xfrm>
            <a:prstGeom prst="rect">
              <a:avLst/>
            </a:prstGeom>
            <a:noFill/>
            <a:ln>
              <a:noFill/>
            </a:ln>
          </p:spPr>
        </p:pic>
        <p:sp>
          <p:nvSpPr>
            <p:cNvPr id="346" name="Google Shape;346;p29"/>
            <p:cNvSpPr/>
            <p:nvPr/>
          </p:nvSpPr>
          <p:spPr>
            <a:xfrm>
              <a:off x="4552950" y="4181449"/>
              <a:ext cx="4504055" cy="2433955"/>
            </a:xfrm>
            <a:custGeom>
              <a:rect b="b" l="l" r="r" t="t"/>
              <a:pathLst>
                <a:path extrusionOk="0" h="2433954" w="4504055">
                  <a:moveTo>
                    <a:pt x="0" y="2433701"/>
                  </a:moveTo>
                  <a:lnTo>
                    <a:pt x="4504055" y="2433701"/>
                  </a:lnTo>
                  <a:lnTo>
                    <a:pt x="4504055" y="0"/>
                  </a:lnTo>
                  <a:lnTo>
                    <a:pt x="0" y="0"/>
                  </a:lnTo>
                  <a:lnTo>
                    <a:pt x="0" y="2433701"/>
                  </a:lnTo>
                  <a:close/>
                </a:path>
              </a:pathLst>
            </a:custGeom>
            <a:noFill/>
            <a:ln cap="flat" cmpd="sng" w="381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0"/>
          <p:cNvSpPr txBox="1"/>
          <p:nvPr/>
        </p:nvSpPr>
        <p:spPr>
          <a:xfrm>
            <a:off x="379886" y="1140066"/>
            <a:ext cx="7621114" cy="1105431"/>
          </a:xfrm>
          <a:prstGeom prst="rect">
            <a:avLst/>
          </a:prstGeom>
          <a:noFill/>
          <a:ln>
            <a:noFill/>
          </a:ln>
        </p:spPr>
        <p:txBody>
          <a:bodyPr anchorCtr="0" anchor="t" bIns="0" lIns="0" spcFirstLastPara="1" rIns="0" wrap="square" tIns="162550">
            <a:spAutoFit/>
          </a:bodyPr>
          <a:lstStyle/>
          <a:p>
            <a:pPr indent="-457200" lvl="0" marL="469900" marR="0" rtl="0" algn="l">
              <a:lnSpc>
                <a:spcPct val="100000"/>
              </a:lnSpc>
              <a:spcBef>
                <a:spcPts val="0"/>
              </a:spcBef>
              <a:spcAft>
                <a:spcPts val="0"/>
              </a:spcAft>
              <a:buClr>
                <a:srgbClr val="C00000"/>
              </a:buClr>
              <a:buSzPts val="4200"/>
              <a:buFont typeface="Calibri"/>
              <a:buChar char="•"/>
            </a:pPr>
            <a:r>
              <a:rPr lang="en-US" sz="2800" u="sng">
                <a:solidFill>
                  <a:schemeClr val="dk1"/>
                </a:solidFill>
                <a:latin typeface="Calibri"/>
                <a:ea typeface="Calibri"/>
                <a:cs typeface="Calibri"/>
                <a:sym typeface="Calibri"/>
              </a:rPr>
              <a:t>Principe de fonctionnement:</a:t>
            </a:r>
            <a:endParaRPr sz="2800">
              <a:solidFill>
                <a:schemeClr val="dk1"/>
              </a:solidFill>
              <a:latin typeface="Calibri"/>
              <a:ea typeface="Calibri"/>
              <a:cs typeface="Calibri"/>
              <a:sym typeface="Calibri"/>
            </a:endParaRPr>
          </a:p>
          <a:p>
            <a:pPr indent="-514350" lvl="1" marL="955675" marR="0" rtl="0" algn="l">
              <a:lnSpc>
                <a:spcPct val="100000"/>
              </a:lnSpc>
              <a:spcBef>
                <a:spcPts val="1105"/>
              </a:spcBef>
              <a:spcAft>
                <a:spcPts val="0"/>
              </a:spcAft>
              <a:buClr>
                <a:schemeClr val="dk1"/>
              </a:buClr>
              <a:buSzPts val="2400"/>
              <a:buFont typeface="Calibri"/>
              <a:buAutoNum type="arabicPeriod"/>
            </a:pPr>
            <a:r>
              <a:rPr b="0" i="0" lang="en-US" sz="2400" u="none" cap="none" strike="noStrike">
                <a:solidFill>
                  <a:schemeClr val="dk1"/>
                </a:solidFill>
                <a:latin typeface="Calibri"/>
                <a:ea typeface="Calibri"/>
                <a:cs typeface="Calibri"/>
                <a:sym typeface="Calibri"/>
              </a:rPr>
              <a:t>Alice écrit un message “ABC”</a:t>
            </a:r>
            <a:endParaRPr/>
          </a:p>
        </p:txBody>
      </p:sp>
      <p:pic>
        <p:nvPicPr>
          <p:cNvPr id="352" name="Google Shape;352;p30"/>
          <p:cNvPicPr preferRelativeResize="0"/>
          <p:nvPr/>
        </p:nvPicPr>
        <p:blipFill rotWithShape="1">
          <a:blip r:embed="rId3">
            <a:alphaModFix/>
          </a:blip>
          <a:srcRect b="0" l="0" r="0" t="0"/>
          <a:stretch/>
        </p:blipFill>
        <p:spPr>
          <a:xfrm>
            <a:off x="2224881" y="4078340"/>
            <a:ext cx="4214812" cy="2457450"/>
          </a:xfrm>
          <a:prstGeom prst="rect">
            <a:avLst/>
          </a:prstGeom>
          <a:noFill/>
          <a:ln>
            <a:noFill/>
          </a:ln>
        </p:spPr>
      </p:pic>
      <p:sp>
        <p:nvSpPr>
          <p:cNvPr id="353" name="Google Shape;353;p30"/>
          <p:cNvSpPr txBox="1"/>
          <p:nvPr>
            <p:ph type="title"/>
          </p:nvPr>
        </p:nvSpPr>
        <p:spPr>
          <a:xfrm>
            <a:off x="914400" y="449563"/>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54" name="Google Shape;354;p30"/>
          <p:cNvSpPr txBox="1"/>
          <p:nvPr>
            <p:ph idx="12" type="sldNum"/>
          </p:nvPr>
        </p:nvSpPr>
        <p:spPr>
          <a:xfrm>
            <a:off x="8753477" y="6594158"/>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nvSpPr>
        <p:spPr>
          <a:xfrm>
            <a:off x="379886" y="1190713"/>
            <a:ext cx="8535514" cy="1831912"/>
          </a:xfrm>
          <a:prstGeom prst="rect">
            <a:avLst/>
          </a:prstGeom>
          <a:noFill/>
          <a:ln>
            <a:noFill/>
          </a:ln>
        </p:spPr>
        <p:txBody>
          <a:bodyPr anchorCtr="0" anchor="t" bIns="0" lIns="0" spcFirstLastPara="1" rIns="0" wrap="square" tIns="112375">
            <a:spAutoFit/>
          </a:bodyPr>
          <a:lstStyle/>
          <a:p>
            <a:pPr indent="-457200" lvl="0" marL="469900" marR="0" rtl="0" algn="l">
              <a:lnSpc>
                <a:spcPct val="100000"/>
              </a:lnSpc>
              <a:spcBef>
                <a:spcPts val="0"/>
              </a:spcBef>
              <a:spcAft>
                <a:spcPts val="0"/>
              </a:spcAft>
              <a:buClr>
                <a:srgbClr val="C00000"/>
              </a:buClr>
              <a:buSzPts val="4500"/>
              <a:buFont typeface="Calibri"/>
              <a:buChar char="•"/>
            </a:pPr>
            <a:r>
              <a:rPr lang="en-US" sz="3000" u="sng">
                <a:solidFill>
                  <a:schemeClr val="dk1"/>
                </a:solidFill>
                <a:latin typeface="Calibri"/>
                <a:ea typeface="Calibri"/>
                <a:cs typeface="Calibri"/>
                <a:sym typeface="Calibri"/>
              </a:rPr>
              <a:t>Principe de fonctionnement:</a:t>
            </a:r>
            <a:endParaRPr sz="3000">
              <a:solidFill>
                <a:schemeClr val="dk1"/>
              </a:solidFill>
              <a:latin typeface="Calibri"/>
              <a:ea typeface="Calibri"/>
              <a:cs typeface="Calibri"/>
              <a:sym typeface="Calibri"/>
            </a:endParaRPr>
          </a:p>
          <a:p>
            <a:pPr indent="-514350" lvl="1" marL="955675" marR="0" rtl="0" algn="l">
              <a:lnSpc>
                <a:spcPct val="130000"/>
              </a:lnSpc>
              <a:spcBef>
                <a:spcPts val="730"/>
              </a:spcBef>
              <a:spcAft>
                <a:spcPts val="0"/>
              </a:spcAft>
              <a:buClr>
                <a:schemeClr val="dk1"/>
              </a:buClr>
              <a:buSzPts val="2800"/>
              <a:buFont typeface="Calibri"/>
              <a:buAutoNum type="arabicPeriod"/>
            </a:pPr>
            <a:r>
              <a:rPr b="0" i="0" lang="en-US" sz="2400" u="none" cap="none" strike="noStrike">
                <a:solidFill>
                  <a:schemeClr val="dk1"/>
                </a:solidFill>
                <a:latin typeface="Calibri"/>
                <a:ea typeface="Calibri"/>
                <a:cs typeface="Calibri"/>
                <a:sym typeface="Calibri"/>
              </a:rPr>
              <a:t>Alice écrit un message “ABC”</a:t>
            </a:r>
            <a:endParaRPr/>
          </a:p>
          <a:p>
            <a:pPr indent="-514350" lvl="1" marL="955675" marR="0" rtl="0" algn="l">
              <a:lnSpc>
                <a:spcPct val="128750"/>
              </a:lnSpc>
              <a:spcBef>
                <a:spcPts val="0"/>
              </a:spcBef>
              <a:spcAft>
                <a:spcPts val="0"/>
              </a:spcAft>
              <a:buClr>
                <a:schemeClr val="dk1"/>
              </a:buClr>
              <a:buSzPts val="2800"/>
              <a:buFont typeface="Calibri"/>
              <a:buAutoNum type="arabicPeriod"/>
            </a:pPr>
            <a:r>
              <a:rPr b="0" i="0" lang="en-US" sz="2400" u="none" cap="none" strike="noStrike">
                <a:solidFill>
                  <a:schemeClr val="dk1"/>
                </a:solidFill>
                <a:latin typeface="Calibri"/>
                <a:ea typeface="Calibri"/>
                <a:cs typeface="Calibri"/>
                <a:sym typeface="Calibri"/>
              </a:rPr>
              <a:t>Alice calcule la valeur du hash de son message</a:t>
            </a:r>
            <a:endParaRPr/>
          </a:p>
          <a:p>
            <a:pPr indent="0" lvl="0" marL="441959" marR="0" rtl="0" algn="l">
              <a:lnSpc>
                <a:spcPct val="118750"/>
              </a:lnSpc>
              <a:spcBef>
                <a:spcPts val="0"/>
              </a:spcBef>
              <a:spcAft>
                <a:spcPts val="0"/>
              </a:spcAft>
              <a:buNone/>
            </a:pPr>
            <a:r>
              <a:rPr lang="en-US" sz="2400">
                <a:solidFill>
                  <a:schemeClr val="dk1"/>
                </a:solidFill>
                <a:latin typeface="Calibri"/>
                <a:ea typeface="Calibri"/>
                <a:cs typeface="Calibri"/>
                <a:sym typeface="Calibri"/>
              </a:rPr>
              <a:t></a:t>
            </a:r>
            <a:r>
              <a:rPr b="1" lang="en-US" sz="2400">
                <a:solidFill>
                  <a:schemeClr val="dk1"/>
                </a:solidFill>
                <a:latin typeface="Calibri"/>
                <a:ea typeface="Calibri"/>
                <a:cs typeface="Calibri"/>
                <a:sym typeface="Calibri"/>
              </a:rPr>
              <a:t>Hash Value</a:t>
            </a:r>
            <a:endParaRPr sz="2400">
              <a:solidFill>
                <a:schemeClr val="dk1"/>
              </a:solidFill>
              <a:latin typeface="Calibri"/>
              <a:ea typeface="Calibri"/>
              <a:cs typeface="Calibri"/>
              <a:sym typeface="Calibri"/>
            </a:endParaRPr>
          </a:p>
        </p:txBody>
      </p:sp>
      <p:pic>
        <p:nvPicPr>
          <p:cNvPr id="360" name="Google Shape;360;p31"/>
          <p:cNvPicPr preferRelativeResize="0"/>
          <p:nvPr/>
        </p:nvPicPr>
        <p:blipFill rotWithShape="1">
          <a:blip r:embed="rId3">
            <a:alphaModFix/>
          </a:blip>
          <a:srcRect b="0" l="0" r="0" t="0"/>
          <a:stretch/>
        </p:blipFill>
        <p:spPr>
          <a:xfrm>
            <a:off x="2217803" y="3949750"/>
            <a:ext cx="4214751" cy="2457450"/>
          </a:xfrm>
          <a:prstGeom prst="rect">
            <a:avLst/>
          </a:prstGeom>
          <a:noFill/>
          <a:ln>
            <a:noFill/>
          </a:ln>
        </p:spPr>
      </p:pic>
      <p:sp>
        <p:nvSpPr>
          <p:cNvPr id="361" name="Google Shape;361;p31"/>
          <p:cNvSpPr txBox="1"/>
          <p:nvPr>
            <p:ph type="title"/>
          </p:nvPr>
        </p:nvSpPr>
        <p:spPr>
          <a:xfrm>
            <a:off x="990600" y="457200"/>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62" name="Google Shape;362;p31"/>
          <p:cNvSpPr txBox="1"/>
          <p:nvPr>
            <p:ph idx="12" type="sldNum"/>
          </p:nvPr>
        </p:nvSpPr>
        <p:spPr>
          <a:xfrm>
            <a:off x="8763002" y="6517958"/>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2"/>
          <p:cNvSpPr txBox="1"/>
          <p:nvPr/>
        </p:nvSpPr>
        <p:spPr>
          <a:xfrm>
            <a:off x="379886" y="1137078"/>
            <a:ext cx="8419465" cy="2203808"/>
          </a:xfrm>
          <a:prstGeom prst="rect">
            <a:avLst/>
          </a:prstGeom>
          <a:noFill/>
          <a:ln>
            <a:noFill/>
          </a:ln>
        </p:spPr>
        <p:txBody>
          <a:bodyPr anchorCtr="0" anchor="t" bIns="0" lIns="0" spcFirstLastPara="1" rIns="0" wrap="square" tIns="112375">
            <a:spAutoFit/>
          </a:bodyPr>
          <a:lstStyle/>
          <a:p>
            <a:pPr indent="-457200" lvl="0" marL="469900" marR="0" rtl="0" algn="l">
              <a:lnSpc>
                <a:spcPct val="100000"/>
              </a:lnSpc>
              <a:spcBef>
                <a:spcPts val="0"/>
              </a:spcBef>
              <a:spcAft>
                <a:spcPts val="0"/>
              </a:spcAft>
              <a:buClr>
                <a:srgbClr val="C00000"/>
              </a:buClr>
              <a:buSzPts val="4200"/>
              <a:buFont typeface="Helvetica Neue"/>
              <a:buChar char="•"/>
            </a:pPr>
            <a:r>
              <a:rPr lang="en-US" sz="2800" u="sng">
                <a:solidFill>
                  <a:schemeClr val="dk1"/>
                </a:solidFill>
                <a:latin typeface="Helvetica Neue"/>
                <a:ea typeface="Helvetica Neue"/>
                <a:cs typeface="Helvetica Neue"/>
                <a:sym typeface="Helvetica Neue"/>
              </a:rPr>
              <a:t>Principe de fonctionnement:</a:t>
            </a:r>
            <a:endParaRPr sz="2800">
              <a:solidFill>
                <a:schemeClr val="dk1"/>
              </a:solidFill>
              <a:latin typeface="Helvetica Neue"/>
              <a:ea typeface="Helvetica Neue"/>
              <a:cs typeface="Helvetica Neue"/>
              <a:sym typeface="Helvetica Neue"/>
            </a:endParaRPr>
          </a:p>
          <a:p>
            <a:pPr indent="-514350" lvl="1" marL="955675" marR="0" rtl="0" algn="l">
              <a:lnSpc>
                <a:spcPct val="156000"/>
              </a:lnSpc>
              <a:spcBef>
                <a:spcPts val="735"/>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écrit un message “ABC”</a:t>
            </a:r>
            <a:endParaRPr/>
          </a:p>
          <a:p>
            <a:pPr indent="-514350" lvl="1" marL="955675" marR="0" rtl="0" algn="l">
              <a:lnSpc>
                <a:spcPct val="1545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calcule la	valeur du hash de son message</a:t>
            </a:r>
            <a:endParaRPr/>
          </a:p>
          <a:p>
            <a:pPr indent="0" lvl="0" marL="510540" marR="0" rtl="0" algn="l">
              <a:lnSpc>
                <a:spcPct val="132000"/>
              </a:lnSpc>
              <a:spcBef>
                <a:spcPts val="0"/>
              </a:spcBef>
              <a:spcAft>
                <a:spcPts val="0"/>
              </a:spcAft>
              <a:buNone/>
            </a:pPr>
            <a:r>
              <a:rPr lang="en-US" sz="2000">
                <a:solidFill>
                  <a:schemeClr val="dk1"/>
                </a:solidFill>
                <a:latin typeface="Noto Sans Symbols"/>
                <a:ea typeface="Noto Sans Symbols"/>
                <a:cs typeface="Noto Sans Symbols"/>
                <a:sym typeface="Noto Sans Symbols"/>
              </a:rPr>
              <a:t>🡪</a:t>
            </a:r>
            <a:r>
              <a:rPr lang="en-US" sz="2000">
                <a:solidFill>
                  <a:schemeClr val="dk1"/>
                </a:solidFill>
                <a:latin typeface="Times New Roman"/>
                <a:ea typeface="Times New Roman"/>
                <a:cs typeface="Times New Roman"/>
                <a:sym typeface="Times New Roman"/>
              </a:rPr>
              <a:t> </a:t>
            </a:r>
            <a:r>
              <a:rPr b="1" lang="en-US" sz="2000">
                <a:solidFill>
                  <a:schemeClr val="dk1"/>
                </a:solidFill>
                <a:latin typeface="Calibri"/>
                <a:ea typeface="Calibri"/>
                <a:cs typeface="Calibri"/>
                <a:sym typeface="Calibri"/>
              </a:rPr>
              <a:t>Hash Value</a:t>
            </a:r>
            <a:endParaRPr sz="2000">
              <a:solidFill>
                <a:schemeClr val="dk1"/>
              </a:solidFill>
              <a:latin typeface="Calibri"/>
              <a:ea typeface="Calibri"/>
              <a:cs typeface="Calibri"/>
              <a:sym typeface="Calibri"/>
            </a:endParaRPr>
          </a:p>
          <a:p>
            <a:pPr indent="-514350" lvl="1" marL="955675" marR="0" rtl="0" algn="l">
              <a:lnSpc>
                <a:spcPct val="157500"/>
              </a:lnSpc>
              <a:spcBef>
                <a:spcPts val="0"/>
              </a:spcBef>
              <a:spcAft>
                <a:spcPts val="0"/>
              </a:spcAft>
              <a:buClr>
                <a:schemeClr val="dk1"/>
              </a:buClr>
              <a:buSzPts val="2333"/>
              <a:buFont typeface="Calibri"/>
              <a:buAutoNum type="arabicPeriod" startAt="3"/>
            </a:pPr>
            <a:r>
              <a:rPr b="0" i="0" lang="en-US" sz="2000" u="none" cap="none" strike="noStrike">
                <a:solidFill>
                  <a:schemeClr val="dk1"/>
                </a:solidFill>
                <a:latin typeface="Calibri"/>
                <a:ea typeface="Calibri"/>
                <a:cs typeface="Calibri"/>
                <a:sym typeface="Calibri"/>
              </a:rPr>
              <a:t>Alice crypte l’ensemble {ABC, hash} en utilisant </a:t>
            </a:r>
            <a:r>
              <a:rPr b="1" i="0" lang="en-US" sz="2000" u="none" cap="none" strike="noStrike">
                <a:solidFill>
                  <a:schemeClr val="dk1"/>
                </a:solidFill>
                <a:latin typeface="Calibri"/>
                <a:ea typeface="Calibri"/>
                <a:cs typeface="Calibri"/>
                <a:sym typeface="Calibri"/>
              </a:rPr>
              <a:t>sa clé privée</a:t>
            </a:r>
            <a:endParaRPr b="0" i="0" sz="2000" u="none" cap="none" strike="noStrike">
              <a:solidFill>
                <a:schemeClr val="dk1"/>
              </a:solidFill>
              <a:latin typeface="Calibri"/>
              <a:ea typeface="Calibri"/>
              <a:cs typeface="Calibri"/>
              <a:sym typeface="Calibri"/>
            </a:endParaRPr>
          </a:p>
        </p:txBody>
      </p:sp>
      <p:pic>
        <p:nvPicPr>
          <p:cNvPr id="368" name="Google Shape;368;p32"/>
          <p:cNvPicPr preferRelativeResize="0"/>
          <p:nvPr/>
        </p:nvPicPr>
        <p:blipFill rotWithShape="1">
          <a:blip r:embed="rId3">
            <a:alphaModFix/>
          </a:blip>
          <a:srcRect b="0" l="0" r="0" t="0"/>
          <a:stretch/>
        </p:blipFill>
        <p:spPr>
          <a:xfrm>
            <a:off x="2062733" y="3697363"/>
            <a:ext cx="5493512" cy="2819400"/>
          </a:xfrm>
          <a:prstGeom prst="rect">
            <a:avLst/>
          </a:prstGeom>
          <a:noFill/>
          <a:ln>
            <a:noFill/>
          </a:ln>
        </p:spPr>
      </p:pic>
      <p:sp>
        <p:nvSpPr>
          <p:cNvPr id="369" name="Google Shape;369;p32"/>
          <p:cNvSpPr txBox="1"/>
          <p:nvPr>
            <p:ph type="title"/>
          </p:nvPr>
        </p:nvSpPr>
        <p:spPr>
          <a:xfrm>
            <a:off x="914400" y="349460"/>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70" name="Google Shape;370;p32"/>
          <p:cNvSpPr txBox="1"/>
          <p:nvPr>
            <p:ph idx="12" type="sldNum"/>
          </p:nvPr>
        </p:nvSpPr>
        <p:spPr>
          <a:xfrm>
            <a:off x="8829677" y="6594158"/>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3"/>
          <p:cNvSpPr txBox="1"/>
          <p:nvPr>
            <p:ph type="title"/>
          </p:nvPr>
        </p:nvSpPr>
        <p:spPr>
          <a:xfrm>
            <a:off x="914400" y="487978"/>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76" name="Google Shape;376;p33"/>
          <p:cNvSpPr txBox="1"/>
          <p:nvPr>
            <p:ph idx="1" type="body"/>
          </p:nvPr>
        </p:nvSpPr>
        <p:spPr>
          <a:xfrm>
            <a:off x="304800" y="1143001"/>
            <a:ext cx="8495030" cy="2852704"/>
          </a:xfrm>
          <a:prstGeom prst="rect">
            <a:avLst/>
          </a:prstGeom>
          <a:noFill/>
          <a:ln>
            <a:noFill/>
          </a:ln>
        </p:spPr>
        <p:txBody>
          <a:bodyPr anchorCtr="0" anchor="t" bIns="0" lIns="0" spcFirstLastPara="1" rIns="0" wrap="square" tIns="112375">
            <a:spAutoFit/>
          </a:bodyPr>
          <a:lstStyle/>
          <a:p>
            <a:pPr indent="-457200" lvl="0" marL="495300" rtl="0" algn="l">
              <a:lnSpc>
                <a:spcPct val="100000"/>
              </a:lnSpc>
              <a:spcBef>
                <a:spcPts val="0"/>
              </a:spcBef>
              <a:spcAft>
                <a:spcPts val="0"/>
              </a:spcAft>
              <a:buClr>
                <a:srgbClr val="C00000"/>
              </a:buClr>
              <a:buSzPts val="4200"/>
              <a:buChar char="•"/>
            </a:pPr>
            <a:r>
              <a:rPr lang="en-US" u="sng">
                <a:latin typeface="Calibri"/>
                <a:ea typeface="Calibri"/>
                <a:cs typeface="Calibri"/>
                <a:sym typeface="Calibri"/>
              </a:rPr>
              <a:t>Principe de fonctionnement:</a:t>
            </a:r>
            <a:endParaRPr/>
          </a:p>
          <a:p>
            <a:pPr indent="-514350" lvl="1" marL="981075" rtl="0" algn="l">
              <a:lnSpc>
                <a:spcPct val="156000"/>
              </a:lnSpc>
              <a:spcBef>
                <a:spcPts val="725"/>
              </a:spcBef>
              <a:spcAft>
                <a:spcPts val="0"/>
              </a:spcAft>
              <a:buClr>
                <a:schemeClr val="dk1"/>
              </a:buClr>
              <a:buSzPts val="2333"/>
              <a:buAutoNum type="arabicPeriod"/>
            </a:pPr>
            <a:r>
              <a:rPr lang="en-US" sz="2000">
                <a:latin typeface="Calibri"/>
                <a:ea typeface="Calibri"/>
                <a:cs typeface="Calibri"/>
                <a:sym typeface="Calibri"/>
              </a:rPr>
              <a:t>Alice écrit un message “ABC”</a:t>
            </a:r>
            <a:endParaRPr/>
          </a:p>
          <a:p>
            <a:pPr indent="-514350" lvl="1" marL="981075" rtl="0" algn="l">
              <a:lnSpc>
                <a:spcPct val="154750"/>
              </a:lnSpc>
              <a:spcBef>
                <a:spcPts val="500"/>
              </a:spcBef>
              <a:spcAft>
                <a:spcPts val="0"/>
              </a:spcAft>
              <a:buClr>
                <a:schemeClr val="dk1"/>
              </a:buClr>
              <a:buSzPts val="2333"/>
              <a:buAutoNum type="arabicPeriod"/>
            </a:pPr>
            <a:r>
              <a:rPr lang="en-US" sz="2000">
                <a:latin typeface="Calibri"/>
                <a:ea typeface="Calibri"/>
                <a:cs typeface="Calibri"/>
                <a:sym typeface="Calibri"/>
              </a:rPr>
              <a:t>Alice calcule la	valeur du hash de son message</a:t>
            </a:r>
            <a:endParaRPr/>
          </a:p>
          <a:p>
            <a:pPr indent="-228600" lvl="0" marL="535940" rtl="0" algn="l">
              <a:lnSpc>
                <a:spcPct val="132000"/>
              </a:lnSpc>
              <a:spcBef>
                <a:spcPts val="1000"/>
              </a:spcBef>
              <a:spcAft>
                <a:spcPts val="0"/>
              </a:spcAft>
              <a:buClr>
                <a:schemeClr val="dk1"/>
              </a:buClr>
              <a:buSzPts val="2000"/>
              <a:buChar char="•"/>
            </a:pPr>
            <a:r>
              <a:rPr lang="en-US" sz="2000" u="none">
                <a:latin typeface="Calibri"/>
                <a:ea typeface="Calibri"/>
                <a:cs typeface="Calibri"/>
                <a:sym typeface="Calibri"/>
              </a:rPr>
              <a:t> </a:t>
            </a:r>
            <a:r>
              <a:rPr b="1" lang="en-US" sz="2000" u="none">
                <a:latin typeface="Calibri"/>
                <a:ea typeface="Calibri"/>
                <a:cs typeface="Calibri"/>
                <a:sym typeface="Calibri"/>
              </a:rPr>
              <a:t>Hash Value</a:t>
            </a:r>
            <a:endParaRPr sz="2000">
              <a:latin typeface="Calibri"/>
              <a:ea typeface="Calibri"/>
              <a:cs typeface="Calibri"/>
              <a:sym typeface="Calibri"/>
            </a:endParaRPr>
          </a:p>
          <a:p>
            <a:pPr indent="-514350" lvl="1" marL="981075" rtl="0" algn="l">
              <a:lnSpc>
                <a:spcPct val="145500"/>
              </a:lnSpc>
              <a:spcBef>
                <a:spcPts val="500"/>
              </a:spcBef>
              <a:spcAft>
                <a:spcPts val="0"/>
              </a:spcAft>
              <a:buClr>
                <a:schemeClr val="dk1"/>
              </a:buClr>
              <a:buSzPts val="2333"/>
              <a:buAutoNum type="arabicPeriod" startAt="3"/>
            </a:pPr>
            <a:r>
              <a:rPr lang="en-US" sz="2000">
                <a:latin typeface="Calibri"/>
                <a:ea typeface="Calibri"/>
                <a:cs typeface="Calibri"/>
                <a:sym typeface="Calibri"/>
              </a:rPr>
              <a:t>Alice crypte l’ensemble {ABC, hash} en utilisant </a:t>
            </a:r>
            <a:r>
              <a:rPr b="1" lang="en-US" sz="2000">
                <a:latin typeface="Calibri"/>
                <a:ea typeface="Calibri"/>
                <a:cs typeface="Calibri"/>
                <a:sym typeface="Calibri"/>
              </a:rPr>
              <a:t>sa</a:t>
            </a:r>
            <a:r>
              <a:rPr lang="en-US" sz="2000">
                <a:latin typeface="Calibri"/>
                <a:ea typeface="Calibri"/>
                <a:cs typeface="Calibri"/>
                <a:sym typeface="Calibri"/>
              </a:rPr>
              <a:t> </a:t>
            </a:r>
            <a:r>
              <a:rPr b="1" lang="en-US" sz="2000">
                <a:latin typeface="Calibri"/>
                <a:ea typeface="Calibri"/>
                <a:cs typeface="Calibri"/>
                <a:sym typeface="Calibri"/>
              </a:rPr>
              <a:t>clé privée</a:t>
            </a:r>
            <a:endParaRPr sz="2000">
              <a:latin typeface="Calibri"/>
              <a:ea typeface="Calibri"/>
              <a:cs typeface="Calibri"/>
              <a:sym typeface="Calibri"/>
            </a:endParaRPr>
          </a:p>
          <a:p>
            <a:pPr indent="-514350" lvl="1" marL="981075" rtl="0" algn="l">
              <a:lnSpc>
                <a:spcPct val="156000"/>
              </a:lnSpc>
              <a:spcBef>
                <a:spcPts val="500"/>
              </a:spcBef>
              <a:spcAft>
                <a:spcPts val="0"/>
              </a:spcAft>
              <a:buClr>
                <a:schemeClr val="dk1"/>
              </a:buClr>
              <a:buSzPts val="2333"/>
              <a:buAutoNum type="arabicPeriod" startAt="3"/>
            </a:pPr>
            <a:r>
              <a:rPr lang="en-US" sz="2000">
                <a:latin typeface="Calibri"/>
                <a:ea typeface="Calibri"/>
                <a:cs typeface="Calibri"/>
                <a:sym typeface="Calibri"/>
              </a:rPr>
              <a:t>Alice envoie le message signé à Bob</a:t>
            </a:r>
            <a:endParaRPr/>
          </a:p>
        </p:txBody>
      </p:sp>
      <p:sp>
        <p:nvSpPr>
          <p:cNvPr id="377" name="Google Shape;377;p33"/>
          <p:cNvSpPr txBox="1"/>
          <p:nvPr>
            <p:ph idx="12" type="sldNum"/>
          </p:nvPr>
        </p:nvSpPr>
        <p:spPr>
          <a:xfrm>
            <a:off x="8753477" y="6517958"/>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378" name="Google Shape;378;p33"/>
          <p:cNvPicPr preferRelativeResize="0"/>
          <p:nvPr/>
        </p:nvPicPr>
        <p:blipFill rotWithShape="1">
          <a:blip r:embed="rId3">
            <a:alphaModFix/>
          </a:blip>
          <a:srcRect b="0" l="0" r="0" t="0"/>
          <a:stretch/>
        </p:blipFill>
        <p:spPr>
          <a:xfrm>
            <a:off x="1873123" y="4081621"/>
            <a:ext cx="5229894" cy="273190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4"/>
          <p:cNvSpPr txBox="1"/>
          <p:nvPr>
            <p:ph type="title"/>
          </p:nvPr>
        </p:nvSpPr>
        <p:spPr>
          <a:xfrm>
            <a:off x="990600" y="487978"/>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84" name="Google Shape;384;p34"/>
          <p:cNvSpPr txBox="1"/>
          <p:nvPr>
            <p:ph idx="1" type="body"/>
          </p:nvPr>
        </p:nvSpPr>
        <p:spPr>
          <a:xfrm>
            <a:off x="228600" y="1143000"/>
            <a:ext cx="8915400" cy="3288721"/>
          </a:xfrm>
          <a:prstGeom prst="rect">
            <a:avLst/>
          </a:prstGeom>
          <a:noFill/>
          <a:ln>
            <a:noFill/>
          </a:ln>
        </p:spPr>
        <p:txBody>
          <a:bodyPr anchorCtr="0" anchor="t" bIns="0" lIns="0" spcFirstLastPara="1" rIns="0" wrap="square" tIns="112375">
            <a:spAutoFit/>
          </a:bodyPr>
          <a:lstStyle/>
          <a:p>
            <a:pPr indent="-457200" lvl="0" marL="495300" rtl="0" algn="l">
              <a:lnSpc>
                <a:spcPct val="100000"/>
              </a:lnSpc>
              <a:spcBef>
                <a:spcPts val="0"/>
              </a:spcBef>
              <a:spcAft>
                <a:spcPts val="0"/>
              </a:spcAft>
              <a:buClr>
                <a:srgbClr val="C00000"/>
              </a:buClr>
              <a:buSzPts val="4200"/>
              <a:buChar char="•"/>
            </a:pPr>
            <a:r>
              <a:rPr lang="en-US" u="sng">
                <a:latin typeface="Calibri"/>
                <a:ea typeface="Calibri"/>
                <a:cs typeface="Calibri"/>
                <a:sym typeface="Calibri"/>
              </a:rPr>
              <a:t>Principe de fonctionnement</a:t>
            </a:r>
            <a:r>
              <a:rPr lang="en-US" sz="2400">
                <a:latin typeface="Calibri"/>
                <a:ea typeface="Calibri"/>
                <a:cs typeface="Calibri"/>
                <a:sym typeface="Calibri"/>
              </a:rPr>
              <a:t>:</a:t>
            </a:r>
            <a:endParaRPr/>
          </a:p>
          <a:p>
            <a:pPr indent="-514350" lvl="1" marL="981075" rtl="0" algn="l">
              <a:lnSpc>
                <a:spcPct val="156000"/>
              </a:lnSpc>
              <a:spcBef>
                <a:spcPts val="725"/>
              </a:spcBef>
              <a:spcAft>
                <a:spcPts val="0"/>
              </a:spcAft>
              <a:buClr>
                <a:schemeClr val="dk1"/>
              </a:buClr>
              <a:buSzPts val="2333"/>
              <a:buAutoNum type="arabicPeriod"/>
            </a:pPr>
            <a:r>
              <a:rPr lang="en-US" sz="2000">
                <a:latin typeface="Calibri"/>
                <a:ea typeface="Calibri"/>
                <a:cs typeface="Calibri"/>
                <a:sym typeface="Calibri"/>
              </a:rPr>
              <a:t>Alice écrit un message “ABC”</a:t>
            </a:r>
            <a:endParaRPr/>
          </a:p>
          <a:p>
            <a:pPr indent="-514350" lvl="1" marL="981075" rtl="0" algn="l">
              <a:lnSpc>
                <a:spcPct val="154750"/>
              </a:lnSpc>
              <a:spcBef>
                <a:spcPts val="500"/>
              </a:spcBef>
              <a:spcAft>
                <a:spcPts val="0"/>
              </a:spcAft>
              <a:buClr>
                <a:schemeClr val="dk1"/>
              </a:buClr>
              <a:buSzPts val="2333"/>
              <a:buAutoNum type="arabicPeriod"/>
            </a:pPr>
            <a:r>
              <a:rPr lang="en-US" sz="2000">
                <a:latin typeface="Calibri"/>
                <a:ea typeface="Calibri"/>
                <a:cs typeface="Calibri"/>
                <a:sym typeface="Calibri"/>
              </a:rPr>
              <a:t>Alice calcule la	valeur du hash de son message</a:t>
            </a:r>
            <a:endParaRPr/>
          </a:p>
          <a:p>
            <a:pPr indent="-228600" lvl="0" marL="467359" rtl="0" algn="l">
              <a:lnSpc>
                <a:spcPct val="132000"/>
              </a:lnSpc>
              <a:spcBef>
                <a:spcPts val="1000"/>
              </a:spcBef>
              <a:spcAft>
                <a:spcPts val="0"/>
              </a:spcAft>
              <a:buClr>
                <a:schemeClr val="dk1"/>
              </a:buClr>
              <a:buSzPts val="2000"/>
              <a:buChar char="•"/>
            </a:pPr>
            <a:r>
              <a:rPr lang="en-US" sz="2000" u="none">
                <a:latin typeface="Calibri"/>
                <a:ea typeface="Calibri"/>
                <a:cs typeface="Calibri"/>
                <a:sym typeface="Calibri"/>
              </a:rPr>
              <a:t> </a:t>
            </a:r>
            <a:r>
              <a:rPr b="1" lang="en-US" sz="2000" u="none">
                <a:latin typeface="Calibri"/>
                <a:ea typeface="Calibri"/>
                <a:cs typeface="Calibri"/>
                <a:sym typeface="Calibri"/>
              </a:rPr>
              <a:t>Hash Value</a:t>
            </a:r>
            <a:endParaRPr sz="2000">
              <a:latin typeface="Calibri"/>
              <a:ea typeface="Calibri"/>
              <a:cs typeface="Calibri"/>
              <a:sym typeface="Calibri"/>
            </a:endParaRPr>
          </a:p>
          <a:p>
            <a:pPr indent="-514350" lvl="1" marL="981075" rtl="0" algn="l">
              <a:lnSpc>
                <a:spcPct val="145500"/>
              </a:lnSpc>
              <a:spcBef>
                <a:spcPts val="500"/>
              </a:spcBef>
              <a:spcAft>
                <a:spcPts val="0"/>
              </a:spcAft>
              <a:buClr>
                <a:schemeClr val="dk1"/>
              </a:buClr>
              <a:buSzPts val="2333"/>
              <a:buAutoNum type="arabicPeriod" startAt="3"/>
            </a:pPr>
            <a:r>
              <a:rPr lang="en-US" sz="2000">
                <a:latin typeface="Calibri"/>
                <a:ea typeface="Calibri"/>
                <a:cs typeface="Calibri"/>
                <a:sym typeface="Calibri"/>
              </a:rPr>
              <a:t>Alice crypte l’ensemble {ABC, hash} en utilisant sa </a:t>
            </a:r>
            <a:r>
              <a:rPr b="1" lang="en-US" sz="2000">
                <a:latin typeface="Calibri"/>
                <a:ea typeface="Calibri"/>
                <a:cs typeface="Calibri"/>
                <a:sym typeface="Calibri"/>
              </a:rPr>
              <a:t>clé privée</a:t>
            </a:r>
            <a:endParaRPr sz="2000">
              <a:latin typeface="Calibri"/>
              <a:ea typeface="Calibri"/>
              <a:cs typeface="Calibri"/>
              <a:sym typeface="Calibri"/>
            </a:endParaRPr>
          </a:p>
          <a:p>
            <a:pPr indent="-514350" lvl="1" marL="981075" rtl="0" algn="l">
              <a:lnSpc>
                <a:spcPct val="144000"/>
              </a:lnSpc>
              <a:spcBef>
                <a:spcPts val="500"/>
              </a:spcBef>
              <a:spcAft>
                <a:spcPts val="0"/>
              </a:spcAft>
              <a:buClr>
                <a:schemeClr val="dk1"/>
              </a:buClr>
              <a:buSzPts val="2333"/>
              <a:buAutoNum type="arabicPeriod" startAt="3"/>
            </a:pPr>
            <a:r>
              <a:rPr lang="en-US" sz="2000">
                <a:latin typeface="Calibri"/>
                <a:ea typeface="Calibri"/>
                <a:cs typeface="Calibri"/>
                <a:sym typeface="Calibri"/>
              </a:rPr>
              <a:t>Alice envoie le message signé à Bob</a:t>
            </a:r>
            <a:endParaRPr/>
          </a:p>
          <a:p>
            <a:pPr indent="-514350" lvl="1" marL="981075" rtl="0" algn="l">
              <a:lnSpc>
                <a:spcPct val="156000"/>
              </a:lnSpc>
              <a:spcBef>
                <a:spcPts val="500"/>
              </a:spcBef>
              <a:spcAft>
                <a:spcPts val="0"/>
              </a:spcAft>
              <a:buClr>
                <a:schemeClr val="dk1"/>
              </a:buClr>
              <a:buSzPts val="2333"/>
              <a:buAutoNum type="arabicPeriod" startAt="3"/>
            </a:pPr>
            <a:r>
              <a:rPr lang="en-US" sz="2000">
                <a:latin typeface="Calibri"/>
                <a:ea typeface="Calibri"/>
                <a:cs typeface="Calibri"/>
                <a:sym typeface="Calibri"/>
              </a:rPr>
              <a:t>Bob décrypte le message avec </a:t>
            </a:r>
            <a:r>
              <a:rPr b="1" lang="en-US" sz="2000">
                <a:latin typeface="Calibri"/>
                <a:ea typeface="Calibri"/>
                <a:cs typeface="Calibri"/>
                <a:sym typeface="Calibri"/>
              </a:rPr>
              <a:t>la clé publique </a:t>
            </a:r>
            <a:r>
              <a:rPr lang="en-US" sz="2000">
                <a:latin typeface="Calibri"/>
                <a:ea typeface="Calibri"/>
                <a:cs typeface="Calibri"/>
                <a:sym typeface="Calibri"/>
              </a:rPr>
              <a:t>de Alice</a:t>
            </a:r>
            <a:endParaRPr/>
          </a:p>
        </p:txBody>
      </p:sp>
      <p:sp>
        <p:nvSpPr>
          <p:cNvPr id="385" name="Google Shape;385;p34"/>
          <p:cNvSpPr txBox="1"/>
          <p:nvPr>
            <p:ph idx="12" type="sldNum"/>
          </p:nvPr>
        </p:nvSpPr>
        <p:spPr>
          <a:xfrm>
            <a:off x="8763002" y="6594158"/>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386" name="Google Shape;386;p34"/>
          <p:cNvPicPr preferRelativeResize="0"/>
          <p:nvPr/>
        </p:nvPicPr>
        <p:blipFill rotWithShape="1">
          <a:blip r:embed="rId3">
            <a:alphaModFix/>
          </a:blip>
          <a:srcRect b="0" l="0" r="0" t="0"/>
          <a:stretch/>
        </p:blipFill>
        <p:spPr>
          <a:xfrm>
            <a:off x="2479929" y="4444850"/>
            <a:ext cx="5314950" cy="240078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5"/>
          <p:cNvSpPr txBox="1"/>
          <p:nvPr/>
        </p:nvSpPr>
        <p:spPr>
          <a:xfrm>
            <a:off x="366471" y="1066800"/>
            <a:ext cx="8409940" cy="2998898"/>
          </a:xfrm>
          <a:prstGeom prst="rect">
            <a:avLst/>
          </a:prstGeom>
          <a:noFill/>
          <a:ln>
            <a:noFill/>
          </a:ln>
        </p:spPr>
        <p:txBody>
          <a:bodyPr anchorCtr="0" anchor="t" bIns="0" lIns="0" spcFirstLastPara="1" rIns="0" wrap="square" tIns="112375">
            <a:spAutoFit/>
          </a:bodyPr>
          <a:lstStyle/>
          <a:p>
            <a:pPr indent="-457200" lvl="0" marL="469900" marR="0" rtl="0" algn="l">
              <a:lnSpc>
                <a:spcPct val="100000"/>
              </a:lnSpc>
              <a:spcBef>
                <a:spcPts val="0"/>
              </a:spcBef>
              <a:spcAft>
                <a:spcPts val="0"/>
              </a:spcAft>
              <a:buClr>
                <a:srgbClr val="C00000"/>
              </a:buClr>
              <a:buSzPts val="4200"/>
              <a:buFont typeface="Calibri"/>
              <a:buChar char="•"/>
            </a:pPr>
            <a:r>
              <a:rPr lang="en-US" sz="2800" u="sng">
                <a:solidFill>
                  <a:schemeClr val="dk1"/>
                </a:solidFill>
                <a:latin typeface="Calibri"/>
                <a:ea typeface="Calibri"/>
                <a:cs typeface="Calibri"/>
                <a:sym typeface="Calibri"/>
              </a:rPr>
              <a:t>Principe de fonctionnement:</a:t>
            </a:r>
            <a:endParaRPr sz="2800">
              <a:solidFill>
                <a:schemeClr val="dk1"/>
              </a:solidFill>
              <a:latin typeface="Calibri"/>
              <a:ea typeface="Calibri"/>
              <a:cs typeface="Calibri"/>
              <a:sym typeface="Calibri"/>
            </a:endParaRPr>
          </a:p>
          <a:p>
            <a:pPr indent="-514984" lvl="1" marL="956310" marR="0" rtl="0" algn="l">
              <a:lnSpc>
                <a:spcPct val="156500"/>
              </a:lnSpc>
              <a:spcBef>
                <a:spcPts val="735"/>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écrit un message “ABC”</a:t>
            </a:r>
            <a:endParaRPr/>
          </a:p>
          <a:p>
            <a:pPr indent="-514984" lvl="1" marL="956310" marR="0" rtl="0" algn="l">
              <a:lnSpc>
                <a:spcPct val="144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calcule la	valeur du hash de son message  Hash</a:t>
            </a:r>
            <a:endParaRPr b="0" i="0" sz="2000" u="none" cap="none" strike="noStrike">
              <a:solidFill>
                <a:schemeClr val="dk1"/>
              </a:solidFill>
              <a:latin typeface="Calibri"/>
              <a:ea typeface="Calibri"/>
              <a:cs typeface="Calibri"/>
              <a:sym typeface="Calibri"/>
            </a:endParaRPr>
          </a:p>
          <a:p>
            <a:pPr indent="-514984" lvl="1" marL="956310" marR="0" rtl="0" algn="l">
              <a:lnSpc>
                <a:spcPct val="1435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crypte l’ensemble {ABC, hash} en utilisant sa </a:t>
            </a:r>
            <a:r>
              <a:rPr b="1" i="0" lang="en-US" sz="2000" u="none" cap="none" strike="noStrike">
                <a:solidFill>
                  <a:schemeClr val="dk1"/>
                </a:solidFill>
                <a:latin typeface="Calibri"/>
                <a:ea typeface="Calibri"/>
                <a:cs typeface="Calibri"/>
                <a:sym typeface="Calibri"/>
              </a:rPr>
              <a:t>clé privée</a:t>
            </a:r>
            <a:endParaRPr b="0" i="0" sz="2000" u="none" cap="none" strike="noStrike">
              <a:solidFill>
                <a:schemeClr val="dk1"/>
              </a:solidFill>
              <a:latin typeface="Calibri"/>
              <a:ea typeface="Calibri"/>
              <a:cs typeface="Calibri"/>
              <a:sym typeface="Calibri"/>
            </a:endParaRPr>
          </a:p>
          <a:p>
            <a:pPr indent="-514984" lvl="1" marL="956310" marR="0" rtl="0" algn="l">
              <a:lnSpc>
                <a:spcPct val="144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envoie le message signé à Bob</a:t>
            </a:r>
            <a:endParaRPr/>
          </a:p>
          <a:p>
            <a:pPr indent="-514984" lvl="1" marL="956310" marR="0" rtl="0" algn="l">
              <a:lnSpc>
                <a:spcPct val="15325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Bob décrypte le message avec </a:t>
            </a:r>
            <a:r>
              <a:rPr b="1" i="0" lang="en-US" sz="2000" u="none" cap="none" strike="noStrike">
                <a:solidFill>
                  <a:schemeClr val="dk1"/>
                </a:solidFill>
                <a:latin typeface="Calibri"/>
                <a:ea typeface="Calibri"/>
                <a:cs typeface="Calibri"/>
                <a:sym typeface="Calibri"/>
              </a:rPr>
              <a:t>la clé publique </a:t>
            </a:r>
            <a:r>
              <a:rPr b="0" i="0" lang="en-US" sz="2000" u="none" cap="none" strike="noStrike">
                <a:solidFill>
                  <a:schemeClr val="dk1"/>
                </a:solidFill>
                <a:latin typeface="Calibri"/>
                <a:ea typeface="Calibri"/>
                <a:cs typeface="Calibri"/>
                <a:sym typeface="Calibri"/>
              </a:rPr>
              <a:t>de Alice</a:t>
            </a:r>
            <a:endParaRPr/>
          </a:p>
          <a:p>
            <a:pPr indent="-514984" lvl="1" marL="956310" marR="0" rtl="0" algn="l">
              <a:lnSpc>
                <a:spcPct val="137666"/>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Bob calcule la valeur du hash du message </a:t>
            </a:r>
            <a:r>
              <a:rPr b="0" i="0" lang="en-US" sz="2400" u="none" cap="none" strike="noStrike">
                <a:solidFill>
                  <a:schemeClr val="dk1"/>
                </a:solidFill>
                <a:latin typeface="Calibri"/>
                <a:ea typeface="Calibri"/>
                <a:cs typeface="Calibri"/>
                <a:sym typeface="Calibri"/>
              </a:rPr>
              <a:t>“ABC”</a:t>
            </a:r>
            <a:endParaRPr b="0" i="0" sz="2400" u="none" cap="none" strike="noStrike">
              <a:solidFill>
                <a:schemeClr val="dk1"/>
              </a:solidFill>
              <a:latin typeface="Calibri"/>
              <a:ea typeface="Calibri"/>
              <a:cs typeface="Calibri"/>
              <a:sym typeface="Calibri"/>
            </a:endParaRPr>
          </a:p>
        </p:txBody>
      </p:sp>
      <p:pic>
        <p:nvPicPr>
          <p:cNvPr id="392" name="Google Shape;392;p35"/>
          <p:cNvPicPr preferRelativeResize="0"/>
          <p:nvPr/>
        </p:nvPicPr>
        <p:blipFill rotWithShape="1">
          <a:blip r:embed="rId3">
            <a:alphaModFix/>
          </a:blip>
          <a:srcRect b="0" l="0" r="0" t="0"/>
          <a:stretch/>
        </p:blipFill>
        <p:spPr>
          <a:xfrm>
            <a:off x="2747517" y="4477604"/>
            <a:ext cx="857136" cy="1460597"/>
          </a:xfrm>
          <a:prstGeom prst="rect">
            <a:avLst/>
          </a:prstGeom>
          <a:noFill/>
          <a:ln>
            <a:noFill/>
          </a:ln>
        </p:spPr>
      </p:pic>
      <p:sp>
        <p:nvSpPr>
          <p:cNvPr id="393" name="Google Shape;393;p35"/>
          <p:cNvSpPr txBox="1"/>
          <p:nvPr>
            <p:ph type="title"/>
          </p:nvPr>
        </p:nvSpPr>
        <p:spPr>
          <a:xfrm>
            <a:off x="1066800" y="407004"/>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394" name="Google Shape;394;p35"/>
          <p:cNvSpPr txBox="1"/>
          <p:nvPr>
            <p:ph idx="12" type="sldNum"/>
          </p:nvPr>
        </p:nvSpPr>
        <p:spPr>
          <a:xfrm>
            <a:off x="88296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395" name="Google Shape;395;p35"/>
          <p:cNvPicPr preferRelativeResize="0"/>
          <p:nvPr/>
        </p:nvPicPr>
        <p:blipFill rotWithShape="1">
          <a:blip r:embed="rId4">
            <a:alphaModFix/>
          </a:blip>
          <a:srcRect b="0" l="0" r="0" t="0"/>
          <a:stretch/>
        </p:blipFill>
        <p:spPr>
          <a:xfrm>
            <a:off x="5545966" y="4017647"/>
            <a:ext cx="1928872" cy="284035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6"/>
          <p:cNvSpPr txBox="1"/>
          <p:nvPr/>
        </p:nvSpPr>
        <p:spPr>
          <a:xfrm>
            <a:off x="327761" y="1266827"/>
            <a:ext cx="8409940" cy="2705869"/>
          </a:xfrm>
          <a:prstGeom prst="rect">
            <a:avLst/>
          </a:prstGeom>
          <a:noFill/>
          <a:ln>
            <a:noFill/>
          </a:ln>
        </p:spPr>
        <p:txBody>
          <a:bodyPr anchorCtr="0" anchor="t" bIns="0" lIns="0" spcFirstLastPara="1" rIns="0" wrap="square" tIns="12700">
            <a:spAutoFit/>
          </a:bodyPr>
          <a:lstStyle/>
          <a:p>
            <a:pPr indent="-457200" lvl="0" marL="469900" marR="0" rtl="0" algn="l">
              <a:lnSpc>
                <a:spcPct val="120178"/>
              </a:lnSpc>
              <a:spcBef>
                <a:spcPts val="0"/>
              </a:spcBef>
              <a:spcAft>
                <a:spcPts val="0"/>
              </a:spcAft>
              <a:buClr>
                <a:srgbClr val="C00000"/>
              </a:buClr>
              <a:buSzPts val="4200"/>
              <a:buFont typeface="Calibri"/>
              <a:buChar char="•"/>
            </a:pPr>
            <a:r>
              <a:rPr lang="en-US" sz="2800" u="sng">
                <a:solidFill>
                  <a:schemeClr val="dk1"/>
                </a:solidFill>
                <a:latin typeface="Calibri"/>
                <a:ea typeface="Calibri"/>
                <a:cs typeface="Calibri"/>
                <a:sym typeface="Calibri"/>
              </a:rPr>
              <a:t>Principe de fonctionnement:</a:t>
            </a:r>
            <a:endParaRPr sz="2800">
              <a:solidFill>
                <a:schemeClr val="dk1"/>
              </a:solidFill>
              <a:latin typeface="Calibri"/>
              <a:ea typeface="Calibri"/>
              <a:cs typeface="Calibri"/>
              <a:sym typeface="Calibri"/>
            </a:endParaRPr>
          </a:p>
          <a:p>
            <a:pPr indent="-514350" lvl="1" marL="955675" marR="0" rtl="0" algn="l">
              <a:lnSpc>
                <a:spcPct val="145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écrit un message “ABC”</a:t>
            </a:r>
            <a:endParaRPr/>
          </a:p>
          <a:p>
            <a:pPr indent="-514350" lvl="1" marL="955675" marR="0" rtl="0" algn="l">
              <a:lnSpc>
                <a:spcPct val="144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calcule la	valeur du hash de son message  Hash</a:t>
            </a:r>
            <a:endParaRPr b="0" i="0" sz="2000" u="none" cap="none" strike="noStrike">
              <a:solidFill>
                <a:schemeClr val="dk1"/>
              </a:solidFill>
              <a:latin typeface="Calibri"/>
              <a:ea typeface="Calibri"/>
              <a:cs typeface="Calibri"/>
              <a:sym typeface="Calibri"/>
            </a:endParaRPr>
          </a:p>
          <a:p>
            <a:pPr indent="-514350" lvl="1" marL="955675" marR="0" rtl="0" algn="l">
              <a:lnSpc>
                <a:spcPct val="1435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crypte l’ensemble {ABC, hash} en utilisant sa </a:t>
            </a:r>
            <a:r>
              <a:rPr b="1" i="0" lang="en-US" sz="2000" u="none" cap="none" strike="noStrike">
                <a:solidFill>
                  <a:schemeClr val="dk1"/>
                </a:solidFill>
                <a:latin typeface="Calibri"/>
                <a:ea typeface="Calibri"/>
                <a:cs typeface="Calibri"/>
                <a:sym typeface="Calibri"/>
              </a:rPr>
              <a:t>clé privée</a:t>
            </a:r>
            <a:endParaRPr b="0" i="0" sz="2000" u="none" cap="none" strike="noStrike">
              <a:solidFill>
                <a:schemeClr val="dk1"/>
              </a:solidFill>
              <a:latin typeface="Calibri"/>
              <a:ea typeface="Calibri"/>
              <a:cs typeface="Calibri"/>
              <a:sym typeface="Calibri"/>
            </a:endParaRPr>
          </a:p>
          <a:p>
            <a:pPr indent="-514350" lvl="1" marL="955675" marR="0" rtl="0" algn="l">
              <a:lnSpc>
                <a:spcPct val="144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Alice envoie le message signé à Bob</a:t>
            </a:r>
            <a:endParaRPr/>
          </a:p>
          <a:p>
            <a:pPr indent="-514350" lvl="1" marL="955675" marR="0" rtl="0" algn="l">
              <a:lnSpc>
                <a:spcPct val="144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Bob décrypte le message avec </a:t>
            </a:r>
            <a:r>
              <a:rPr b="1" i="0" lang="en-US" sz="2000" u="none" cap="none" strike="noStrike">
                <a:solidFill>
                  <a:schemeClr val="dk1"/>
                </a:solidFill>
                <a:latin typeface="Calibri"/>
                <a:ea typeface="Calibri"/>
                <a:cs typeface="Calibri"/>
                <a:sym typeface="Calibri"/>
              </a:rPr>
              <a:t>la clé publique </a:t>
            </a:r>
            <a:r>
              <a:rPr b="0" i="0" lang="en-US" sz="2000" u="none" cap="none" strike="noStrike">
                <a:solidFill>
                  <a:schemeClr val="dk1"/>
                </a:solidFill>
                <a:latin typeface="Calibri"/>
                <a:ea typeface="Calibri"/>
                <a:cs typeface="Calibri"/>
                <a:sym typeface="Calibri"/>
              </a:rPr>
              <a:t>de Alice</a:t>
            </a:r>
            <a:endParaRPr/>
          </a:p>
          <a:p>
            <a:pPr indent="-514350" lvl="1" marL="955675" marR="0" rtl="0" algn="l">
              <a:lnSpc>
                <a:spcPct val="156000"/>
              </a:lnSpc>
              <a:spcBef>
                <a:spcPts val="0"/>
              </a:spcBef>
              <a:spcAft>
                <a:spcPts val="0"/>
              </a:spcAft>
              <a:buClr>
                <a:schemeClr val="dk1"/>
              </a:buClr>
              <a:buSzPts val="2333"/>
              <a:buFont typeface="Calibri"/>
              <a:buAutoNum type="arabicPeriod"/>
            </a:pPr>
            <a:r>
              <a:rPr b="0" i="0" lang="en-US" sz="2000" u="none" cap="none" strike="noStrike">
                <a:solidFill>
                  <a:schemeClr val="dk1"/>
                </a:solidFill>
                <a:latin typeface="Calibri"/>
                <a:ea typeface="Calibri"/>
                <a:cs typeface="Calibri"/>
                <a:sym typeface="Calibri"/>
              </a:rPr>
              <a:t>Bob calcule la valeur du hash du message “ABC”</a:t>
            </a:r>
            <a:endParaRPr/>
          </a:p>
        </p:txBody>
      </p:sp>
      <p:pic>
        <p:nvPicPr>
          <p:cNvPr id="401" name="Google Shape;401;p36"/>
          <p:cNvPicPr preferRelativeResize="0"/>
          <p:nvPr/>
        </p:nvPicPr>
        <p:blipFill rotWithShape="1">
          <a:blip r:embed="rId3">
            <a:alphaModFix/>
          </a:blip>
          <a:srcRect b="0" l="0" r="0" t="0"/>
          <a:stretch/>
        </p:blipFill>
        <p:spPr>
          <a:xfrm>
            <a:off x="2310129" y="4702891"/>
            <a:ext cx="857136" cy="1460597"/>
          </a:xfrm>
          <a:prstGeom prst="rect">
            <a:avLst/>
          </a:prstGeom>
          <a:noFill/>
          <a:ln>
            <a:noFill/>
          </a:ln>
        </p:spPr>
      </p:pic>
      <p:grpSp>
        <p:nvGrpSpPr>
          <p:cNvPr id="402" name="Google Shape;402;p36"/>
          <p:cNvGrpSpPr/>
          <p:nvPr/>
        </p:nvGrpSpPr>
        <p:grpSpPr>
          <a:xfrm>
            <a:off x="5334533" y="3975610"/>
            <a:ext cx="3782928" cy="2879373"/>
            <a:chOff x="5334529" y="3975608"/>
            <a:chExt cx="3782928" cy="2879373"/>
          </a:xfrm>
        </p:grpSpPr>
        <p:pic>
          <p:nvPicPr>
            <p:cNvPr id="403" name="Google Shape;403;p36"/>
            <p:cNvPicPr preferRelativeResize="0"/>
            <p:nvPr/>
          </p:nvPicPr>
          <p:blipFill rotWithShape="1">
            <a:blip r:embed="rId4">
              <a:alphaModFix/>
            </a:blip>
            <a:srcRect b="0" l="0" r="0" t="0"/>
            <a:stretch/>
          </p:blipFill>
          <p:spPr>
            <a:xfrm>
              <a:off x="5334529" y="3983526"/>
              <a:ext cx="2037312" cy="2871455"/>
            </a:xfrm>
            <a:prstGeom prst="rect">
              <a:avLst/>
            </a:prstGeom>
            <a:noFill/>
            <a:ln>
              <a:noFill/>
            </a:ln>
          </p:spPr>
        </p:pic>
        <p:pic>
          <p:nvPicPr>
            <p:cNvPr id="404" name="Google Shape;404;p36"/>
            <p:cNvPicPr preferRelativeResize="0"/>
            <p:nvPr/>
          </p:nvPicPr>
          <p:blipFill rotWithShape="1">
            <a:blip r:embed="rId5">
              <a:alphaModFix/>
            </a:blip>
            <a:srcRect b="0" l="0" r="0" t="0"/>
            <a:stretch/>
          </p:blipFill>
          <p:spPr>
            <a:xfrm>
              <a:off x="7110095" y="3975608"/>
              <a:ext cx="2007362" cy="1359915"/>
            </a:xfrm>
            <a:prstGeom prst="rect">
              <a:avLst/>
            </a:prstGeom>
            <a:noFill/>
            <a:ln>
              <a:noFill/>
            </a:ln>
          </p:spPr>
        </p:pic>
      </p:grpSp>
      <p:sp>
        <p:nvSpPr>
          <p:cNvPr id="405" name="Google Shape;405;p36"/>
          <p:cNvSpPr txBox="1"/>
          <p:nvPr>
            <p:ph type="title"/>
          </p:nvPr>
        </p:nvSpPr>
        <p:spPr>
          <a:xfrm>
            <a:off x="914400" y="411778"/>
            <a:ext cx="5999987" cy="629018"/>
          </a:xfrm>
          <a:prstGeom prst="rect">
            <a:avLst/>
          </a:prstGeom>
          <a:noFill/>
          <a:ln>
            <a:noFill/>
          </a:ln>
        </p:spPr>
        <p:txBody>
          <a:bodyPr anchorCtr="0" anchor="ctr" bIns="0" lIns="0" spcFirstLastPara="1" rIns="0" wrap="square" tIns="13325">
            <a:spAutoFit/>
          </a:bodyPr>
          <a:lstStyle/>
          <a:p>
            <a:pPr indent="0" lvl="0" marL="34290" rtl="0" algn="l">
              <a:lnSpc>
                <a:spcPct val="100000"/>
              </a:lnSpc>
              <a:spcBef>
                <a:spcPts val="0"/>
              </a:spcBef>
              <a:spcAft>
                <a:spcPts val="0"/>
              </a:spcAft>
              <a:buClr>
                <a:srgbClr val="C00000"/>
              </a:buClr>
              <a:buSzPts val="4000"/>
              <a:buFont typeface="Calibri"/>
              <a:buNone/>
            </a:pPr>
            <a:r>
              <a:rPr b="1" lang="en-US" sz="4000">
                <a:solidFill>
                  <a:srgbClr val="C00000"/>
                </a:solidFill>
              </a:rPr>
              <a:t>La signature numérique</a:t>
            </a:r>
            <a:endParaRPr/>
          </a:p>
        </p:txBody>
      </p:sp>
      <p:sp>
        <p:nvSpPr>
          <p:cNvPr id="406" name="Google Shape;406;p36"/>
          <p:cNvSpPr txBox="1"/>
          <p:nvPr>
            <p:ph idx="12" type="sldNum"/>
          </p:nvPr>
        </p:nvSpPr>
        <p:spPr>
          <a:xfrm>
            <a:off x="8763002"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7"/>
          <p:cNvSpPr txBox="1"/>
          <p:nvPr>
            <p:ph type="title"/>
          </p:nvPr>
        </p:nvSpPr>
        <p:spPr>
          <a:xfrm>
            <a:off x="990600" y="564177"/>
            <a:ext cx="555485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Plan du chapitre</a:t>
            </a:r>
            <a:endParaRPr/>
          </a:p>
        </p:txBody>
      </p:sp>
      <p:sp>
        <p:nvSpPr>
          <p:cNvPr id="412" name="Google Shape;412;p37"/>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413" name="Google Shape;413;p37"/>
          <p:cNvSpPr txBox="1"/>
          <p:nvPr/>
        </p:nvSpPr>
        <p:spPr>
          <a:xfrm>
            <a:off x="402742" y="1544456"/>
            <a:ext cx="8512658" cy="4052391"/>
          </a:xfrm>
          <a:prstGeom prst="rect">
            <a:avLst/>
          </a:prstGeom>
          <a:noFill/>
          <a:ln>
            <a:noFill/>
          </a:ln>
        </p:spPr>
        <p:txBody>
          <a:bodyPr anchorCtr="0" anchor="t" bIns="0" lIns="0" spcFirstLastPara="1" rIns="0" wrap="square" tIns="81275">
            <a:spAutoFit/>
          </a:bodyPr>
          <a:lstStyle/>
          <a:p>
            <a:pPr indent="-457200" lvl="0" marL="469900" marR="0" rtl="0" algn="l">
              <a:lnSpc>
                <a:spcPct val="100000"/>
              </a:lnSpc>
              <a:spcBef>
                <a:spcPts val="0"/>
              </a:spcBef>
              <a:spcAft>
                <a:spcPts val="0"/>
              </a:spcAft>
              <a:buClr>
                <a:srgbClr val="C00000"/>
              </a:buClr>
              <a:buSzPts val="3600"/>
              <a:buFont typeface="Helvetica Neue"/>
              <a:buChar char="•"/>
            </a:pPr>
            <a:r>
              <a:rPr lang="en-US" sz="2400">
                <a:solidFill>
                  <a:schemeClr val="dk1"/>
                </a:solidFill>
                <a:latin typeface="Helvetica Neue"/>
                <a:ea typeface="Helvetica Neue"/>
                <a:cs typeface="Helvetica Neue"/>
                <a:sym typeface="Helvetica Neue"/>
              </a:rPr>
              <a:t>Introduction</a:t>
            </a:r>
            <a:endParaRPr sz="2400">
              <a:solidFill>
                <a:schemeClr val="dk1"/>
              </a:solidFill>
              <a:latin typeface="Helvetica Neue"/>
              <a:ea typeface="Helvetica Neue"/>
              <a:cs typeface="Helvetica Neue"/>
              <a:sym typeface="Helvetica Neue"/>
            </a:endParaRPr>
          </a:p>
          <a:p>
            <a:pPr indent="-457200" lvl="0" marL="469900" marR="0" rtl="0" algn="l">
              <a:lnSpc>
                <a:spcPct val="100000"/>
              </a:lnSpc>
              <a:spcBef>
                <a:spcPts val="1800"/>
              </a:spcBef>
              <a:spcAft>
                <a:spcPts val="0"/>
              </a:spcAft>
              <a:buClr>
                <a:srgbClr val="C00000"/>
              </a:buClr>
              <a:buSzPts val="3600"/>
              <a:buFont typeface="Helvetica Neue"/>
              <a:buChar char="•"/>
            </a:pPr>
            <a:r>
              <a:rPr lang="en-US" sz="2400">
                <a:solidFill>
                  <a:schemeClr val="dk1"/>
                </a:solidFill>
                <a:latin typeface="Helvetica Neue"/>
                <a:ea typeface="Helvetica Neue"/>
                <a:cs typeface="Helvetica Neue"/>
                <a:sym typeface="Helvetica Neue"/>
              </a:rPr>
              <a:t>Moyens cryptographiques et services offerts</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chiffrement Symétrique, Asymétrique et Hybride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hachage cryptographique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La signature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certificat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Infrastructure de Gestion des Clés</a:t>
            </a:r>
            <a:endParaRPr/>
          </a:p>
        </p:txBody>
      </p:sp>
      <p:sp>
        <p:nvSpPr>
          <p:cNvPr id="414" name="Google Shape;414;p37"/>
          <p:cNvSpPr/>
          <p:nvPr/>
        </p:nvSpPr>
        <p:spPr>
          <a:xfrm>
            <a:off x="421574" y="4572000"/>
            <a:ext cx="7467600" cy="533400"/>
          </a:xfrm>
          <a:prstGeom prst="rect">
            <a:avLst/>
          </a:prstGeom>
          <a:solidFill>
            <a:srgbClr val="FF7C80">
              <a:alpha val="5725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8"/>
          <p:cNvSpPr txBox="1"/>
          <p:nvPr>
            <p:ph type="title"/>
          </p:nvPr>
        </p:nvSpPr>
        <p:spPr>
          <a:xfrm>
            <a:off x="228600" y="411778"/>
            <a:ext cx="67817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 certificat numérique</a:t>
            </a:r>
            <a:endParaRPr/>
          </a:p>
        </p:txBody>
      </p:sp>
      <p:sp>
        <p:nvSpPr>
          <p:cNvPr id="420" name="Google Shape;420;p38"/>
          <p:cNvSpPr txBox="1"/>
          <p:nvPr>
            <p:ph idx="12" type="sldNum"/>
          </p:nvPr>
        </p:nvSpPr>
        <p:spPr>
          <a:xfrm>
            <a:off x="8686802"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421" name="Google Shape;421;p38"/>
          <p:cNvSpPr txBox="1"/>
          <p:nvPr/>
        </p:nvSpPr>
        <p:spPr>
          <a:xfrm>
            <a:off x="533400" y="1295400"/>
            <a:ext cx="8075270" cy="689932"/>
          </a:xfrm>
          <a:prstGeom prst="rect">
            <a:avLst/>
          </a:prstGeom>
          <a:noFill/>
          <a:ln>
            <a:noFill/>
          </a:ln>
        </p:spPr>
        <p:txBody>
          <a:bodyPr anchorCtr="0" anchor="t" bIns="0" lIns="0" spcFirstLastPara="1" rIns="0" wrap="square" tIns="12700">
            <a:spAutoFit/>
          </a:bodyPr>
          <a:lstStyle/>
          <a:p>
            <a:pPr indent="-457200" lvl="0" marL="469900" marR="0" rtl="0" algn="l">
              <a:lnSpc>
                <a:spcPct val="100000"/>
              </a:lnSpc>
              <a:spcBef>
                <a:spcPts val="0"/>
              </a:spcBef>
              <a:spcAft>
                <a:spcPts val="0"/>
              </a:spcAft>
              <a:buClr>
                <a:srgbClr val="C00000"/>
              </a:buClr>
              <a:buSzPts val="3000"/>
              <a:buFont typeface="Calibri"/>
              <a:buChar char="•"/>
            </a:pPr>
            <a:r>
              <a:rPr lang="en-US" sz="2400">
                <a:solidFill>
                  <a:schemeClr val="dk1"/>
                </a:solidFill>
                <a:latin typeface="Calibri"/>
                <a:ea typeface="Calibri"/>
                <a:cs typeface="Calibri"/>
                <a:sym typeface="Calibri"/>
              </a:rPr>
              <a:t>Pourquoi a-t-on besoin d’une certification?</a:t>
            </a:r>
            <a:endParaRPr sz="2400">
              <a:solidFill>
                <a:schemeClr val="dk1"/>
              </a:solidFill>
              <a:latin typeface="Calibri"/>
              <a:ea typeface="Calibri"/>
              <a:cs typeface="Calibri"/>
              <a:sym typeface="Calibri"/>
            </a:endParaRPr>
          </a:p>
          <a:p>
            <a:pPr indent="-287019" lvl="1" marL="756285" marR="0" rtl="0" algn="l">
              <a:lnSpc>
                <a:spcPct val="100000"/>
              </a:lnSpc>
              <a:spcBef>
                <a:spcPts val="5"/>
              </a:spcBef>
              <a:spcAft>
                <a:spcPts val="0"/>
              </a:spcAft>
              <a:buClr>
                <a:srgbClr val="D20000"/>
              </a:buClr>
              <a:buSzPts val="1800"/>
              <a:buFont typeface="Calibri"/>
              <a:buChar char="▪"/>
            </a:pPr>
            <a:r>
              <a:rPr b="0" i="0" lang="en-US" sz="2000" u="none" cap="none" strike="noStrike">
                <a:solidFill>
                  <a:schemeClr val="dk1"/>
                </a:solidFill>
                <a:latin typeface="Calibri"/>
                <a:ea typeface="Calibri"/>
                <a:cs typeface="Calibri"/>
                <a:sym typeface="Calibri"/>
              </a:rPr>
              <a:t>Prenons toujours l’exemple d’une attaque Man In The Middle</a:t>
            </a:r>
            <a:endParaRPr b="0" i="0" sz="2000" u="none" cap="none" strike="noStrike">
              <a:solidFill>
                <a:schemeClr val="dk1"/>
              </a:solidFill>
              <a:latin typeface="Calibri"/>
              <a:ea typeface="Calibri"/>
              <a:cs typeface="Calibri"/>
              <a:sym typeface="Calibri"/>
            </a:endParaRPr>
          </a:p>
        </p:txBody>
      </p:sp>
      <p:sp>
        <p:nvSpPr>
          <p:cNvPr id="422" name="Google Shape;422;p38"/>
          <p:cNvSpPr txBox="1"/>
          <p:nvPr/>
        </p:nvSpPr>
        <p:spPr>
          <a:xfrm>
            <a:off x="535334" y="4860800"/>
            <a:ext cx="8409305" cy="1649169"/>
          </a:xfrm>
          <a:prstGeom prst="rect">
            <a:avLst/>
          </a:prstGeom>
          <a:noFill/>
          <a:ln>
            <a:noFill/>
          </a:ln>
        </p:spPr>
        <p:txBody>
          <a:bodyPr anchorCtr="0" anchor="t" bIns="0" lIns="0" spcFirstLastPara="1" rIns="0" wrap="square" tIns="25400">
            <a:spAutoFit/>
          </a:bodyPr>
          <a:lstStyle/>
          <a:p>
            <a:pPr indent="-457200" lvl="0" marL="469900" marR="5080" rtl="0" algn="l">
              <a:lnSpc>
                <a:spcPct val="119583"/>
              </a:lnSpc>
              <a:spcBef>
                <a:spcPts val="0"/>
              </a:spcBef>
              <a:spcAft>
                <a:spcPts val="0"/>
              </a:spcAft>
              <a:buClr>
                <a:srgbClr val="C00000"/>
              </a:buClr>
              <a:buSzPts val="3000"/>
              <a:buFont typeface="Calibri"/>
              <a:buChar char="•"/>
            </a:pPr>
            <a:r>
              <a:rPr lang="en-US" sz="2400">
                <a:solidFill>
                  <a:schemeClr val="dk1"/>
                </a:solidFill>
                <a:latin typeface="Calibri"/>
                <a:ea typeface="Calibri"/>
                <a:cs typeface="Calibri"/>
                <a:sym typeface="Calibri"/>
              </a:rPr>
              <a:t>Garantir que la clé publique d’Alice est bien la clé publique  d’Alice  Garantir </a:t>
            </a:r>
            <a:r>
              <a:rPr b="1" lang="en-US" sz="2400">
                <a:solidFill>
                  <a:schemeClr val="dk1"/>
                </a:solidFill>
                <a:latin typeface="Calibri"/>
                <a:ea typeface="Calibri"/>
                <a:cs typeface="Calibri"/>
                <a:sym typeface="Calibri"/>
              </a:rPr>
              <a:t>l’authentification</a:t>
            </a:r>
            <a:endParaRPr sz="2400">
              <a:solidFill>
                <a:schemeClr val="dk1"/>
              </a:solidFill>
              <a:latin typeface="Calibri"/>
              <a:ea typeface="Calibri"/>
              <a:cs typeface="Calibri"/>
              <a:sym typeface="Calibri"/>
            </a:endParaRPr>
          </a:p>
          <a:p>
            <a:pPr indent="-457200" lvl="0" marL="469900" marR="0" rtl="0" algn="l">
              <a:lnSpc>
                <a:spcPct val="100000"/>
              </a:lnSpc>
              <a:spcBef>
                <a:spcPts val="1120"/>
              </a:spcBef>
              <a:spcAft>
                <a:spcPts val="0"/>
              </a:spcAft>
              <a:buClr>
                <a:srgbClr val="C00000"/>
              </a:buClr>
              <a:buSzPts val="3000"/>
              <a:buFont typeface="Calibri"/>
              <a:buChar char="•"/>
            </a:pPr>
            <a:r>
              <a:rPr lang="en-US" sz="2400">
                <a:solidFill>
                  <a:schemeClr val="dk1"/>
                </a:solidFill>
                <a:latin typeface="Calibri"/>
                <a:ea typeface="Calibri"/>
                <a:cs typeface="Calibri"/>
                <a:sym typeface="Calibri"/>
              </a:rPr>
              <a:t>Annuaire	de	clés	publiques	garanti	par	une	autorité	qui</a:t>
            </a:r>
            <a:endParaRPr sz="2400">
              <a:solidFill>
                <a:schemeClr val="dk1"/>
              </a:solidFill>
              <a:latin typeface="Calibri"/>
              <a:ea typeface="Calibri"/>
              <a:cs typeface="Calibri"/>
              <a:sym typeface="Calibri"/>
            </a:endParaRPr>
          </a:p>
          <a:p>
            <a:pPr indent="0" lvl="0" marL="469900" marR="0" rtl="0" algn="l">
              <a:lnSpc>
                <a:spcPct val="100000"/>
              </a:lnSpc>
              <a:spcBef>
                <a:spcPts val="0"/>
              </a:spcBef>
              <a:spcAft>
                <a:spcPts val="0"/>
              </a:spcAft>
              <a:buNone/>
            </a:pPr>
            <a:r>
              <a:rPr lang="en-US" sz="2400">
                <a:solidFill>
                  <a:schemeClr val="dk1"/>
                </a:solidFill>
                <a:latin typeface="Calibri"/>
                <a:ea typeface="Calibri"/>
                <a:cs typeface="Calibri"/>
                <a:sym typeface="Calibri"/>
              </a:rPr>
              <a:t>signe l’identité d’Alice et la clé publique d’Alice.</a:t>
            </a:r>
            <a:endParaRPr sz="2400">
              <a:solidFill>
                <a:schemeClr val="dk1"/>
              </a:solidFill>
              <a:latin typeface="Calibri"/>
              <a:ea typeface="Calibri"/>
              <a:cs typeface="Calibri"/>
              <a:sym typeface="Calibri"/>
            </a:endParaRPr>
          </a:p>
        </p:txBody>
      </p:sp>
      <p:pic>
        <p:nvPicPr>
          <p:cNvPr id="423" name="Google Shape;423;p38"/>
          <p:cNvPicPr preferRelativeResize="0"/>
          <p:nvPr/>
        </p:nvPicPr>
        <p:blipFill rotWithShape="1">
          <a:blip r:embed="rId3">
            <a:alphaModFix/>
          </a:blip>
          <a:srcRect b="0" l="0" r="0" t="0"/>
          <a:stretch/>
        </p:blipFill>
        <p:spPr>
          <a:xfrm>
            <a:off x="1785873" y="2030857"/>
            <a:ext cx="5749378" cy="271922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9"/>
          <p:cNvSpPr txBox="1"/>
          <p:nvPr/>
        </p:nvSpPr>
        <p:spPr>
          <a:xfrm>
            <a:off x="415848" y="1280251"/>
            <a:ext cx="8620760" cy="5044330"/>
          </a:xfrm>
          <a:prstGeom prst="rect">
            <a:avLst/>
          </a:prstGeom>
          <a:noFill/>
          <a:ln>
            <a:noFill/>
          </a:ln>
        </p:spPr>
        <p:txBody>
          <a:bodyPr anchorCtr="0" anchor="t" bIns="0" lIns="0" spcFirstLastPara="1" rIns="0" wrap="square" tIns="57775">
            <a:spAutoFit/>
          </a:bodyPr>
          <a:lstStyle/>
          <a:p>
            <a:pPr indent="-457833" lvl="1" marL="469900" marR="5080" rtl="0" algn="just">
              <a:spcBef>
                <a:spcPts val="0"/>
              </a:spcBef>
              <a:spcAft>
                <a:spcPts val="0"/>
              </a:spcAft>
              <a:buClr>
                <a:srgbClr val="C00000"/>
              </a:buClr>
              <a:buSzPts val="3344"/>
              <a:buFont typeface="Calibri"/>
              <a:buChar char="•"/>
            </a:pPr>
            <a:r>
              <a:rPr b="0" i="0" lang="en-US" sz="2200" u="none" cap="none" strike="noStrike">
                <a:solidFill>
                  <a:schemeClr val="dk1"/>
                </a:solidFill>
                <a:latin typeface="Calibri"/>
                <a:ea typeface="Calibri"/>
                <a:cs typeface="Calibri"/>
                <a:sym typeface="Calibri"/>
              </a:rPr>
              <a:t>Un document	 crypté et signé contenant des informations  sur 	l'identification d'un serveur ou d'un utilisateur.</a:t>
            </a:r>
            <a:endParaRPr/>
          </a:p>
          <a:p>
            <a:pPr indent="-457833" lvl="1" marL="469900" marR="5080" rtl="0" algn="just">
              <a:spcBef>
                <a:spcPts val="1800"/>
              </a:spcBef>
              <a:spcAft>
                <a:spcPts val="0"/>
              </a:spcAft>
              <a:buClr>
                <a:srgbClr val="C00000"/>
              </a:buClr>
              <a:buSzPts val="3344"/>
              <a:buFont typeface="Calibri"/>
              <a:buChar char="•"/>
            </a:pPr>
            <a:r>
              <a:rPr b="0" i="0" lang="en-US" sz="2200" u="none" cap="none" strike="noStrike">
                <a:solidFill>
                  <a:schemeClr val="dk1"/>
                </a:solidFill>
                <a:latin typeface="Calibri"/>
                <a:ea typeface="Calibri"/>
                <a:cs typeface="Calibri"/>
                <a:sym typeface="Calibri"/>
              </a:rPr>
              <a:t>L'autorité de certification fait foi de tiers de confiance et atteste le lien entre une entité physique et une entité numérique.</a:t>
            </a:r>
            <a:endParaRPr/>
          </a:p>
          <a:p>
            <a:pPr indent="-457833" lvl="0" marL="469900" marR="5080" rtl="0" algn="just">
              <a:spcBef>
                <a:spcPts val="1800"/>
              </a:spcBef>
              <a:spcAft>
                <a:spcPts val="0"/>
              </a:spcAft>
              <a:buClr>
                <a:srgbClr val="C00000"/>
              </a:buClr>
              <a:buSzPts val="3344"/>
              <a:buFont typeface="Calibri"/>
              <a:buChar char="•"/>
            </a:pPr>
            <a:r>
              <a:rPr lang="en-US" sz="2200">
                <a:solidFill>
                  <a:schemeClr val="dk1"/>
                </a:solidFill>
                <a:latin typeface="Calibri"/>
                <a:ea typeface="Calibri"/>
                <a:cs typeface="Calibri"/>
                <a:sym typeface="Calibri"/>
              </a:rPr>
              <a:t>Permet	de		lier	une clé	publique	à	différents	éléments	au  moyen de la signature d’une autorité de confiance.</a:t>
            </a:r>
            <a:endParaRPr/>
          </a:p>
          <a:p>
            <a:pPr indent="-457833" lvl="1" marL="469900" marR="5080" rtl="0" algn="just">
              <a:lnSpc>
                <a:spcPct val="100000"/>
              </a:lnSpc>
              <a:spcBef>
                <a:spcPts val="1800"/>
              </a:spcBef>
              <a:spcAft>
                <a:spcPts val="0"/>
              </a:spcAft>
              <a:buClr>
                <a:srgbClr val="C00000"/>
              </a:buClr>
              <a:buSzPts val="3344"/>
              <a:buFont typeface="Calibri"/>
              <a:buChar char="•"/>
            </a:pPr>
            <a:r>
              <a:rPr b="0" i="0" lang="en-US" sz="2200" u="none" cap="none" strike="noStrike">
                <a:solidFill>
                  <a:schemeClr val="dk1"/>
                </a:solidFill>
                <a:latin typeface="Calibri"/>
                <a:ea typeface="Calibri"/>
                <a:cs typeface="Calibri"/>
                <a:sym typeface="Calibri"/>
              </a:rPr>
              <a:t>L’autorité de confiance ou de certification (Certification Autority)</a:t>
            </a:r>
            <a:endParaRPr b="0" i="0" sz="2200" u="none" cap="none" strike="noStrike">
              <a:solidFill>
                <a:schemeClr val="dk1"/>
              </a:solidFill>
              <a:latin typeface="Calibri"/>
              <a:ea typeface="Calibri"/>
              <a:cs typeface="Calibri"/>
              <a:sym typeface="Calibri"/>
            </a:endParaRPr>
          </a:p>
          <a:p>
            <a:pPr indent="-285750" lvl="1" marL="755015" marR="0" rtl="0" algn="l">
              <a:spcBef>
                <a:spcPts val="1800"/>
              </a:spcBef>
              <a:spcAft>
                <a:spcPts val="0"/>
              </a:spcAft>
              <a:buClr>
                <a:srgbClr val="D20000"/>
              </a:buClr>
              <a:buSzPts val="2000"/>
              <a:buFont typeface="Calibri"/>
              <a:buChar char="▪"/>
            </a:pPr>
            <a:r>
              <a:rPr b="0" i="0" lang="en-US" sz="2000" u="none" cap="none" strike="noStrike">
                <a:solidFill>
                  <a:schemeClr val="dk1"/>
                </a:solidFill>
                <a:latin typeface="Calibri"/>
                <a:ea typeface="Calibri"/>
                <a:cs typeface="Calibri"/>
                <a:sym typeface="Calibri"/>
              </a:rPr>
              <a:t>C’est une organisation qui délivre des certificats à  une population</a:t>
            </a:r>
            <a:endParaRPr/>
          </a:p>
          <a:p>
            <a:pPr indent="-285750" lvl="1" marL="755015" marR="0" rtl="0" algn="l">
              <a:lnSpc>
                <a:spcPct val="100000"/>
              </a:lnSpc>
              <a:spcBef>
                <a:spcPts val="1800"/>
              </a:spcBef>
              <a:spcAft>
                <a:spcPts val="0"/>
              </a:spcAft>
              <a:buClr>
                <a:srgbClr val="D20000"/>
              </a:buClr>
              <a:buSzPts val="2000"/>
              <a:buFont typeface="Calibri"/>
              <a:buChar char="▪"/>
            </a:pPr>
            <a:r>
              <a:rPr b="0" i="0" lang="en-US" sz="2000" u="none" cap="none" strike="noStrike">
                <a:solidFill>
                  <a:schemeClr val="dk1"/>
                </a:solidFill>
                <a:latin typeface="Calibri"/>
                <a:ea typeface="Calibri"/>
                <a:cs typeface="Calibri"/>
                <a:sym typeface="Calibri"/>
              </a:rPr>
              <a:t>Elle garantit l’exactitude des données</a:t>
            </a:r>
            <a:endParaRPr/>
          </a:p>
          <a:p>
            <a:pPr indent="-179388" lvl="1" marL="360363" marR="0" rtl="0" algn="l">
              <a:lnSpc>
                <a:spcPct val="100000"/>
              </a:lnSpc>
              <a:spcBef>
                <a:spcPts val="1800"/>
              </a:spcBef>
              <a:spcAft>
                <a:spcPts val="0"/>
              </a:spcAft>
              <a:buNone/>
            </a:pPr>
            <a:r>
              <a:rPr b="1" i="0" lang="en-US" sz="2000" u="none" cap="none" strike="noStrike">
                <a:solidFill>
                  <a:srgbClr val="C00000"/>
                </a:solidFill>
                <a:latin typeface="Calibri"/>
                <a:ea typeface="Calibri"/>
                <a:cs typeface="Calibri"/>
                <a:sym typeface="Calibri"/>
              </a:rPr>
              <a:t>🡪</a:t>
            </a:r>
            <a:r>
              <a:rPr b="0" i="0" lang="en-US" sz="2000" u="none" cap="none" strike="noStrike">
                <a:solidFill>
                  <a:schemeClr val="dk1"/>
                </a:solidFill>
                <a:latin typeface="Calibri"/>
                <a:ea typeface="Calibri"/>
                <a:cs typeface="Calibri"/>
                <a:sym typeface="Calibri"/>
              </a:rPr>
              <a:t> Les certificats sont vérifiables au moyen de la clé publique de CA qui est la seule clé  à stocker de façon sûre.</a:t>
            </a:r>
            <a:endParaRPr/>
          </a:p>
        </p:txBody>
      </p:sp>
      <p:sp>
        <p:nvSpPr>
          <p:cNvPr id="429" name="Google Shape;429;p39"/>
          <p:cNvSpPr txBox="1"/>
          <p:nvPr>
            <p:ph type="title"/>
          </p:nvPr>
        </p:nvSpPr>
        <p:spPr>
          <a:xfrm>
            <a:off x="381000" y="411778"/>
            <a:ext cx="67817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 certificat numérique</a:t>
            </a:r>
            <a:endParaRPr/>
          </a:p>
        </p:txBody>
      </p:sp>
      <p:sp>
        <p:nvSpPr>
          <p:cNvPr id="430" name="Google Shape;430;p39"/>
          <p:cNvSpPr txBox="1"/>
          <p:nvPr>
            <p:ph idx="12" type="sldNum"/>
          </p:nvPr>
        </p:nvSpPr>
        <p:spPr>
          <a:xfrm>
            <a:off x="87534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0"/>
          <p:cNvSpPr txBox="1"/>
          <p:nvPr/>
        </p:nvSpPr>
        <p:spPr>
          <a:xfrm>
            <a:off x="635613" y="5303927"/>
            <a:ext cx="2027555" cy="382156"/>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1" lang="en-US" sz="2400">
                <a:solidFill>
                  <a:schemeClr val="dk1"/>
                </a:solidFill>
                <a:latin typeface="Trebuchet MS"/>
                <a:ea typeface="Trebuchet MS"/>
                <a:cs typeface="Trebuchet MS"/>
                <a:sym typeface="Trebuchet MS"/>
              </a:rPr>
              <a:t>de certificats.</a:t>
            </a:r>
            <a:endParaRPr sz="2400">
              <a:solidFill>
                <a:schemeClr val="dk1"/>
              </a:solidFill>
              <a:latin typeface="Trebuchet MS"/>
              <a:ea typeface="Trebuchet MS"/>
              <a:cs typeface="Trebuchet MS"/>
              <a:sym typeface="Trebuchet MS"/>
            </a:endParaRPr>
          </a:p>
        </p:txBody>
      </p:sp>
      <p:sp>
        <p:nvSpPr>
          <p:cNvPr id="436" name="Google Shape;436;p40"/>
          <p:cNvSpPr txBox="1"/>
          <p:nvPr/>
        </p:nvSpPr>
        <p:spPr>
          <a:xfrm>
            <a:off x="178409" y="1340613"/>
            <a:ext cx="4798060" cy="5226815"/>
          </a:xfrm>
          <a:prstGeom prst="rect">
            <a:avLst/>
          </a:prstGeom>
          <a:noFill/>
          <a:ln>
            <a:noFill/>
          </a:ln>
        </p:spPr>
        <p:txBody>
          <a:bodyPr anchorCtr="0" anchor="t" bIns="0" lIns="0" spcFirstLastPara="1" rIns="0" wrap="square" tIns="12700">
            <a:spAutoFit/>
          </a:bodyPr>
          <a:lstStyle/>
          <a:p>
            <a:pPr indent="-457200" lvl="0" marL="469900" marR="5080" rtl="0" algn="l">
              <a:lnSpc>
                <a:spcPct val="100000"/>
              </a:lnSpc>
              <a:spcBef>
                <a:spcPts val="0"/>
              </a:spcBef>
              <a:spcAft>
                <a:spcPts val="0"/>
              </a:spcAft>
              <a:buClr>
                <a:srgbClr val="C00000"/>
              </a:buClr>
              <a:buSzPts val="4800"/>
              <a:buFont typeface="Helvetica Neue"/>
              <a:buChar char="•"/>
            </a:pPr>
            <a:r>
              <a:rPr lang="en-US" sz="2400">
                <a:solidFill>
                  <a:schemeClr val="dk1"/>
                </a:solidFill>
                <a:latin typeface="Calibri"/>
                <a:ea typeface="Calibri"/>
                <a:cs typeface="Calibri"/>
                <a:sym typeface="Calibri"/>
              </a:rPr>
              <a:t>Un	certificat	émis	par	</a:t>
            </a:r>
            <a:r>
              <a:rPr b="1" lang="en-US" sz="2400">
                <a:solidFill>
                  <a:schemeClr val="dk1"/>
                </a:solidFill>
                <a:latin typeface="Trebuchet MS"/>
                <a:ea typeface="Trebuchet MS"/>
                <a:cs typeface="Trebuchet MS"/>
                <a:sym typeface="Trebuchet MS"/>
              </a:rPr>
              <a:t>Root	CA  est certifie par Root CA </a:t>
            </a:r>
            <a:r>
              <a:rPr lang="en-US" sz="2400">
                <a:solidFill>
                  <a:schemeClr val="dk1"/>
                </a:solidFill>
                <a:latin typeface="Calibri"/>
                <a:ea typeface="Calibri"/>
                <a:cs typeface="Calibri"/>
                <a:sym typeface="Calibri"/>
              </a:rPr>
              <a:t>(auto</a:t>
            </a:r>
            <a:endParaRPr sz="2400">
              <a:solidFill>
                <a:schemeClr val="dk1"/>
              </a:solidFill>
              <a:latin typeface="Calibri"/>
              <a:ea typeface="Calibri"/>
              <a:cs typeface="Calibri"/>
              <a:sym typeface="Calibri"/>
            </a:endParaRPr>
          </a:p>
          <a:p>
            <a:pPr indent="0" lvl="0" marL="469900" marR="0" rtl="0" algn="l">
              <a:lnSpc>
                <a:spcPct val="119166"/>
              </a:lnSpc>
              <a:spcBef>
                <a:spcPts val="0"/>
              </a:spcBef>
              <a:spcAft>
                <a:spcPts val="0"/>
              </a:spcAft>
              <a:buNone/>
            </a:pPr>
            <a:r>
              <a:rPr lang="en-US" sz="2400">
                <a:solidFill>
                  <a:schemeClr val="dk1"/>
                </a:solidFill>
                <a:latin typeface="Calibri"/>
                <a:ea typeface="Calibri"/>
                <a:cs typeface="Calibri"/>
                <a:sym typeface="Calibri"/>
              </a:rPr>
              <a:t>Signature).</a:t>
            </a:r>
            <a:endParaRPr sz="2400">
              <a:solidFill>
                <a:schemeClr val="dk1"/>
              </a:solidFill>
              <a:latin typeface="Calibri"/>
              <a:ea typeface="Calibri"/>
              <a:cs typeface="Calibri"/>
              <a:sym typeface="Calibri"/>
            </a:endParaRPr>
          </a:p>
          <a:p>
            <a:pPr indent="-457200" lvl="0" marL="469900" marR="82550" rtl="0" algn="l">
              <a:lnSpc>
                <a:spcPct val="121250"/>
              </a:lnSpc>
              <a:spcBef>
                <a:spcPts val="670"/>
              </a:spcBef>
              <a:spcAft>
                <a:spcPts val="0"/>
              </a:spcAft>
              <a:buClr>
                <a:srgbClr val="C00000"/>
              </a:buClr>
              <a:buSzPts val="4800"/>
              <a:buFont typeface="Helvetica Neue"/>
              <a:buChar char="•"/>
            </a:pPr>
            <a:r>
              <a:rPr lang="en-US" sz="2400">
                <a:solidFill>
                  <a:schemeClr val="dk1"/>
                </a:solidFill>
                <a:latin typeface="Calibri"/>
                <a:ea typeface="Calibri"/>
                <a:cs typeface="Calibri"/>
                <a:sym typeface="Calibri"/>
              </a:rPr>
              <a:t>Un certificat émis par USA CA	est  certifié par </a:t>
            </a:r>
            <a:r>
              <a:rPr b="1" lang="en-US" sz="2400">
                <a:solidFill>
                  <a:schemeClr val="dk1"/>
                </a:solidFill>
                <a:latin typeface="Trebuchet MS"/>
                <a:ea typeface="Trebuchet MS"/>
                <a:cs typeface="Trebuchet MS"/>
                <a:sym typeface="Trebuchet MS"/>
              </a:rPr>
              <a:t>Root CA</a:t>
            </a:r>
            <a:endParaRPr sz="2400">
              <a:solidFill>
                <a:schemeClr val="dk1"/>
              </a:solidFill>
              <a:latin typeface="Trebuchet MS"/>
              <a:ea typeface="Trebuchet MS"/>
              <a:cs typeface="Trebuchet MS"/>
              <a:sym typeface="Trebuchet MS"/>
            </a:endParaRPr>
          </a:p>
          <a:p>
            <a:pPr indent="-457200" lvl="0" marL="469900" marR="213995" rtl="0" algn="l">
              <a:lnSpc>
                <a:spcPct val="120833"/>
              </a:lnSpc>
              <a:spcBef>
                <a:spcPts val="550"/>
              </a:spcBef>
              <a:spcAft>
                <a:spcPts val="0"/>
              </a:spcAft>
              <a:buClr>
                <a:srgbClr val="C00000"/>
              </a:buClr>
              <a:buSzPts val="4800"/>
              <a:buFont typeface="Helvetica Neue"/>
              <a:buChar char="•"/>
            </a:pPr>
            <a:r>
              <a:rPr lang="en-US" sz="2400">
                <a:solidFill>
                  <a:schemeClr val="dk1"/>
                </a:solidFill>
                <a:latin typeface="Calibri"/>
                <a:ea typeface="Calibri"/>
                <a:cs typeface="Calibri"/>
                <a:sym typeface="Calibri"/>
              </a:rPr>
              <a:t>Un certificat émis par	Marketing  CA est certifié par	</a:t>
            </a:r>
            <a:r>
              <a:rPr b="1" lang="en-US" sz="2400">
                <a:solidFill>
                  <a:schemeClr val="dk1"/>
                </a:solidFill>
                <a:latin typeface="Trebuchet MS"/>
                <a:ea typeface="Trebuchet MS"/>
                <a:cs typeface="Trebuchet MS"/>
                <a:sym typeface="Trebuchet MS"/>
              </a:rPr>
              <a:t>USA CA</a:t>
            </a:r>
            <a:endParaRPr sz="2400">
              <a:solidFill>
                <a:schemeClr val="dk1"/>
              </a:solidFill>
              <a:latin typeface="Trebuchet MS"/>
              <a:ea typeface="Trebuchet MS"/>
              <a:cs typeface="Trebuchet MS"/>
              <a:sym typeface="Trebuchet MS"/>
            </a:endParaRPr>
          </a:p>
          <a:p>
            <a:pPr indent="-457200" lvl="0" marL="469900" marR="0" rtl="0" algn="l">
              <a:lnSpc>
                <a:spcPct val="100000"/>
              </a:lnSpc>
              <a:spcBef>
                <a:spcPts val="505"/>
              </a:spcBef>
              <a:spcAft>
                <a:spcPts val="0"/>
              </a:spcAft>
              <a:buClr>
                <a:srgbClr val="C00000"/>
              </a:buClr>
              <a:buSzPts val="4800"/>
              <a:buFont typeface="Helvetica Neue"/>
              <a:buChar char="•"/>
            </a:pPr>
            <a:r>
              <a:rPr b="1" lang="en-US" sz="2400">
                <a:solidFill>
                  <a:schemeClr val="dk1"/>
                </a:solidFill>
                <a:latin typeface="Trebuchet MS"/>
                <a:ea typeface="Trebuchet MS"/>
                <a:cs typeface="Trebuchet MS"/>
                <a:sym typeface="Trebuchet MS"/>
              </a:rPr>
              <a:t>Etc</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457200" lvl="0" marL="469900" marR="110489" rtl="0" algn="l">
              <a:lnSpc>
                <a:spcPct val="100800"/>
              </a:lnSpc>
              <a:spcBef>
                <a:spcPts val="555"/>
              </a:spcBef>
              <a:spcAft>
                <a:spcPts val="0"/>
              </a:spcAft>
              <a:buClr>
                <a:srgbClr val="C00000"/>
              </a:buClr>
              <a:buSzPts val="4800"/>
              <a:buFont typeface="Helvetica Neue"/>
              <a:buChar char="•"/>
            </a:pPr>
            <a:r>
              <a:rPr lang="en-US" sz="2400">
                <a:solidFill>
                  <a:schemeClr val="dk1"/>
                </a:solidFill>
                <a:latin typeface="Calibri"/>
                <a:ea typeface="Calibri"/>
                <a:cs typeface="Calibri"/>
                <a:sym typeface="Calibri"/>
              </a:rPr>
              <a:t>Ces	hiérarchies		sont  représentées	par	</a:t>
            </a:r>
            <a:r>
              <a:rPr b="1" lang="en-US" sz="2400">
                <a:solidFill>
                  <a:schemeClr val="dk1"/>
                </a:solidFill>
                <a:latin typeface="Trebuchet MS"/>
                <a:ea typeface="Trebuchet MS"/>
                <a:cs typeface="Trebuchet MS"/>
                <a:sym typeface="Trebuchet MS"/>
              </a:rPr>
              <a:t>des	chaînes</a:t>
            </a:r>
            <a:endParaRPr sz="2400">
              <a:solidFill>
                <a:schemeClr val="dk1"/>
              </a:solidFill>
              <a:latin typeface="Trebuchet MS"/>
              <a:ea typeface="Trebuchet MS"/>
              <a:cs typeface="Trebuchet MS"/>
              <a:sym typeface="Trebuchet MS"/>
            </a:endParaRPr>
          </a:p>
          <a:p>
            <a:pPr indent="0" lvl="0" marL="0" marR="0" rtl="0" algn="l">
              <a:lnSpc>
                <a:spcPct val="100000"/>
              </a:lnSpc>
              <a:spcBef>
                <a:spcPts val="35"/>
              </a:spcBef>
              <a:spcAft>
                <a:spcPts val="0"/>
              </a:spcAft>
              <a:buClr>
                <a:srgbClr val="C00000"/>
              </a:buClr>
              <a:buSzPts val="2950"/>
              <a:buFont typeface="Helvetica Neue"/>
              <a:buNone/>
            </a:pPr>
            <a:r>
              <a:t/>
            </a:r>
            <a:endParaRPr sz="2950">
              <a:solidFill>
                <a:schemeClr val="dk1"/>
              </a:solidFill>
              <a:latin typeface="Trebuchet MS"/>
              <a:ea typeface="Trebuchet MS"/>
              <a:cs typeface="Trebuchet MS"/>
              <a:sym typeface="Trebuchet MS"/>
            </a:endParaRPr>
          </a:p>
          <a:p>
            <a:pPr indent="-457200" lvl="0" marL="469900" marR="48895" rtl="0" algn="l">
              <a:lnSpc>
                <a:spcPct val="100000"/>
              </a:lnSpc>
              <a:spcBef>
                <a:spcPts val="0"/>
              </a:spcBef>
              <a:spcAft>
                <a:spcPts val="0"/>
              </a:spcAft>
              <a:buClr>
                <a:srgbClr val="C00000"/>
              </a:buClr>
              <a:buSzPts val="4800"/>
              <a:buFont typeface="Helvetica Neue"/>
              <a:buChar char="•"/>
            </a:pPr>
            <a:r>
              <a:rPr lang="en-US" sz="2400">
                <a:solidFill>
                  <a:schemeClr val="dk1"/>
                </a:solidFill>
                <a:latin typeface="Calibri"/>
                <a:ea typeface="Calibri"/>
                <a:cs typeface="Calibri"/>
                <a:sym typeface="Calibri"/>
              </a:rPr>
              <a:t>Chaque	niveau	en	dessous	est  certifié par le niveau supérieur.</a:t>
            </a:r>
            <a:endParaRPr sz="2400">
              <a:solidFill>
                <a:schemeClr val="dk1"/>
              </a:solidFill>
              <a:latin typeface="Calibri"/>
              <a:ea typeface="Calibri"/>
              <a:cs typeface="Calibri"/>
              <a:sym typeface="Calibri"/>
            </a:endParaRPr>
          </a:p>
        </p:txBody>
      </p:sp>
      <p:pic>
        <p:nvPicPr>
          <p:cNvPr id="437" name="Google Shape;437;p40"/>
          <p:cNvPicPr preferRelativeResize="0"/>
          <p:nvPr/>
        </p:nvPicPr>
        <p:blipFill rotWithShape="1">
          <a:blip r:embed="rId3">
            <a:alphaModFix/>
          </a:blip>
          <a:srcRect b="0" l="0" r="0" t="0"/>
          <a:stretch/>
        </p:blipFill>
        <p:spPr>
          <a:xfrm>
            <a:off x="5029201" y="1402626"/>
            <a:ext cx="3995358" cy="4378987"/>
          </a:xfrm>
          <a:prstGeom prst="rect">
            <a:avLst/>
          </a:prstGeom>
          <a:noFill/>
          <a:ln>
            <a:noFill/>
          </a:ln>
        </p:spPr>
      </p:pic>
      <p:sp>
        <p:nvSpPr>
          <p:cNvPr id="438" name="Google Shape;438;p40"/>
          <p:cNvSpPr txBox="1"/>
          <p:nvPr>
            <p:ph type="title"/>
          </p:nvPr>
        </p:nvSpPr>
        <p:spPr>
          <a:xfrm>
            <a:off x="457200" y="487978"/>
            <a:ext cx="67817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 certificat numérique</a:t>
            </a:r>
            <a:endParaRPr/>
          </a:p>
        </p:txBody>
      </p:sp>
      <p:sp>
        <p:nvSpPr>
          <p:cNvPr id="439" name="Google Shape;439;p40"/>
          <p:cNvSpPr txBox="1"/>
          <p:nvPr>
            <p:ph idx="12" type="sldNum"/>
          </p:nvPr>
        </p:nvSpPr>
        <p:spPr>
          <a:xfrm>
            <a:off x="86772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41"/>
          <p:cNvSpPr txBox="1"/>
          <p:nvPr/>
        </p:nvSpPr>
        <p:spPr>
          <a:xfrm>
            <a:off x="251256" y="1369567"/>
            <a:ext cx="8740344" cy="4767331"/>
          </a:xfrm>
          <a:prstGeom prst="rect">
            <a:avLst/>
          </a:prstGeom>
          <a:noFill/>
          <a:ln>
            <a:noFill/>
          </a:ln>
        </p:spPr>
        <p:txBody>
          <a:bodyPr anchorCtr="0" anchor="t" bIns="0" lIns="0" spcFirstLastPara="1" rIns="0" wrap="square" tIns="12050">
            <a:spAutoFit/>
          </a:bodyPr>
          <a:lstStyle/>
          <a:p>
            <a:pPr indent="-457833" lvl="0" marL="469900" marR="0" rtl="0" algn="just">
              <a:lnSpc>
                <a:spcPct val="150000"/>
              </a:lnSpc>
              <a:spcBef>
                <a:spcPts val="0"/>
              </a:spcBef>
              <a:spcAft>
                <a:spcPts val="0"/>
              </a:spcAft>
              <a:buClr>
                <a:srgbClr val="C00000"/>
              </a:buClr>
              <a:buSzPts val="3300"/>
              <a:buFont typeface="Helvetica Neue"/>
              <a:buChar char="•"/>
            </a:pPr>
            <a:r>
              <a:rPr lang="en-US" sz="2200">
                <a:solidFill>
                  <a:schemeClr val="dk1"/>
                </a:solidFill>
                <a:latin typeface="Helvetica Neue"/>
                <a:ea typeface="Helvetica Neue"/>
                <a:cs typeface="Helvetica Neue"/>
                <a:sym typeface="Helvetica Neue"/>
              </a:rPr>
              <a:t>Comporte généralement, et selon le format de sa norme (ex: x.509v3):</a:t>
            </a:r>
            <a:endParaRPr sz="2200">
              <a:solidFill>
                <a:schemeClr val="dk1"/>
              </a:solidFill>
              <a:latin typeface="Helvetica Neue"/>
              <a:ea typeface="Helvetica Neue"/>
              <a:cs typeface="Helvetica Neue"/>
              <a:sym typeface="Helvetica Neue"/>
            </a:endParaRPr>
          </a:p>
          <a:p>
            <a:pPr indent="-285750" lvl="1" marL="755015" marR="0" rtl="0" algn="just">
              <a:lnSpc>
                <a:spcPct val="150000"/>
              </a:lnSpc>
              <a:spcBef>
                <a:spcPts val="10"/>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un numéro d’identification du certificat : N° de série</a:t>
            </a:r>
            <a:endParaRPr/>
          </a:p>
          <a:p>
            <a:pPr indent="-285750" lvl="1" marL="755015" marR="0" rtl="0" algn="just">
              <a:lnSpc>
                <a:spcPct val="150000"/>
              </a:lnSpc>
              <a:spcBef>
                <a:spcPts val="0"/>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nom du détenteur de la clé publique: Distinguished Name</a:t>
            </a:r>
            <a:endParaRPr/>
          </a:p>
          <a:p>
            <a:pPr indent="-285750" lvl="1" marL="755015" marR="0" rtl="0" algn="just">
              <a:lnSpc>
                <a:spcPct val="150000"/>
              </a:lnSpc>
              <a:spcBef>
                <a:spcPts val="0"/>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une clé publique de chiffrement</a:t>
            </a:r>
            <a:endParaRPr b="0" i="0" sz="2000" u="none" cap="none" strike="noStrike">
              <a:solidFill>
                <a:schemeClr val="dk1"/>
              </a:solidFill>
              <a:latin typeface="Helvetica Neue"/>
              <a:ea typeface="Helvetica Neue"/>
              <a:cs typeface="Helvetica Neue"/>
              <a:sym typeface="Helvetica Neue"/>
            </a:endParaRPr>
          </a:p>
          <a:p>
            <a:pPr indent="-285750" lvl="1" marL="755015" marR="0" rtl="0" algn="just">
              <a:lnSpc>
                <a:spcPct val="150000"/>
              </a:lnSpc>
              <a:spcBef>
                <a:spcPts val="0"/>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un délai de validité (entre six mois et un an)</a:t>
            </a:r>
            <a:endParaRPr b="0" i="0" sz="2000" u="none" cap="none" strike="noStrike">
              <a:solidFill>
                <a:schemeClr val="dk1"/>
              </a:solidFill>
              <a:latin typeface="Helvetica Neue"/>
              <a:ea typeface="Helvetica Neue"/>
              <a:cs typeface="Helvetica Neue"/>
              <a:sym typeface="Helvetica Neue"/>
            </a:endParaRPr>
          </a:p>
          <a:p>
            <a:pPr indent="-285750" lvl="1" marL="755015" marR="0" rtl="0" algn="just">
              <a:lnSpc>
                <a:spcPct val="150000"/>
              </a:lnSpc>
              <a:spcBef>
                <a:spcPts val="0"/>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une catégorie</a:t>
            </a:r>
            <a:endParaRPr/>
          </a:p>
          <a:p>
            <a:pPr indent="-285750" lvl="1" marL="755015" marR="0" rtl="0" algn="just">
              <a:lnSpc>
                <a:spcPct val="150000"/>
              </a:lnSpc>
              <a:spcBef>
                <a:spcPts val="0"/>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raison sociale de l’organisme de certification.</a:t>
            </a:r>
            <a:endParaRPr b="0" i="0" sz="2000" u="none" cap="none" strike="noStrike">
              <a:solidFill>
                <a:schemeClr val="dk1"/>
              </a:solidFill>
              <a:latin typeface="Helvetica Neue"/>
              <a:ea typeface="Helvetica Neue"/>
              <a:cs typeface="Helvetica Neue"/>
              <a:sym typeface="Helvetica Neue"/>
            </a:endParaRPr>
          </a:p>
          <a:p>
            <a:pPr indent="-457833" lvl="0" marL="469900" marR="0" rtl="0" algn="just">
              <a:lnSpc>
                <a:spcPct val="150000"/>
              </a:lnSpc>
              <a:spcBef>
                <a:spcPts val="5"/>
              </a:spcBef>
              <a:spcAft>
                <a:spcPts val="0"/>
              </a:spcAft>
              <a:buClr>
                <a:srgbClr val="C00000"/>
              </a:buClr>
              <a:buSzPts val="3300"/>
              <a:buFont typeface="Helvetica Neue"/>
              <a:buChar char="•"/>
            </a:pPr>
            <a:r>
              <a:rPr lang="en-US" sz="2200">
                <a:solidFill>
                  <a:schemeClr val="dk1"/>
                </a:solidFill>
                <a:latin typeface="Helvetica Neue"/>
                <a:ea typeface="Helvetica Neue"/>
                <a:cs typeface="Helvetica Neue"/>
                <a:sym typeface="Helvetica Neue"/>
              </a:rPr>
              <a:t>Liste de Revocation (Certificate Revocation Liste - CRL)</a:t>
            </a:r>
            <a:endParaRPr sz="2200">
              <a:solidFill>
                <a:schemeClr val="dk1"/>
              </a:solidFill>
              <a:latin typeface="Helvetica Neue"/>
              <a:ea typeface="Helvetica Neue"/>
              <a:cs typeface="Helvetica Neue"/>
              <a:sym typeface="Helvetica Neue"/>
            </a:endParaRPr>
          </a:p>
          <a:p>
            <a:pPr indent="-285750" lvl="1" marL="755015" marR="0" rtl="0" algn="just">
              <a:lnSpc>
                <a:spcPct val="150000"/>
              </a:lnSpc>
              <a:spcBef>
                <a:spcPts val="5"/>
              </a:spcBef>
              <a:spcAft>
                <a:spcPts val="0"/>
              </a:spcAft>
              <a:buClr>
                <a:srgbClr val="D20000"/>
              </a:buClr>
              <a:buSzPts val="2000"/>
              <a:buFont typeface="Helvetica Neue"/>
              <a:buChar char="▪"/>
            </a:pPr>
            <a:r>
              <a:rPr b="0" i="0" lang="en-US" sz="2000" u="none" cap="none" strike="noStrike">
                <a:solidFill>
                  <a:schemeClr val="dk1"/>
                </a:solidFill>
                <a:latin typeface="Helvetica Neue"/>
                <a:ea typeface="Helvetica Neue"/>
                <a:cs typeface="Helvetica Neue"/>
                <a:sym typeface="Helvetica Neue"/>
              </a:rPr>
              <a:t>Permet de révoquer des certificats avant leur expiration normale</a:t>
            </a:r>
            <a:endParaRPr b="0" i="0" sz="2000" u="none" cap="none" strike="noStrike">
              <a:solidFill>
                <a:schemeClr val="dk1"/>
              </a:solidFill>
              <a:latin typeface="Helvetica Neue"/>
              <a:ea typeface="Helvetica Neue"/>
              <a:cs typeface="Helvetica Neue"/>
              <a:sym typeface="Helvetica Neue"/>
            </a:endParaRPr>
          </a:p>
        </p:txBody>
      </p:sp>
      <p:sp>
        <p:nvSpPr>
          <p:cNvPr id="446" name="Google Shape;446;p41"/>
          <p:cNvSpPr txBox="1"/>
          <p:nvPr>
            <p:ph type="title"/>
          </p:nvPr>
        </p:nvSpPr>
        <p:spPr>
          <a:xfrm>
            <a:off x="457201" y="411778"/>
            <a:ext cx="6781799"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 certificat numérique</a:t>
            </a:r>
            <a:endParaRPr/>
          </a:p>
        </p:txBody>
      </p:sp>
      <p:sp>
        <p:nvSpPr>
          <p:cNvPr id="447" name="Google Shape;447;p41"/>
          <p:cNvSpPr txBox="1"/>
          <p:nvPr>
            <p:ph idx="12" type="sldNum"/>
          </p:nvPr>
        </p:nvSpPr>
        <p:spPr>
          <a:xfrm>
            <a:off x="86772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id="452" name="Google Shape;452;p42"/>
          <p:cNvPicPr preferRelativeResize="0"/>
          <p:nvPr/>
        </p:nvPicPr>
        <p:blipFill rotWithShape="1">
          <a:blip r:embed="rId3">
            <a:alphaModFix/>
          </a:blip>
          <a:srcRect b="0" l="0" r="0" t="0"/>
          <a:stretch/>
        </p:blipFill>
        <p:spPr>
          <a:xfrm>
            <a:off x="636891" y="1523009"/>
            <a:ext cx="8003566" cy="4973320"/>
          </a:xfrm>
          <a:prstGeom prst="rect">
            <a:avLst/>
          </a:prstGeom>
          <a:noFill/>
          <a:ln>
            <a:noFill/>
          </a:ln>
        </p:spPr>
      </p:pic>
      <p:sp>
        <p:nvSpPr>
          <p:cNvPr id="453" name="Google Shape;453;p42"/>
          <p:cNvSpPr txBox="1"/>
          <p:nvPr>
            <p:ph type="title"/>
          </p:nvPr>
        </p:nvSpPr>
        <p:spPr>
          <a:xfrm>
            <a:off x="1676400" y="381000"/>
            <a:ext cx="45720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Certificat X.509</a:t>
            </a:r>
            <a:endParaRPr/>
          </a:p>
        </p:txBody>
      </p:sp>
      <p:sp>
        <p:nvSpPr>
          <p:cNvPr id="454" name="Google Shape;454;p42"/>
          <p:cNvSpPr txBox="1"/>
          <p:nvPr>
            <p:ph idx="12" type="sldNum"/>
          </p:nvPr>
        </p:nvSpPr>
        <p:spPr>
          <a:xfrm>
            <a:off x="87534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pic>
        <p:nvPicPr>
          <p:cNvPr id="459" name="Google Shape;459;p43"/>
          <p:cNvPicPr preferRelativeResize="0"/>
          <p:nvPr/>
        </p:nvPicPr>
        <p:blipFill rotWithShape="1">
          <a:blip r:embed="rId3">
            <a:alphaModFix/>
          </a:blip>
          <a:srcRect b="0" l="0" r="0" t="0"/>
          <a:stretch/>
        </p:blipFill>
        <p:spPr>
          <a:xfrm>
            <a:off x="457418" y="1371601"/>
            <a:ext cx="8408275" cy="5472968"/>
          </a:xfrm>
          <a:prstGeom prst="rect">
            <a:avLst/>
          </a:prstGeom>
          <a:noFill/>
          <a:ln>
            <a:noFill/>
          </a:ln>
        </p:spPr>
      </p:pic>
      <p:sp>
        <p:nvSpPr>
          <p:cNvPr id="460" name="Google Shape;460;p43"/>
          <p:cNvSpPr txBox="1"/>
          <p:nvPr>
            <p:ph type="title"/>
          </p:nvPr>
        </p:nvSpPr>
        <p:spPr>
          <a:xfrm>
            <a:off x="457204" y="439033"/>
            <a:ext cx="8209077" cy="505908"/>
          </a:xfrm>
          <a:prstGeom prst="rect">
            <a:avLst/>
          </a:prstGeom>
          <a:noFill/>
          <a:ln>
            <a:noFill/>
          </a:ln>
        </p:spPr>
        <p:txBody>
          <a:bodyPr anchorCtr="0" anchor="ctr" bIns="0" lIns="0" spcFirstLastPara="1" rIns="0" wrap="square" tIns="13325">
            <a:spAutoFit/>
          </a:bodyPr>
          <a:lstStyle/>
          <a:p>
            <a:pPr indent="0" lvl="0" marL="12700" rtl="0" algn="l">
              <a:lnSpc>
                <a:spcPct val="100000"/>
              </a:lnSpc>
              <a:spcBef>
                <a:spcPts val="0"/>
              </a:spcBef>
              <a:spcAft>
                <a:spcPts val="0"/>
              </a:spcAft>
              <a:buClr>
                <a:srgbClr val="C00000"/>
              </a:buClr>
              <a:buSzPts val="3200"/>
              <a:buFont typeface="Trebuchet MS"/>
              <a:buNone/>
            </a:pPr>
            <a:r>
              <a:rPr lang="en-US" sz="3200">
                <a:solidFill>
                  <a:srgbClr val="C00000"/>
                </a:solidFill>
              </a:rPr>
              <a:t>Emission et vérification des certificats</a:t>
            </a:r>
            <a:endParaRPr/>
          </a:p>
        </p:txBody>
      </p:sp>
      <p:sp>
        <p:nvSpPr>
          <p:cNvPr id="461" name="Google Shape;461;p43"/>
          <p:cNvSpPr txBox="1"/>
          <p:nvPr>
            <p:ph idx="12" type="sldNum"/>
          </p:nvPr>
        </p:nvSpPr>
        <p:spPr>
          <a:xfrm>
            <a:off x="87534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4"/>
          <p:cNvSpPr txBox="1"/>
          <p:nvPr>
            <p:ph type="title"/>
          </p:nvPr>
        </p:nvSpPr>
        <p:spPr>
          <a:xfrm>
            <a:off x="990600" y="564177"/>
            <a:ext cx="5554853" cy="628377"/>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rgbClr val="C00000"/>
              </a:buClr>
              <a:buSzPts val="4000"/>
              <a:buFont typeface="Calibri"/>
              <a:buNone/>
            </a:pPr>
            <a:r>
              <a:rPr b="1" lang="en-US" sz="4000">
                <a:solidFill>
                  <a:srgbClr val="C00000"/>
                </a:solidFill>
              </a:rPr>
              <a:t>Plan du chapitre</a:t>
            </a:r>
            <a:endParaRPr/>
          </a:p>
        </p:txBody>
      </p:sp>
      <p:sp>
        <p:nvSpPr>
          <p:cNvPr id="467" name="Google Shape;467;p44"/>
          <p:cNvSpPr txBox="1"/>
          <p:nvPr>
            <p:ph idx="12" type="sldNum"/>
          </p:nvPr>
        </p:nvSpPr>
        <p:spPr>
          <a:xfrm>
            <a:off x="6457950" y="6356353"/>
            <a:ext cx="2057400" cy="365125"/>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468" name="Google Shape;468;p44"/>
          <p:cNvSpPr txBox="1"/>
          <p:nvPr/>
        </p:nvSpPr>
        <p:spPr>
          <a:xfrm>
            <a:off x="402742" y="1544456"/>
            <a:ext cx="8512658" cy="4052391"/>
          </a:xfrm>
          <a:prstGeom prst="rect">
            <a:avLst/>
          </a:prstGeom>
          <a:noFill/>
          <a:ln>
            <a:noFill/>
          </a:ln>
        </p:spPr>
        <p:txBody>
          <a:bodyPr anchorCtr="0" anchor="t" bIns="0" lIns="0" spcFirstLastPara="1" rIns="0" wrap="square" tIns="81275">
            <a:spAutoFit/>
          </a:bodyPr>
          <a:lstStyle/>
          <a:p>
            <a:pPr indent="-457200" lvl="0" marL="469900" marR="0" rtl="0" algn="l">
              <a:lnSpc>
                <a:spcPct val="100000"/>
              </a:lnSpc>
              <a:spcBef>
                <a:spcPts val="0"/>
              </a:spcBef>
              <a:spcAft>
                <a:spcPts val="0"/>
              </a:spcAft>
              <a:buClr>
                <a:srgbClr val="C00000"/>
              </a:buClr>
              <a:buSzPts val="3600"/>
              <a:buFont typeface="Helvetica Neue"/>
              <a:buChar char="•"/>
            </a:pPr>
            <a:r>
              <a:rPr lang="en-US" sz="2400">
                <a:solidFill>
                  <a:schemeClr val="dk1"/>
                </a:solidFill>
                <a:latin typeface="Helvetica Neue"/>
                <a:ea typeface="Helvetica Neue"/>
                <a:cs typeface="Helvetica Neue"/>
                <a:sym typeface="Helvetica Neue"/>
              </a:rPr>
              <a:t>Introduction</a:t>
            </a:r>
            <a:endParaRPr sz="2400">
              <a:solidFill>
                <a:schemeClr val="dk1"/>
              </a:solidFill>
              <a:latin typeface="Helvetica Neue"/>
              <a:ea typeface="Helvetica Neue"/>
              <a:cs typeface="Helvetica Neue"/>
              <a:sym typeface="Helvetica Neue"/>
            </a:endParaRPr>
          </a:p>
          <a:p>
            <a:pPr indent="-457200" lvl="0" marL="469900" marR="0" rtl="0" algn="l">
              <a:lnSpc>
                <a:spcPct val="100000"/>
              </a:lnSpc>
              <a:spcBef>
                <a:spcPts val="1800"/>
              </a:spcBef>
              <a:spcAft>
                <a:spcPts val="0"/>
              </a:spcAft>
              <a:buClr>
                <a:srgbClr val="C00000"/>
              </a:buClr>
              <a:buSzPts val="3600"/>
              <a:buFont typeface="Helvetica Neue"/>
              <a:buChar char="•"/>
            </a:pPr>
            <a:r>
              <a:rPr lang="en-US" sz="2400">
                <a:solidFill>
                  <a:schemeClr val="dk1"/>
                </a:solidFill>
                <a:latin typeface="Helvetica Neue"/>
                <a:ea typeface="Helvetica Neue"/>
                <a:cs typeface="Helvetica Neue"/>
                <a:sym typeface="Helvetica Neue"/>
              </a:rPr>
              <a:t>Moyens cryptographiques et services offerts</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chiffrement Symétrique, Asymétrique et Hybride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hachage cryptographique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La signature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Le certificat numérique</a:t>
            </a:r>
            <a:endParaRPr/>
          </a:p>
          <a:p>
            <a:pPr indent="-457200" lvl="1" marL="469900" marR="0" rtl="0" algn="l">
              <a:spcBef>
                <a:spcPts val="1800"/>
              </a:spcBef>
              <a:spcAft>
                <a:spcPts val="0"/>
              </a:spcAft>
              <a:buClr>
                <a:srgbClr val="C00000"/>
              </a:buClr>
              <a:buSzPts val="3600"/>
              <a:buFont typeface="Courier New"/>
              <a:buChar char="•"/>
            </a:pPr>
            <a:r>
              <a:rPr b="0" i="0" lang="en-US" sz="2400" u="none" cap="none" strike="noStrike">
                <a:solidFill>
                  <a:schemeClr val="dk1"/>
                </a:solidFill>
                <a:latin typeface="Helvetica Neue"/>
                <a:ea typeface="Helvetica Neue"/>
                <a:cs typeface="Helvetica Neue"/>
                <a:sym typeface="Helvetica Neue"/>
              </a:rPr>
              <a:t>Infrastructure de Gestion des Clés</a:t>
            </a:r>
            <a:endParaRPr/>
          </a:p>
        </p:txBody>
      </p:sp>
      <p:sp>
        <p:nvSpPr>
          <p:cNvPr id="469" name="Google Shape;469;p44"/>
          <p:cNvSpPr/>
          <p:nvPr/>
        </p:nvSpPr>
        <p:spPr>
          <a:xfrm>
            <a:off x="385682" y="5066859"/>
            <a:ext cx="7467600" cy="533400"/>
          </a:xfrm>
          <a:prstGeom prst="rect">
            <a:avLst/>
          </a:prstGeom>
          <a:solidFill>
            <a:srgbClr val="FF7C80">
              <a:alpha val="57254"/>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5"/>
          <p:cNvSpPr txBox="1"/>
          <p:nvPr/>
        </p:nvSpPr>
        <p:spPr>
          <a:xfrm>
            <a:off x="379882" y="1253745"/>
            <a:ext cx="950594" cy="321242"/>
          </a:xfrm>
          <a:prstGeom prst="rect">
            <a:avLst/>
          </a:prstGeom>
          <a:noFill/>
          <a:ln>
            <a:noFill/>
          </a:ln>
        </p:spPr>
        <p:txBody>
          <a:bodyPr anchorCtr="0" anchor="t" bIns="0" lIns="0" spcFirstLastPara="1" rIns="0" wrap="square" tIns="13325">
            <a:spAutoFit/>
          </a:bodyPr>
          <a:lstStyle/>
          <a:p>
            <a:pPr indent="-457200" lvl="0" marL="469900" marR="0" rtl="0" algn="l">
              <a:lnSpc>
                <a:spcPct val="100000"/>
              </a:lnSpc>
              <a:spcBef>
                <a:spcPts val="0"/>
              </a:spcBef>
              <a:spcAft>
                <a:spcPts val="0"/>
              </a:spcAft>
              <a:buClr>
                <a:srgbClr val="C00000"/>
              </a:buClr>
              <a:buSzPts val="4100"/>
              <a:buFont typeface="Helvetica Neue"/>
              <a:buChar char="•"/>
            </a:pPr>
            <a:r>
              <a:rPr lang="en-US" sz="2000">
                <a:solidFill>
                  <a:schemeClr val="dk1"/>
                </a:solidFill>
                <a:latin typeface="Helvetica Neue"/>
                <a:ea typeface="Helvetica Neue"/>
                <a:cs typeface="Helvetica Neue"/>
                <a:sym typeface="Helvetica Neue"/>
              </a:rPr>
              <a:t>Une</a:t>
            </a:r>
            <a:endParaRPr/>
          </a:p>
        </p:txBody>
      </p:sp>
      <p:sp>
        <p:nvSpPr>
          <p:cNvPr id="475" name="Google Shape;475;p45"/>
          <p:cNvSpPr txBox="1"/>
          <p:nvPr/>
        </p:nvSpPr>
        <p:spPr>
          <a:xfrm>
            <a:off x="1524380" y="1253745"/>
            <a:ext cx="7303770" cy="321242"/>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IGC	(Public	Key	Infrastructure-PKI)	est	un	ensemble	de</a:t>
            </a:r>
            <a:endParaRPr/>
          </a:p>
        </p:txBody>
      </p:sp>
      <p:sp>
        <p:nvSpPr>
          <p:cNvPr id="476" name="Google Shape;476;p45"/>
          <p:cNvSpPr txBox="1"/>
          <p:nvPr/>
        </p:nvSpPr>
        <p:spPr>
          <a:xfrm>
            <a:off x="837086" y="1558545"/>
            <a:ext cx="7994015" cy="321242"/>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personnes,	matériels	et	logiciels,	régis	par	des	règles	et	des</a:t>
            </a:r>
            <a:endParaRPr sz="2000">
              <a:solidFill>
                <a:schemeClr val="dk1"/>
              </a:solidFill>
              <a:latin typeface="Helvetica Neue"/>
              <a:ea typeface="Helvetica Neue"/>
              <a:cs typeface="Helvetica Neue"/>
              <a:sym typeface="Helvetica Neue"/>
            </a:endParaRPr>
          </a:p>
        </p:txBody>
      </p:sp>
      <p:sp>
        <p:nvSpPr>
          <p:cNvPr id="477" name="Google Shape;477;p45"/>
          <p:cNvSpPr txBox="1"/>
          <p:nvPr/>
        </p:nvSpPr>
        <p:spPr>
          <a:xfrm>
            <a:off x="837086" y="2777999"/>
            <a:ext cx="7990205" cy="321242"/>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qui	aura	en	charge	l’ensemble	des	procédures	concernant	les</a:t>
            </a:r>
            <a:endParaRPr sz="2000">
              <a:solidFill>
                <a:schemeClr val="dk1"/>
              </a:solidFill>
              <a:latin typeface="Helvetica Neue"/>
              <a:ea typeface="Helvetica Neue"/>
              <a:cs typeface="Helvetica Neue"/>
              <a:sym typeface="Helvetica Neue"/>
            </a:endParaRPr>
          </a:p>
        </p:txBody>
      </p:sp>
      <p:sp>
        <p:nvSpPr>
          <p:cNvPr id="478" name="Google Shape;478;p45"/>
          <p:cNvSpPr txBox="1"/>
          <p:nvPr/>
        </p:nvSpPr>
        <p:spPr>
          <a:xfrm>
            <a:off x="341786" y="1863346"/>
            <a:ext cx="8526145" cy="1888337"/>
          </a:xfrm>
          <a:prstGeom prst="rect">
            <a:avLst/>
          </a:prstGeom>
          <a:noFill/>
          <a:ln>
            <a:noFill/>
          </a:ln>
        </p:spPr>
        <p:txBody>
          <a:bodyPr anchorCtr="0" anchor="t" bIns="0" lIns="0" spcFirstLastPara="1" rIns="0" wrap="square" tIns="13325">
            <a:spAutoFit/>
          </a:bodyPr>
          <a:lstStyle/>
          <a:p>
            <a:pPr indent="0" lvl="0" marL="508000" marR="0" rtl="0" algn="l">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procédures	permettant	de	créer,	gérer	et	distribuer	des	certificats x.509.</a:t>
            </a:r>
            <a:endParaRPr sz="2000">
              <a:solidFill>
                <a:schemeClr val="dk1"/>
              </a:solidFill>
              <a:latin typeface="Helvetica Neue"/>
              <a:ea typeface="Helvetica Neue"/>
              <a:cs typeface="Helvetica Neue"/>
              <a:sym typeface="Helvetica Neue"/>
            </a:endParaRPr>
          </a:p>
          <a:p>
            <a:pPr indent="0" lvl="0" marL="508000" marR="0" rtl="0" algn="l">
              <a:lnSpc>
                <a:spcPct val="100000"/>
              </a:lnSpc>
              <a:spcBef>
                <a:spcPts val="105"/>
              </a:spcBef>
              <a:spcAft>
                <a:spcPts val="0"/>
              </a:spcAft>
              <a:buNone/>
            </a:pPr>
            <a:r>
              <a:rPr lang="en-US" sz="2000">
                <a:solidFill>
                  <a:schemeClr val="dk1"/>
                </a:solidFill>
                <a:latin typeface="Helvetica Neue"/>
                <a:ea typeface="Helvetica Neue"/>
                <a:cs typeface="Helvetica Neue"/>
                <a:sym typeface="Helvetica Neue"/>
              </a:rPr>
              <a:t>C’est donc à la fois une entité administrative et une entité technique</a:t>
            </a:r>
            <a:endParaRPr sz="2000">
              <a:solidFill>
                <a:schemeClr val="dk1"/>
              </a:solidFill>
              <a:latin typeface="Helvetica Neue"/>
              <a:ea typeface="Helvetica Neue"/>
              <a:cs typeface="Helvetica Neue"/>
              <a:sym typeface="Helvetica Neue"/>
            </a:endParaRPr>
          </a:p>
          <a:p>
            <a:pPr indent="0" lvl="0" marL="0" marR="0" rtl="0" algn="l">
              <a:lnSpc>
                <a:spcPct val="100000"/>
              </a:lnSpc>
              <a:spcBef>
                <a:spcPts val="20"/>
              </a:spcBef>
              <a:spcAft>
                <a:spcPts val="0"/>
              </a:spcAft>
              <a:buNone/>
            </a:pPr>
            <a:r>
              <a:t/>
            </a:r>
            <a:endParaRPr sz="2100">
              <a:solidFill>
                <a:schemeClr val="dk1"/>
              </a:solidFill>
              <a:latin typeface="Helvetica Neue"/>
              <a:ea typeface="Helvetica Neue"/>
              <a:cs typeface="Helvetica Neue"/>
              <a:sym typeface="Helvetica Neue"/>
            </a:endParaRPr>
          </a:p>
          <a:p>
            <a:pPr indent="-457200" lvl="0" marL="508000" marR="0" rtl="0" algn="l">
              <a:lnSpc>
                <a:spcPct val="100000"/>
              </a:lnSpc>
              <a:spcBef>
                <a:spcPts val="5"/>
              </a:spcBef>
              <a:spcAft>
                <a:spcPts val="0"/>
              </a:spcAft>
              <a:buClr>
                <a:srgbClr val="C00000"/>
              </a:buClr>
              <a:buSzPts val="4100"/>
              <a:buFont typeface="Helvetica Neue"/>
              <a:buChar char="•"/>
            </a:pPr>
            <a:r>
              <a:rPr lang="en-US" sz="2000">
                <a:solidFill>
                  <a:schemeClr val="dk1"/>
                </a:solidFill>
                <a:latin typeface="Helvetica Neue"/>
                <a:ea typeface="Helvetica Neue"/>
                <a:cs typeface="Helvetica Neue"/>
                <a:sym typeface="Helvetica Neue"/>
              </a:rPr>
              <a:t>certificats dont elle a la responsabilité.</a:t>
            </a:r>
            <a:endParaRPr sz="2000">
              <a:solidFill>
                <a:schemeClr val="dk1"/>
              </a:solidFill>
              <a:latin typeface="Helvetica Neue"/>
              <a:ea typeface="Helvetica Neue"/>
              <a:cs typeface="Helvetica Neue"/>
              <a:sym typeface="Helvetica Neue"/>
            </a:endParaRPr>
          </a:p>
          <a:p>
            <a:pPr indent="0" lvl="0" marL="508000" marR="0" rtl="0" algn="l">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Plus précisément, une IGC assure les missions suivantes:</a:t>
            </a:r>
            <a:endParaRPr/>
          </a:p>
        </p:txBody>
      </p:sp>
      <p:sp>
        <p:nvSpPr>
          <p:cNvPr id="479" name="Google Shape;479;p45"/>
          <p:cNvSpPr txBox="1"/>
          <p:nvPr/>
        </p:nvSpPr>
        <p:spPr>
          <a:xfrm>
            <a:off x="837086" y="3752027"/>
            <a:ext cx="7978775" cy="2524024"/>
          </a:xfrm>
          <a:prstGeom prst="rect">
            <a:avLst/>
          </a:prstGeom>
          <a:noFill/>
          <a:ln>
            <a:noFill/>
          </a:ln>
        </p:spPr>
        <p:txBody>
          <a:bodyPr anchorCtr="0" anchor="t" bIns="0" lIns="0" spcFirstLastPara="1" rIns="0" wrap="square" tIns="41900">
            <a:spAutoFit/>
          </a:bodyPr>
          <a:lstStyle/>
          <a:p>
            <a:pPr indent="-285115" lvl="0" marL="297180" marR="0" rtl="0" algn="l">
              <a:lnSpc>
                <a:spcPct val="100000"/>
              </a:lnSpc>
              <a:spcBef>
                <a:spcPts val="0"/>
              </a:spcBef>
              <a:spcAft>
                <a:spcPts val="0"/>
              </a:spcAft>
              <a:buClr>
                <a:srgbClr val="D20000"/>
              </a:buClr>
              <a:buSzPts val="2600"/>
              <a:buFont typeface="Helvetica Neue"/>
              <a:buChar char="▪"/>
            </a:pPr>
            <a:r>
              <a:rPr lang="en-US" sz="2000">
                <a:solidFill>
                  <a:schemeClr val="dk1"/>
                </a:solidFill>
                <a:latin typeface="Helvetica Neue"/>
                <a:ea typeface="Helvetica Neue"/>
                <a:cs typeface="Helvetica Neue"/>
                <a:sym typeface="Helvetica Neue"/>
              </a:rPr>
              <a:t>Création et révocation des certificats X.509,</a:t>
            </a:r>
            <a:endParaRPr sz="2000">
              <a:solidFill>
                <a:schemeClr val="dk1"/>
              </a:solidFill>
              <a:latin typeface="Helvetica Neue"/>
              <a:ea typeface="Helvetica Neue"/>
              <a:cs typeface="Helvetica Neue"/>
              <a:sym typeface="Helvetica Neue"/>
            </a:endParaRPr>
          </a:p>
          <a:p>
            <a:pPr indent="-285115" lvl="0" marL="297180" marR="207645" rtl="0" algn="l">
              <a:lnSpc>
                <a:spcPct val="108000"/>
              </a:lnSpc>
              <a:spcBef>
                <a:spcPts val="710"/>
              </a:spcBef>
              <a:spcAft>
                <a:spcPts val="0"/>
              </a:spcAft>
              <a:buClr>
                <a:srgbClr val="D20000"/>
              </a:buClr>
              <a:buSzPts val="2600"/>
              <a:buFont typeface="Helvetica Neue"/>
              <a:buChar char="▪"/>
            </a:pPr>
            <a:r>
              <a:rPr lang="en-US" sz="2000">
                <a:solidFill>
                  <a:schemeClr val="dk1"/>
                </a:solidFill>
                <a:latin typeface="Helvetica Neue"/>
                <a:ea typeface="Helvetica Neue"/>
                <a:cs typeface="Helvetica Neue"/>
                <a:sym typeface="Helvetica Neue"/>
              </a:rPr>
              <a:t>Diffusion et publication des certificatsX.509 (via un annuaire LDAP  par exemple),</a:t>
            </a:r>
            <a:endParaRPr sz="2000">
              <a:solidFill>
                <a:schemeClr val="dk1"/>
              </a:solidFill>
              <a:latin typeface="Helvetica Neue"/>
              <a:ea typeface="Helvetica Neue"/>
              <a:cs typeface="Helvetica Neue"/>
              <a:sym typeface="Helvetica Neue"/>
            </a:endParaRPr>
          </a:p>
          <a:p>
            <a:pPr indent="-285115" lvl="0" marL="297180" marR="5080" rtl="0" algn="l">
              <a:lnSpc>
                <a:spcPct val="108000"/>
              </a:lnSpc>
              <a:spcBef>
                <a:spcPts val="700"/>
              </a:spcBef>
              <a:spcAft>
                <a:spcPts val="0"/>
              </a:spcAft>
              <a:buClr>
                <a:srgbClr val="D20000"/>
              </a:buClr>
              <a:buSzPts val="2600"/>
              <a:buFont typeface="Helvetica Neue"/>
              <a:buChar char="▪"/>
            </a:pPr>
            <a:r>
              <a:rPr lang="en-US" sz="2000">
                <a:solidFill>
                  <a:schemeClr val="dk1"/>
                </a:solidFill>
                <a:latin typeface="Helvetica Neue"/>
                <a:ea typeface="Helvetica Neue"/>
                <a:cs typeface="Helvetica Neue"/>
                <a:sym typeface="Helvetica Neue"/>
              </a:rPr>
              <a:t>Plus rarement, un service de séquestre et de recouvrement des clés  privées. Ce service est bien sûr très utile en cas de perte de la clé  privée de votre certificat. Le problème est que votre clé privée perd  toute légitimité car vous la partagez avec un tiers (le service de</a:t>
            </a:r>
            <a:endParaRPr sz="2000">
              <a:solidFill>
                <a:schemeClr val="dk1"/>
              </a:solidFill>
              <a:latin typeface="Helvetica Neue"/>
              <a:ea typeface="Helvetica Neue"/>
              <a:cs typeface="Helvetica Neue"/>
              <a:sym typeface="Helvetica Neue"/>
            </a:endParaRPr>
          </a:p>
        </p:txBody>
      </p:sp>
      <p:sp>
        <p:nvSpPr>
          <p:cNvPr id="480" name="Google Shape;480;p45"/>
          <p:cNvSpPr txBox="1"/>
          <p:nvPr/>
        </p:nvSpPr>
        <p:spPr>
          <a:xfrm>
            <a:off x="1122074" y="6264354"/>
            <a:ext cx="3978275" cy="320601"/>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2000">
                <a:solidFill>
                  <a:schemeClr val="dk1"/>
                </a:solidFill>
                <a:latin typeface="Helvetica Neue"/>
                <a:ea typeface="Helvetica Neue"/>
                <a:cs typeface="Helvetica Neue"/>
                <a:sym typeface="Helvetica Neue"/>
              </a:rPr>
              <a:t>séquestre de la NSA par exemple).</a:t>
            </a:r>
            <a:endParaRPr sz="2000">
              <a:solidFill>
                <a:schemeClr val="dk1"/>
              </a:solidFill>
              <a:latin typeface="Helvetica Neue"/>
              <a:ea typeface="Helvetica Neue"/>
              <a:cs typeface="Helvetica Neue"/>
              <a:sym typeface="Helvetica Neue"/>
            </a:endParaRPr>
          </a:p>
        </p:txBody>
      </p:sp>
      <p:sp>
        <p:nvSpPr>
          <p:cNvPr id="481" name="Google Shape;481;p45"/>
          <p:cNvSpPr txBox="1"/>
          <p:nvPr>
            <p:ph type="title"/>
          </p:nvPr>
        </p:nvSpPr>
        <p:spPr>
          <a:xfrm>
            <a:off x="914404" y="412496"/>
            <a:ext cx="7467599"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Calibri"/>
              <a:buNone/>
            </a:pPr>
            <a:r>
              <a:rPr b="1" lang="en-US" sz="3600">
                <a:solidFill>
                  <a:srgbClr val="C00000"/>
                </a:solidFill>
              </a:rPr>
              <a:t>Infrastructure de gestion de clés</a:t>
            </a:r>
            <a:endParaRPr/>
          </a:p>
        </p:txBody>
      </p:sp>
      <p:sp>
        <p:nvSpPr>
          <p:cNvPr id="482" name="Google Shape;482;p45"/>
          <p:cNvSpPr txBox="1"/>
          <p:nvPr>
            <p:ph idx="12" type="sldNum"/>
          </p:nvPr>
        </p:nvSpPr>
        <p:spPr>
          <a:xfrm>
            <a:off x="86772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id="488" name="Google Shape;488;p46"/>
          <p:cNvPicPr preferRelativeResize="0"/>
          <p:nvPr/>
        </p:nvPicPr>
        <p:blipFill rotWithShape="1">
          <a:blip r:embed="rId3">
            <a:alphaModFix/>
          </a:blip>
          <a:srcRect b="48052" l="0" r="0" t="0"/>
          <a:stretch/>
        </p:blipFill>
        <p:spPr>
          <a:xfrm>
            <a:off x="304804" y="2554198"/>
            <a:ext cx="4155995" cy="1865402"/>
          </a:xfrm>
          <a:prstGeom prst="rect">
            <a:avLst/>
          </a:prstGeom>
          <a:noFill/>
          <a:ln>
            <a:noFill/>
          </a:ln>
        </p:spPr>
      </p:pic>
      <p:sp>
        <p:nvSpPr>
          <p:cNvPr id="489" name="Google Shape;489;p46"/>
          <p:cNvSpPr txBox="1"/>
          <p:nvPr>
            <p:ph type="title"/>
          </p:nvPr>
        </p:nvSpPr>
        <p:spPr>
          <a:xfrm>
            <a:off x="304804" y="457200"/>
            <a:ext cx="70866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Demande de certificat</a:t>
            </a:r>
            <a:endParaRPr/>
          </a:p>
        </p:txBody>
      </p:sp>
      <p:sp>
        <p:nvSpPr>
          <p:cNvPr id="490" name="Google Shape;490;p46"/>
          <p:cNvSpPr txBox="1"/>
          <p:nvPr>
            <p:ph idx="12" type="sldNum"/>
          </p:nvPr>
        </p:nvSpPr>
        <p:spPr>
          <a:xfrm>
            <a:off x="86772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491" name="Google Shape;491;p46"/>
          <p:cNvSpPr/>
          <p:nvPr/>
        </p:nvSpPr>
        <p:spPr>
          <a:xfrm>
            <a:off x="4572000" y="2540678"/>
            <a:ext cx="4191000" cy="2031325"/>
          </a:xfrm>
          <a:prstGeom prst="rect">
            <a:avLst/>
          </a:prstGeom>
          <a:noFill/>
          <a:ln>
            <a:noFill/>
          </a:ln>
        </p:spPr>
        <p:txBody>
          <a:bodyPr anchorCtr="0" anchor="t" bIns="45700" lIns="91425" spcFirstLastPara="1" rIns="91425" wrap="square" tIns="45700">
            <a:spAutoFit/>
          </a:bodyPr>
          <a:lstStyle/>
          <a:p>
            <a:pPr indent="-457200" lvl="0" marL="469900" marR="6985" rtl="0" algn="just">
              <a:spcBef>
                <a:spcPts val="0"/>
              </a:spcBef>
              <a:spcAft>
                <a:spcPts val="0"/>
              </a:spcAft>
              <a:buClr>
                <a:srgbClr val="C00000"/>
              </a:buClr>
              <a:buSzPts val="3690"/>
              <a:buFont typeface="Helvetica Neue"/>
              <a:buChar char="•"/>
            </a:pPr>
            <a:r>
              <a:rPr b="1" lang="en-US" sz="1800">
                <a:solidFill>
                  <a:schemeClr val="dk1"/>
                </a:solidFill>
                <a:latin typeface="Arial"/>
                <a:ea typeface="Arial"/>
                <a:cs typeface="Arial"/>
                <a:sym typeface="Arial"/>
              </a:rPr>
              <a:t>Autorité d’ Enregistrement (AE) </a:t>
            </a:r>
            <a:r>
              <a:rPr lang="en-US" sz="1800">
                <a:solidFill>
                  <a:schemeClr val="dk1"/>
                </a:solidFill>
                <a:latin typeface="Arial"/>
                <a:ea typeface="Arial"/>
                <a:cs typeface="Arial"/>
                <a:sym typeface="Arial"/>
              </a:rPr>
              <a:t>qui reçoit et traite les demandes de création, renouvellement  et révocation de certificats. Elle doit  notamment s’assurer de l’identité des demandeurs.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92" name="Google Shape;492;p46"/>
          <p:cNvPicPr preferRelativeResize="0"/>
          <p:nvPr/>
        </p:nvPicPr>
        <p:blipFill rotWithShape="1">
          <a:blip r:embed="rId4">
            <a:alphaModFix/>
          </a:blip>
          <a:srcRect b="0" l="0" r="0" t="0"/>
          <a:stretch/>
        </p:blipFill>
        <p:spPr>
          <a:xfrm>
            <a:off x="609600" y="1371600"/>
            <a:ext cx="3810000" cy="762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47"/>
          <p:cNvPicPr preferRelativeResize="0"/>
          <p:nvPr/>
        </p:nvPicPr>
        <p:blipFill rotWithShape="1">
          <a:blip r:embed="rId3">
            <a:alphaModFix/>
          </a:blip>
          <a:srcRect b="21282" l="0" r="0" t="0"/>
          <a:stretch/>
        </p:blipFill>
        <p:spPr>
          <a:xfrm>
            <a:off x="889653" y="2549812"/>
            <a:ext cx="7207136" cy="3469988"/>
          </a:xfrm>
          <a:prstGeom prst="rect">
            <a:avLst/>
          </a:prstGeom>
          <a:noFill/>
          <a:ln>
            <a:noFill/>
          </a:ln>
        </p:spPr>
      </p:pic>
      <p:sp>
        <p:nvSpPr>
          <p:cNvPr id="498" name="Google Shape;498;p47"/>
          <p:cNvSpPr txBox="1"/>
          <p:nvPr>
            <p:ph type="title"/>
          </p:nvPr>
        </p:nvSpPr>
        <p:spPr>
          <a:xfrm>
            <a:off x="838200" y="412497"/>
            <a:ext cx="70866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Demande de certificat</a:t>
            </a:r>
            <a:endParaRPr/>
          </a:p>
        </p:txBody>
      </p:sp>
      <p:sp>
        <p:nvSpPr>
          <p:cNvPr id="499" name="Google Shape;499;p47"/>
          <p:cNvSpPr txBox="1"/>
          <p:nvPr>
            <p:ph idx="12" type="sldNum"/>
          </p:nvPr>
        </p:nvSpPr>
        <p:spPr>
          <a:xfrm>
            <a:off x="87534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500" name="Google Shape;500;p47"/>
          <p:cNvPicPr preferRelativeResize="0"/>
          <p:nvPr/>
        </p:nvPicPr>
        <p:blipFill rotWithShape="1">
          <a:blip r:embed="rId4">
            <a:alphaModFix/>
          </a:blip>
          <a:srcRect b="0" l="0" r="0" t="0"/>
          <a:stretch/>
        </p:blipFill>
        <p:spPr>
          <a:xfrm>
            <a:off x="609600" y="1447800"/>
            <a:ext cx="5257800" cy="724862"/>
          </a:xfrm>
          <a:prstGeom prst="rect">
            <a:avLst/>
          </a:prstGeom>
          <a:noFill/>
          <a:ln>
            <a:noFill/>
          </a:ln>
        </p:spPr>
      </p:pic>
      <p:sp>
        <p:nvSpPr>
          <p:cNvPr id="501" name="Google Shape;501;p47"/>
          <p:cNvSpPr/>
          <p:nvPr/>
        </p:nvSpPr>
        <p:spPr>
          <a:xfrm>
            <a:off x="304800" y="3886200"/>
            <a:ext cx="4572000" cy="1477328"/>
          </a:xfrm>
          <a:prstGeom prst="rect">
            <a:avLst/>
          </a:prstGeom>
          <a:noFill/>
          <a:ln>
            <a:noFill/>
          </a:ln>
        </p:spPr>
        <p:txBody>
          <a:bodyPr anchorCtr="0" anchor="t" bIns="45700" lIns="91425" spcFirstLastPara="1" rIns="91425" wrap="square" tIns="45700">
            <a:spAutoFit/>
          </a:bodyPr>
          <a:lstStyle/>
          <a:p>
            <a:pPr indent="-457200" lvl="0" marL="469900" marR="6985" rtl="0" algn="just">
              <a:lnSpc>
                <a:spcPct val="100000"/>
              </a:lnSpc>
              <a:spcBef>
                <a:spcPts val="0"/>
              </a:spcBef>
              <a:spcAft>
                <a:spcPts val="0"/>
              </a:spcAft>
              <a:buClr>
                <a:srgbClr val="C00000"/>
              </a:buClr>
              <a:buSzPts val="3690"/>
              <a:buFont typeface="Helvetica Neue"/>
              <a:buChar char="•"/>
            </a:pPr>
            <a:r>
              <a:rPr b="1" lang="en-US" sz="1800">
                <a:solidFill>
                  <a:schemeClr val="dk1"/>
                </a:solidFill>
                <a:latin typeface="Arial"/>
                <a:ea typeface="Arial"/>
                <a:cs typeface="Arial"/>
                <a:sym typeface="Arial"/>
              </a:rPr>
              <a:t>Opérateur de Certification(OC) </a:t>
            </a:r>
            <a:r>
              <a:rPr lang="en-US" sz="1800">
                <a:solidFill>
                  <a:schemeClr val="dk1"/>
                </a:solidFill>
                <a:latin typeface="Arial"/>
                <a:ea typeface="Arial"/>
                <a:cs typeface="Arial"/>
                <a:sym typeface="Arial"/>
              </a:rPr>
              <a:t>qui</a:t>
            </a:r>
            <a:r>
              <a:rPr lang="en-US" sz="1800">
                <a:solidFill>
                  <a:schemeClr val="dk1"/>
                </a:solidFill>
                <a:latin typeface="Helvetica Neue"/>
                <a:ea typeface="Helvetica Neue"/>
                <a:cs typeface="Helvetica Neue"/>
                <a:sym typeface="Helvetica Neue"/>
              </a:rPr>
              <a:t> effectue toutes les opérations  demandées par l’AC nécessitant la clé privée de celle-ci. Il n’est en  principe pas connecté au réseau.</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8"/>
          <p:cNvSpPr txBox="1"/>
          <p:nvPr>
            <p:ph type="title"/>
          </p:nvPr>
        </p:nvSpPr>
        <p:spPr>
          <a:xfrm>
            <a:off x="838200" y="412497"/>
            <a:ext cx="70866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Demande de certificat</a:t>
            </a:r>
            <a:endParaRPr/>
          </a:p>
        </p:txBody>
      </p:sp>
      <p:sp>
        <p:nvSpPr>
          <p:cNvPr id="507" name="Google Shape;507;p48"/>
          <p:cNvSpPr txBox="1"/>
          <p:nvPr>
            <p:ph idx="12" type="sldNum"/>
          </p:nvPr>
        </p:nvSpPr>
        <p:spPr>
          <a:xfrm>
            <a:off x="87534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508" name="Google Shape;508;p48"/>
          <p:cNvPicPr preferRelativeResize="0"/>
          <p:nvPr/>
        </p:nvPicPr>
        <p:blipFill rotWithShape="1">
          <a:blip r:embed="rId3">
            <a:alphaModFix/>
          </a:blip>
          <a:srcRect b="0" l="0" r="0" t="0"/>
          <a:stretch/>
        </p:blipFill>
        <p:spPr>
          <a:xfrm>
            <a:off x="685804" y="1885952"/>
            <a:ext cx="4467225" cy="857250"/>
          </a:xfrm>
          <a:prstGeom prst="rect">
            <a:avLst/>
          </a:prstGeom>
          <a:noFill/>
          <a:ln>
            <a:noFill/>
          </a:ln>
        </p:spPr>
      </p:pic>
      <p:pic>
        <p:nvPicPr>
          <p:cNvPr id="509" name="Google Shape;509;p48"/>
          <p:cNvPicPr preferRelativeResize="0"/>
          <p:nvPr/>
        </p:nvPicPr>
        <p:blipFill rotWithShape="1">
          <a:blip r:embed="rId4">
            <a:alphaModFix/>
          </a:blip>
          <a:srcRect b="0" l="0" r="0" t="0"/>
          <a:stretch/>
        </p:blipFill>
        <p:spPr>
          <a:xfrm>
            <a:off x="771527" y="2743200"/>
            <a:ext cx="6772275" cy="4038600"/>
          </a:xfrm>
          <a:prstGeom prst="rect">
            <a:avLst/>
          </a:prstGeom>
          <a:noFill/>
          <a:ln>
            <a:noFill/>
          </a:ln>
        </p:spPr>
      </p:pic>
      <p:pic>
        <p:nvPicPr>
          <p:cNvPr id="510" name="Google Shape;510;p48"/>
          <p:cNvPicPr preferRelativeResize="0"/>
          <p:nvPr/>
        </p:nvPicPr>
        <p:blipFill rotWithShape="1">
          <a:blip r:embed="rId5">
            <a:alphaModFix/>
          </a:blip>
          <a:srcRect b="0" l="0" r="0" t="0"/>
          <a:stretch/>
        </p:blipFill>
        <p:spPr>
          <a:xfrm>
            <a:off x="609600" y="1371600"/>
            <a:ext cx="5410200" cy="644071"/>
          </a:xfrm>
          <a:prstGeom prst="rect">
            <a:avLst/>
          </a:prstGeom>
          <a:noFill/>
          <a:ln>
            <a:noFill/>
          </a:ln>
        </p:spPr>
      </p:pic>
      <p:sp>
        <p:nvSpPr>
          <p:cNvPr id="511" name="Google Shape;511;p48"/>
          <p:cNvSpPr/>
          <p:nvPr/>
        </p:nvSpPr>
        <p:spPr>
          <a:xfrm>
            <a:off x="381000" y="4343403"/>
            <a:ext cx="4572000" cy="1200329"/>
          </a:xfrm>
          <a:prstGeom prst="rect">
            <a:avLst/>
          </a:prstGeom>
          <a:noFill/>
          <a:ln>
            <a:noFill/>
          </a:ln>
        </p:spPr>
        <p:txBody>
          <a:bodyPr anchorCtr="0" anchor="t" bIns="45700" lIns="91425" spcFirstLastPara="1" rIns="91425" wrap="square" tIns="45700">
            <a:spAutoFit/>
          </a:bodyPr>
          <a:lstStyle/>
          <a:p>
            <a:pPr indent="-457200" lvl="0" marL="469900" marR="8890" rtl="0" algn="just">
              <a:lnSpc>
                <a:spcPct val="100000"/>
              </a:lnSpc>
              <a:spcBef>
                <a:spcPts val="0"/>
              </a:spcBef>
              <a:spcAft>
                <a:spcPts val="0"/>
              </a:spcAft>
              <a:buClr>
                <a:srgbClr val="C00000"/>
              </a:buClr>
              <a:buSzPts val="3690"/>
              <a:buFont typeface="Helvetica Neue"/>
              <a:buChar char="•"/>
            </a:pPr>
            <a:r>
              <a:rPr b="1" lang="en-US" sz="1800">
                <a:solidFill>
                  <a:schemeClr val="dk1"/>
                </a:solidFill>
                <a:latin typeface="Arial"/>
                <a:ea typeface="Arial"/>
                <a:cs typeface="Arial"/>
                <a:sym typeface="Arial"/>
              </a:rPr>
              <a:t>Service de Séquestre (SS): </a:t>
            </a:r>
            <a:r>
              <a:rPr lang="en-US" sz="1800">
                <a:solidFill>
                  <a:schemeClr val="dk1"/>
                </a:solidFill>
                <a:latin typeface="Helvetica Neue"/>
                <a:ea typeface="Helvetica Neue"/>
                <a:cs typeface="Helvetica Neue"/>
                <a:sym typeface="Helvetica Neue"/>
              </a:rPr>
              <a:t>qui stocke au sein de l’IGC les couples (clé  privée, clé publique) des certificats produits. Dangereux!</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9"/>
          <p:cNvSpPr txBox="1"/>
          <p:nvPr>
            <p:ph type="title"/>
          </p:nvPr>
        </p:nvSpPr>
        <p:spPr>
          <a:xfrm>
            <a:off x="228600" y="381000"/>
            <a:ext cx="70866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Demande de certificat</a:t>
            </a:r>
            <a:endParaRPr/>
          </a:p>
        </p:txBody>
      </p:sp>
      <p:sp>
        <p:nvSpPr>
          <p:cNvPr id="517" name="Google Shape;517;p49"/>
          <p:cNvSpPr txBox="1"/>
          <p:nvPr>
            <p:ph idx="12" type="sldNum"/>
          </p:nvPr>
        </p:nvSpPr>
        <p:spPr>
          <a:xfrm>
            <a:off x="86772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518" name="Google Shape;518;p49"/>
          <p:cNvPicPr preferRelativeResize="0"/>
          <p:nvPr/>
        </p:nvPicPr>
        <p:blipFill rotWithShape="1">
          <a:blip r:embed="rId3">
            <a:alphaModFix/>
          </a:blip>
          <a:srcRect b="0" l="0" r="0" t="0"/>
          <a:stretch/>
        </p:blipFill>
        <p:spPr>
          <a:xfrm>
            <a:off x="2305050" y="2219326"/>
            <a:ext cx="6686550" cy="4257676"/>
          </a:xfrm>
          <a:prstGeom prst="rect">
            <a:avLst/>
          </a:prstGeom>
          <a:noFill/>
          <a:ln>
            <a:noFill/>
          </a:ln>
        </p:spPr>
      </p:pic>
      <p:pic>
        <p:nvPicPr>
          <p:cNvPr id="519" name="Google Shape;519;p49"/>
          <p:cNvPicPr preferRelativeResize="0"/>
          <p:nvPr/>
        </p:nvPicPr>
        <p:blipFill rotWithShape="1">
          <a:blip r:embed="rId4">
            <a:alphaModFix/>
          </a:blip>
          <a:srcRect b="0" l="0" r="0" t="0"/>
          <a:stretch/>
        </p:blipFill>
        <p:spPr>
          <a:xfrm>
            <a:off x="609600" y="1524002"/>
            <a:ext cx="4324350" cy="666750"/>
          </a:xfrm>
          <a:prstGeom prst="rect">
            <a:avLst/>
          </a:prstGeom>
          <a:noFill/>
          <a:ln>
            <a:noFill/>
          </a:ln>
        </p:spPr>
      </p:pic>
      <p:sp>
        <p:nvSpPr>
          <p:cNvPr id="520" name="Google Shape;520;p49"/>
          <p:cNvSpPr/>
          <p:nvPr/>
        </p:nvSpPr>
        <p:spPr>
          <a:xfrm>
            <a:off x="76200" y="3200400"/>
            <a:ext cx="4572000" cy="1754326"/>
          </a:xfrm>
          <a:prstGeom prst="rect">
            <a:avLst/>
          </a:prstGeom>
          <a:noFill/>
          <a:ln>
            <a:noFill/>
          </a:ln>
        </p:spPr>
        <p:txBody>
          <a:bodyPr anchorCtr="0" anchor="t" bIns="45700" lIns="91425" spcFirstLastPara="1" rIns="91425" wrap="square" tIns="45700">
            <a:spAutoFit/>
          </a:bodyPr>
          <a:lstStyle/>
          <a:p>
            <a:pPr indent="-457200" lvl="0" marL="469900" marR="5080" rtl="0" algn="just">
              <a:lnSpc>
                <a:spcPct val="100000"/>
              </a:lnSpc>
              <a:spcBef>
                <a:spcPts val="0"/>
              </a:spcBef>
              <a:spcAft>
                <a:spcPts val="0"/>
              </a:spcAft>
              <a:buClr>
                <a:srgbClr val="C00000"/>
              </a:buClr>
              <a:buSzPts val="3690"/>
              <a:buFont typeface="Helvetica Neue"/>
              <a:buChar char="•"/>
            </a:pPr>
            <a:r>
              <a:rPr b="1" lang="en-US" sz="1800">
                <a:solidFill>
                  <a:schemeClr val="dk1"/>
                </a:solidFill>
                <a:latin typeface="Arial"/>
                <a:ea typeface="Arial"/>
                <a:cs typeface="Arial"/>
                <a:sym typeface="Arial"/>
              </a:rPr>
              <a:t>Service de Publication(SP) </a:t>
            </a:r>
            <a:r>
              <a:rPr lang="en-US" sz="1800">
                <a:solidFill>
                  <a:schemeClr val="dk1"/>
                </a:solidFill>
                <a:latin typeface="Arial"/>
                <a:ea typeface="Arial"/>
                <a:cs typeface="Arial"/>
                <a:sym typeface="Arial"/>
              </a:rPr>
              <a:t>qui </a:t>
            </a:r>
            <a:r>
              <a:rPr lang="en-US" sz="1800">
                <a:solidFill>
                  <a:schemeClr val="dk1"/>
                </a:solidFill>
                <a:latin typeface="Helvetica Neue"/>
                <a:ea typeface="Helvetica Neue"/>
                <a:cs typeface="Helvetica Neue"/>
                <a:sym typeface="Helvetica Neue"/>
              </a:rPr>
              <a:t>met à disposition de tous, via un  annuaire (le plus souvent LDAP), les certificats issus de l’IGC, le  certificat de l’AC et éventuellement les listes de révocation(CRL).</a:t>
            </a:r>
            <a:endParaRPr sz="1800">
              <a:solidFill>
                <a:schemeClr val="dk1"/>
              </a:solidFill>
              <a:latin typeface="Helvetica Neue"/>
              <a:ea typeface="Helvetica Neue"/>
              <a:cs typeface="Helvetica Neue"/>
              <a:sym typeface="Helvetica Neue"/>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0"/>
          <p:cNvSpPr txBox="1"/>
          <p:nvPr>
            <p:ph type="title"/>
          </p:nvPr>
        </p:nvSpPr>
        <p:spPr>
          <a:xfrm>
            <a:off x="76200" y="412497"/>
            <a:ext cx="70866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Demande de certificat</a:t>
            </a:r>
            <a:endParaRPr/>
          </a:p>
        </p:txBody>
      </p:sp>
      <p:sp>
        <p:nvSpPr>
          <p:cNvPr id="526" name="Google Shape;526;p50"/>
          <p:cNvSpPr txBox="1"/>
          <p:nvPr>
            <p:ph idx="12" type="sldNum"/>
          </p:nvPr>
        </p:nvSpPr>
        <p:spPr>
          <a:xfrm>
            <a:off x="87534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527" name="Google Shape;527;p50"/>
          <p:cNvPicPr preferRelativeResize="0"/>
          <p:nvPr/>
        </p:nvPicPr>
        <p:blipFill rotWithShape="1">
          <a:blip r:embed="rId3">
            <a:alphaModFix/>
          </a:blip>
          <a:srcRect b="0" l="0" r="0" t="0"/>
          <a:stretch/>
        </p:blipFill>
        <p:spPr>
          <a:xfrm>
            <a:off x="609600" y="1447800"/>
            <a:ext cx="3352800" cy="619126"/>
          </a:xfrm>
          <a:prstGeom prst="rect">
            <a:avLst/>
          </a:prstGeom>
          <a:noFill/>
          <a:ln>
            <a:noFill/>
          </a:ln>
        </p:spPr>
      </p:pic>
      <p:pic>
        <p:nvPicPr>
          <p:cNvPr id="528" name="Google Shape;528;p50"/>
          <p:cNvPicPr preferRelativeResize="0"/>
          <p:nvPr/>
        </p:nvPicPr>
        <p:blipFill rotWithShape="1">
          <a:blip r:embed="rId4">
            <a:alphaModFix/>
          </a:blip>
          <a:srcRect b="0" l="0" r="0" t="0"/>
          <a:stretch/>
        </p:blipFill>
        <p:spPr>
          <a:xfrm>
            <a:off x="2438400" y="2057400"/>
            <a:ext cx="6705600" cy="4010026"/>
          </a:xfrm>
          <a:prstGeom prst="rect">
            <a:avLst/>
          </a:prstGeom>
          <a:noFill/>
          <a:ln>
            <a:noFill/>
          </a:ln>
        </p:spPr>
      </p:pic>
      <p:sp>
        <p:nvSpPr>
          <p:cNvPr id="529" name="Google Shape;529;p50"/>
          <p:cNvSpPr/>
          <p:nvPr/>
        </p:nvSpPr>
        <p:spPr>
          <a:xfrm>
            <a:off x="0" y="4038600"/>
            <a:ext cx="4572000" cy="1477328"/>
          </a:xfrm>
          <a:prstGeom prst="rect">
            <a:avLst/>
          </a:prstGeom>
          <a:noFill/>
          <a:ln>
            <a:noFill/>
          </a:ln>
        </p:spPr>
        <p:txBody>
          <a:bodyPr anchorCtr="0" anchor="t" bIns="45700" lIns="91425" spcFirstLastPara="1" rIns="91425" wrap="square" tIns="45700">
            <a:spAutoFit/>
          </a:bodyPr>
          <a:lstStyle/>
          <a:p>
            <a:pPr indent="-457200" lvl="0" marL="469900" marR="0" rtl="0" algn="l">
              <a:lnSpc>
                <a:spcPct val="100000"/>
              </a:lnSpc>
              <a:spcBef>
                <a:spcPts val="0"/>
              </a:spcBef>
              <a:spcAft>
                <a:spcPts val="0"/>
              </a:spcAft>
              <a:buClr>
                <a:srgbClr val="C00000"/>
              </a:buClr>
              <a:buSzPts val="3690"/>
              <a:buFont typeface="Helvetica Neue"/>
              <a:buChar char="•"/>
            </a:pPr>
            <a:r>
              <a:rPr b="1" lang="en-US" sz="1800">
                <a:solidFill>
                  <a:schemeClr val="dk1"/>
                </a:solidFill>
                <a:latin typeface="Arial"/>
                <a:ea typeface="Arial"/>
                <a:cs typeface="Arial"/>
                <a:sym typeface="Arial"/>
              </a:rPr>
              <a:t>Service de Validation (SV) </a:t>
            </a:r>
            <a:r>
              <a:rPr lang="en-US" sz="1800">
                <a:solidFill>
                  <a:schemeClr val="dk1"/>
                </a:solidFill>
                <a:latin typeface="Arial"/>
                <a:ea typeface="Arial"/>
                <a:cs typeface="Arial"/>
                <a:sym typeface="Arial"/>
              </a:rPr>
              <a:t>qui </a:t>
            </a:r>
            <a:r>
              <a:rPr lang="en-US" sz="1800">
                <a:solidFill>
                  <a:schemeClr val="dk1"/>
                </a:solidFill>
                <a:latin typeface="Helvetica Neue"/>
                <a:ea typeface="Helvetica Neue"/>
                <a:cs typeface="Helvetica Neue"/>
                <a:sym typeface="Helvetica Neue"/>
              </a:rPr>
              <a:t>permet à tout utilisateur de vérifier la validité	d’un	certificat (expiration,	vol/perte	de	la clé privée  associée,...). </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51"/>
          <p:cNvSpPr txBox="1"/>
          <p:nvPr>
            <p:ph type="title"/>
          </p:nvPr>
        </p:nvSpPr>
        <p:spPr>
          <a:xfrm>
            <a:off x="-36394" y="457200"/>
            <a:ext cx="7086600" cy="567463"/>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3600"/>
              <a:buFont typeface="Trebuchet MS"/>
              <a:buNone/>
            </a:pPr>
            <a:r>
              <a:rPr lang="en-US">
                <a:solidFill>
                  <a:srgbClr val="C00000"/>
                </a:solidFill>
              </a:rPr>
              <a:t>Demande de certificat</a:t>
            </a:r>
            <a:endParaRPr/>
          </a:p>
        </p:txBody>
      </p:sp>
      <p:sp>
        <p:nvSpPr>
          <p:cNvPr id="535" name="Google Shape;535;p51"/>
          <p:cNvSpPr txBox="1"/>
          <p:nvPr>
            <p:ph idx="12" type="sldNum"/>
          </p:nvPr>
        </p:nvSpPr>
        <p:spPr>
          <a:xfrm>
            <a:off x="8753477" y="6415713"/>
            <a:ext cx="314325" cy="492443"/>
          </a:xfrm>
          <a:prstGeom prst="rect">
            <a:avLst/>
          </a:prstGeom>
          <a:noFill/>
          <a:ln>
            <a:noFill/>
          </a:ln>
        </p:spPr>
        <p:txBody>
          <a:bodyPr anchorCtr="0" anchor="ctr" bIns="0" lIns="0" spcFirstLastPara="1" rIns="0" wrap="square" tIns="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pic>
        <p:nvPicPr>
          <p:cNvPr id="536" name="Google Shape;536;p51"/>
          <p:cNvPicPr preferRelativeResize="0"/>
          <p:nvPr/>
        </p:nvPicPr>
        <p:blipFill rotWithShape="1">
          <a:blip r:embed="rId3">
            <a:alphaModFix/>
          </a:blip>
          <a:srcRect b="0" l="0" r="0" t="0"/>
          <a:stretch/>
        </p:blipFill>
        <p:spPr>
          <a:xfrm>
            <a:off x="609602" y="1371600"/>
            <a:ext cx="4524375" cy="657226"/>
          </a:xfrm>
          <a:prstGeom prst="rect">
            <a:avLst/>
          </a:prstGeom>
          <a:noFill/>
          <a:ln>
            <a:noFill/>
          </a:ln>
        </p:spPr>
      </p:pic>
      <p:pic>
        <p:nvPicPr>
          <p:cNvPr id="537" name="Google Shape;537;p51"/>
          <p:cNvPicPr preferRelativeResize="0"/>
          <p:nvPr/>
        </p:nvPicPr>
        <p:blipFill rotWithShape="1">
          <a:blip r:embed="rId4">
            <a:alphaModFix/>
          </a:blip>
          <a:srcRect b="0" l="0" r="0" t="0"/>
          <a:stretch/>
        </p:blipFill>
        <p:spPr>
          <a:xfrm>
            <a:off x="1219204" y="2133600"/>
            <a:ext cx="6638925" cy="41148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52"/>
          <p:cNvSpPr txBox="1"/>
          <p:nvPr>
            <p:ph type="title"/>
          </p:nvPr>
        </p:nvSpPr>
        <p:spPr>
          <a:xfrm>
            <a:off x="685800" y="411778"/>
            <a:ext cx="6248400" cy="629018"/>
          </a:xfrm>
          <a:prstGeom prst="rect">
            <a:avLst/>
          </a:prstGeom>
          <a:noFill/>
          <a:ln>
            <a:noFill/>
          </a:ln>
        </p:spPr>
        <p:txBody>
          <a:bodyPr anchorCtr="0" anchor="ctr" bIns="0" lIns="0" spcFirstLastPara="1" rIns="0" wrap="square" tIns="13325">
            <a:spAutoFit/>
          </a:bodyPr>
          <a:lstStyle/>
          <a:p>
            <a:pPr indent="0" lvl="0" marL="12700" rtl="0" algn="ctr">
              <a:lnSpc>
                <a:spcPct val="100000"/>
              </a:lnSpc>
              <a:spcBef>
                <a:spcPts val="0"/>
              </a:spcBef>
              <a:spcAft>
                <a:spcPts val="0"/>
              </a:spcAft>
              <a:buClr>
                <a:srgbClr val="C00000"/>
              </a:buClr>
              <a:buSzPts val="4000"/>
              <a:buFont typeface="Calibri"/>
              <a:buNone/>
            </a:pPr>
            <a:r>
              <a:rPr b="1" lang="en-US" sz="4000">
                <a:solidFill>
                  <a:srgbClr val="C00000"/>
                </a:solidFill>
              </a:rPr>
              <a:t>Les avantages d’une PKI</a:t>
            </a:r>
            <a:endParaRPr/>
          </a:p>
        </p:txBody>
      </p:sp>
      <p:sp>
        <p:nvSpPr>
          <p:cNvPr id="543" name="Google Shape;543;p52"/>
          <p:cNvSpPr txBox="1"/>
          <p:nvPr>
            <p:ph idx="12" type="sldNum"/>
          </p:nvPr>
        </p:nvSpPr>
        <p:spPr>
          <a:xfrm>
            <a:off x="8753477" y="6415713"/>
            <a:ext cx="314325" cy="492443"/>
          </a:xfrm>
          <a:prstGeom prst="rect">
            <a:avLst/>
          </a:prstGeom>
          <a:noFill/>
          <a:ln>
            <a:noFill/>
          </a:ln>
        </p:spPr>
        <p:txBody>
          <a:bodyPr anchorCtr="0" anchor="ctr" bIns="45700" lIns="91425" spcFirstLastPara="1" rIns="91425" wrap="square" tIns="45700">
            <a:noAutofit/>
          </a:bodyPr>
          <a:lstStyle/>
          <a:p>
            <a:pPr indent="0" lvl="0" marL="38100" rtl="0" algn="r">
              <a:lnSpc>
                <a:spcPct val="100000"/>
              </a:lnSpc>
              <a:spcBef>
                <a:spcPts val="0"/>
              </a:spcBef>
              <a:spcAft>
                <a:spcPts val="0"/>
              </a:spcAft>
              <a:buNone/>
            </a:pPr>
            <a:fld id="{00000000-1234-1234-1234-123412341234}" type="slidenum">
              <a:rPr lang="en-US"/>
              <a:t>‹#›</a:t>
            </a:fld>
            <a:endParaRPr/>
          </a:p>
        </p:txBody>
      </p:sp>
      <p:sp>
        <p:nvSpPr>
          <p:cNvPr id="544" name="Google Shape;544;p52"/>
          <p:cNvSpPr txBox="1"/>
          <p:nvPr/>
        </p:nvSpPr>
        <p:spPr>
          <a:xfrm>
            <a:off x="435664" y="1393700"/>
            <a:ext cx="8165465" cy="5182829"/>
          </a:xfrm>
          <a:prstGeom prst="rect">
            <a:avLst/>
          </a:prstGeom>
          <a:noFill/>
          <a:ln>
            <a:noFill/>
          </a:ln>
        </p:spPr>
        <p:txBody>
          <a:bodyPr anchorCtr="0" anchor="t" bIns="0" lIns="0" spcFirstLastPara="1" rIns="0" wrap="square" tIns="12050">
            <a:spAutoFit/>
          </a:bodyPr>
          <a:lstStyle/>
          <a:p>
            <a:pPr indent="-457200" lvl="0" marL="469900" marR="5080" rtl="0" algn="just">
              <a:lnSpc>
                <a:spcPct val="100000"/>
              </a:lnSpc>
              <a:spcBef>
                <a:spcPts val="0"/>
              </a:spcBef>
              <a:spcAft>
                <a:spcPts val="0"/>
              </a:spcAft>
              <a:buClr>
                <a:srgbClr val="C00000"/>
              </a:buClr>
              <a:buSzPts val="4100"/>
              <a:buFont typeface="Helvetica Neue"/>
              <a:buChar char="•"/>
            </a:pPr>
            <a:r>
              <a:rPr lang="en-US" sz="2200">
                <a:solidFill>
                  <a:schemeClr val="dk1"/>
                </a:solidFill>
                <a:latin typeface="Helvetica Neue"/>
                <a:ea typeface="Helvetica Neue"/>
                <a:cs typeface="Helvetica Neue"/>
                <a:sym typeface="Helvetica Neue"/>
              </a:rPr>
              <a:t>La gestion centralisée de l’ensemble du cycle de vie des  certificats.</a:t>
            </a:r>
            <a:endParaRPr sz="2200">
              <a:solidFill>
                <a:schemeClr val="dk1"/>
              </a:solidFill>
              <a:latin typeface="Helvetica Neue"/>
              <a:ea typeface="Helvetica Neue"/>
              <a:cs typeface="Helvetica Neue"/>
              <a:sym typeface="Helvetica Neue"/>
            </a:endParaRPr>
          </a:p>
          <a:p>
            <a:pPr indent="-457200" lvl="0" marL="469900" marR="5715" rtl="0" algn="just">
              <a:lnSpc>
                <a:spcPct val="100000"/>
              </a:lnSpc>
              <a:spcBef>
                <a:spcPts val="1200"/>
              </a:spcBef>
              <a:spcAft>
                <a:spcPts val="0"/>
              </a:spcAft>
              <a:buClr>
                <a:srgbClr val="C00000"/>
              </a:buClr>
              <a:buSzPts val="4100"/>
              <a:buFont typeface="Helvetica Neue"/>
              <a:buChar char="•"/>
            </a:pPr>
            <a:r>
              <a:rPr lang="en-US" sz="2200">
                <a:solidFill>
                  <a:schemeClr val="dk1"/>
                </a:solidFill>
                <a:latin typeface="Helvetica Neue"/>
                <a:ea typeface="Helvetica Neue"/>
                <a:cs typeface="Helvetica Neue"/>
                <a:sym typeface="Helvetica Neue"/>
              </a:rPr>
              <a:t>La compatibilité avec les différents standards de token (soft,  carte puce, carte USB offrant différents niveaux de sécurité  pour la protection des clés privées) mscapi, pkcs#11, ..</a:t>
            </a:r>
            <a:endParaRPr sz="2200">
              <a:solidFill>
                <a:schemeClr val="dk1"/>
              </a:solidFill>
              <a:latin typeface="Helvetica Neue"/>
              <a:ea typeface="Helvetica Neue"/>
              <a:cs typeface="Helvetica Neue"/>
              <a:sym typeface="Helvetica Neue"/>
            </a:endParaRPr>
          </a:p>
          <a:p>
            <a:pPr indent="-457200" lvl="0" marL="469900" marR="0" rtl="0" algn="l">
              <a:lnSpc>
                <a:spcPct val="100000"/>
              </a:lnSpc>
              <a:spcBef>
                <a:spcPts val="1200"/>
              </a:spcBef>
              <a:spcAft>
                <a:spcPts val="0"/>
              </a:spcAft>
              <a:buClr>
                <a:srgbClr val="C00000"/>
              </a:buClr>
              <a:buSzPts val="4100"/>
              <a:buFont typeface="Helvetica Neue"/>
              <a:buChar char="•"/>
            </a:pPr>
            <a:r>
              <a:rPr lang="en-US" sz="2200">
                <a:solidFill>
                  <a:schemeClr val="dk1"/>
                </a:solidFill>
                <a:latin typeface="Helvetica Neue"/>
                <a:ea typeface="Helvetica Neue"/>
                <a:cs typeface="Helvetica Neue"/>
                <a:sym typeface="Helvetica Neue"/>
              </a:rPr>
              <a:t>La	distribution	sûre	des	clés	publiques	grâce	au	format	de</a:t>
            </a:r>
            <a:endParaRPr sz="2200">
              <a:solidFill>
                <a:schemeClr val="dk1"/>
              </a:solidFill>
              <a:latin typeface="Helvetica Neue"/>
              <a:ea typeface="Helvetica Neue"/>
              <a:cs typeface="Helvetica Neue"/>
              <a:sym typeface="Helvetica Neue"/>
            </a:endParaRPr>
          </a:p>
          <a:p>
            <a:pPr indent="0" lvl="0" marL="469900" marR="0" rtl="0" algn="l">
              <a:lnSpc>
                <a:spcPct val="100000"/>
              </a:lnSpc>
              <a:spcBef>
                <a:spcPts val="5"/>
              </a:spcBef>
              <a:spcAft>
                <a:spcPts val="0"/>
              </a:spcAft>
              <a:buNone/>
            </a:pPr>
            <a:r>
              <a:rPr lang="en-US" sz="2200">
                <a:solidFill>
                  <a:schemeClr val="dk1"/>
                </a:solidFill>
                <a:latin typeface="Helvetica Neue"/>
                <a:ea typeface="Helvetica Neue"/>
                <a:cs typeface="Helvetica Neue"/>
                <a:sym typeface="Helvetica Neue"/>
              </a:rPr>
              <a:t>certificat normalisé X509.</a:t>
            </a:r>
            <a:endParaRPr sz="2200">
              <a:solidFill>
                <a:schemeClr val="dk1"/>
              </a:solidFill>
              <a:latin typeface="Helvetica Neue"/>
              <a:ea typeface="Helvetica Neue"/>
              <a:cs typeface="Helvetica Neue"/>
              <a:sym typeface="Helvetica Neue"/>
            </a:endParaRPr>
          </a:p>
          <a:p>
            <a:pPr indent="-457200" lvl="0" marL="469900" marR="5080" rtl="0" algn="just">
              <a:lnSpc>
                <a:spcPct val="100000"/>
              </a:lnSpc>
              <a:spcBef>
                <a:spcPts val="1200"/>
              </a:spcBef>
              <a:spcAft>
                <a:spcPts val="0"/>
              </a:spcAft>
              <a:buClr>
                <a:srgbClr val="C00000"/>
              </a:buClr>
              <a:buSzPts val="4100"/>
              <a:buFont typeface="Helvetica Neue"/>
              <a:buChar char="•"/>
            </a:pPr>
            <a:r>
              <a:rPr lang="en-US" sz="2200">
                <a:solidFill>
                  <a:schemeClr val="dk1"/>
                </a:solidFill>
                <a:latin typeface="Helvetica Neue"/>
                <a:ea typeface="Helvetica Neue"/>
                <a:cs typeface="Helvetica Neue"/>
                <a:sym typeface="Helvetica Neue"/>
              </a:rPr>
              <a:t>Le support des mécanismes de gestion des droits et  privilèges ( BD de gestions des droits, Annuaires).</a:t>
            </a:r>
            <a:endParaRPr sz="2200">
              <a:solidFill>
                <a:schemeClr val="dk1"/>
              </a:solidFill>
              <a:latin typeface="Helvetica Neue"/>
              <a:ea typeface="Helvetica Neue"/>
              <a:cs typeface="Helvetica Neue"/>
              <a:sym typeface="Helvetica Neue"/>
            </a:endParaRPr>
          </a:p>
          <a:p>
            <a:pPr indent="-457200" lvl="0" marL="469900" marR="0" rtl="0" algn="l">
              <a:lnSpc>
                <a:spcPct val="100000"/>
              </a:lnSpc>
              <a:spcBef>
                <a:spcPts val="1200"/>
              </a:spcBef>
              <a:spcAft>
                <a:spcPts val="0"/>
              </a:spcAft>
              <a:buClr>
                <a:srgbClr val="C00000"/>
              </a:buClr>
              <a:buSzPts val="4100"/>
              <a:buFont typeface="Helvetica Neue"/>
              <a:buChar char="•"/>
            </a:pPr>
            <a:r>
              <a:rPr lang="en-US" sz="2200">
                <a:solidFill>
                  <a:schemeClr val="dk1"/>
                </a:solidFill>
                <a:latin typeface="Helvetica Neue"/>
                <a:ea typeface="Helvetica Neue"/>
                <a:cs typeface="Helvetica Neue"/>
                <a:sym typeface="Helvetica Neue"/>
              </a:rPr>
              <a:t>La	compatibilité	avec	les	applications	majeures	de	sécurité</a:t>
            </a:r>
            <a:endParaRPr sz="2200">
              <a:solidFill>
                <a:schemeClr val="dk1"/>
              </a:solidFill>
              <a:latin typeface="Helvetica Neue"/>
              <a:ea typeface="Helvetica Neue"/>
              <a:cs typeface="Helvetica Neue"/>
              <a:sym typeface="Helvetica Neue"/>
            </a:endParaRPr>
          </a:p>
          <a:p>
            <a:pPr indent="0" lvl="0" marL="469900" marR="0" rtl="0" algn="l">
              <a:lnSpc>
                <a:spcPct val="100000"/>
              </a:lnSpc>
              <a:spcBef>
                <a:spcPts val="0"/>
              </a:spcBef>
              <a:spcAft>
                <a:spcPts val="0"/>
              </a:spcAft>
              <a:buNone/>
            </a:pPr>
            <a:r>
              <a:rPr lang="en-US" sz="2200">
                <a:solidFill>
                  <a:schemeClr val="dk1"/>
                </a:solidFill>
                <a:latin typeface="Helvetica Neue"/>
                <a:ea typeface="Helvetica Neue"/>
                <a:cs typeface="Helvetica Neue"/>
                <a:sym typeface="Helvetica Neue"/>
              </a:rPr>
              <a:t>(SSL, S/MiMe, IPSec, VPN…)</a:t>
            </a:r>
            <a:endParaRPr sz="2200">
              <a:solidFill>
                <a:schemeClr val="dk1"/>
              </a:solidFill>
              <a:latin typeface="Helvetica Neue"/>
              <a:ea typeface="Helvetica Neue"/>
              <a:cs typeface="Helvetica Neue"/>
              <a:sym typeface="Helvetica Neue"/>
            </a:endParaRPr>
          </a:p>
          <a:p>
            <a:pPr indent="-457200" lvl="0" marL="469900" marR="0" rtl="0" algn="l">
              <a:lnSpc>
                <a:spcPct val="100000"/>
              </a:lnSpc>
              <a:spcBef>
                <a:spcPts val="1200"/>
              </a:spcBef>
              <a:spcAft>
                <a:spcPts val="0"/>
              </a:spcAft>
              <a:buClr>
                <a:srgbClr val="C00000"/>
              </a:buClr>
              <a:buSzPts val="4100"/>
              <a:buFont typeface="Helvetica Neue"/>
              <a:buChar char="•"/>
            </a:pPr>
            <a:r>
              <a:rPr lang="en-US" sz="2200">
                <a:solidFill>
                  <a:schemeClr val="dk1"/>
                </a:solidFill>
                <a:latin typeface="Helvetica Neue"/>
                <a:ea typeface="Helvetica Neue"/>
                <a:cs typeface="Helvetica Neue"/>
                <a:sym typeface="Helvetica Neue"/>
              </a:rPr>
              <a:t>Le plus important : La PKI agit en tiers de confiance en se</a:t>
            </a:r>
            <a:endParaRPr sz="2200">
              <a:solidFill>
                <a:schemeClr val="dk1"/>
              </a:solidFill>
              <a:latin typeface="Helvetica Neue"/>
              <a:ea typeface="Helvetica Neue"/>
              <a:cs typeface="Helvetica Neue"/>
              <a:sym typeface="Helvetica Neue"/>
            </a:endParaRPr>
          </a:p>
          <a:p>
            <a:pPr indent="0" lvl="0" marL="469900" marR="0" rtl="0" algn="l">
              <a:lnSpc>
                <a:spcPct val="100000"/>
              </a:lnSpc>
              <a:spcBef>
                <a:spcPts val="5"/>
              </a:spcBef>
              <a:spcAft>
                <a:spcPts val="0"/>
              </a:spcAft>
              <a:buNone/>
            </a:pPr>
            <a:r>
              <a:rPr lang="en-US" sz="2200">
                <a:solidFill>
                  <a:schemeClr val="dk1"/>
                </a:solidFill>
                <a:latin typeface="Helvetica Neue"/>
                <a:ea typeface="Helvetica Neue"/>
                <a:cs typeface="Helvetica Neue"/>
                <a:sym typeface="Helvetica Neue"/>
              </a:rPr>
              <a:t>portant garant de l’identité du titulaire du certificat.</a:t>
            </a:r>
            <a:endParaRPr sz="2200">
              <a:solidFill>
                <a:schemeClr val="dk1"/>
              </a:solidFill>
              <a:latin typeface="Helvetica Neue"/>
              <a:ea typeface="Helvetica Neue"/>
              <a:cs typeface="Helvetica Neue"/>
              <a:sym typeface="Helvetica Neue"/>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3"/>
          <p:cNvSpPr txBox="1"/>
          <p:nvPr>
            <p:ph type="title"/>
          </p:nvPr>
        </p:nvSpPr>
        <p:spPr>
          <a:xfrm>
            <a:off x="2569270" y="2637399"/>
            <a:ext cx="3374331" cy="628377"/>
          </a:xfrm>
          <a:prstGeom prst="rect">
            <a:avLst/>
          </a:prstGeom>
          <a:noFill/>
          <a:ln>
            <a:noFill/>
          </a:ln>
        </p:spPr>
        <p:txBody>
          <a:bodyPr anchorCtr="0" anchor="ctr" bIns="0" lIns="0" spcFirstLastPara="1" rIns="0" wrap="square" tIns="12700">
            <a:spAutoFit/>
          </a:bodyPr>
          <a:lstStyle/>
          <a:p>
            <a:pPr indent="0" lvl="0" marL="12700" rtl="0" algn="ctr">
              <a:lnSpc>
                <a:spcPct val="100000"/>
              </a:lnSpc>
              <a:spcBef>
                <a:spcPts val="0"/>
              </a:spcBef>
              <a:spcAft>
                <a:spcPts val="0"/>
              </a:spcAft>
              <a:buClr>
                <a:srgbClr val="FF0000"/>
              </a:buClr>
              <a:buSzPts val="4000"/>
              <a:buFont typeface="Trebuchet MS"/>
              <a:buNone/>
            </a:pPr>
            <a:r>
              <a:rPr lang="en-US" sz="4000">
                <a:solidFill>
                  <a:srgbClr val="FF0000"/>
                </a:solidFill>
              </a:rPr>
              <a:t>Fin chapitre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g22de8b950d3_0_0"/>
          <p:cNvSpPr txBox="1"/>
          <p:nvPr>
            <p:ph type="title"/>
          </p:nvPr>
        </p:nvSpPr>
        <p:spPr>
          <a:xfrm>
            <a:off x="628650" y="3525177"/>
            <a:ext cx="7886700" cy="13257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r>
              <a:rPr lang="en-US" sz="5100"/>
              <a:t>CC1M12312023</a:t>
            </a:r>
            <a:endParaRPr sz="5100"/>
          </a:p>
        </p:txBody>
      </p:sp>
      <p:sp>
        <p:nvSpPr>
          <p:cNvPr id="556" name="Google Shape;556;g22de8b950d3_0_0"/>
          <p:cNvSpPr txBox="1"/>
          <p:nvPr>
            <p:ph idx="12" type="sldNum"/>
          </p:nvPr>
        </p:nvSpPr>
        <p:spPr>
          <a:xfrm>
            <a:off x="6457950" y="6356353"/>
            <a:ext cx="2057400" cy="365100"/>
          </a:xfrm>
          <a:prstGeom prst="rect">
            <a:avLst/>
          </a:prstGeom>
        </p:spPr>
        <p:txBody>
          <a:bodyPr anchorCtr="0" anchor="ctr" bIns="0" lIns="0" spcFirstLastPara="1" rIns="0" wrap="square" tIns="0">
            <a:no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2022-09-19T09:26:53Z</dcterms:created>
  <dc:creator>HAROUN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2022-04-15T00:00:00Z</vt:filetime>
  </property>
  <property fmtid="{D5CDD505-2E9C-101B-9397-08002B2CF9AE}" pid="3" name="Creator">
    <vt:lpwstr>Microsoft® PowerPoint® 2010</vt:lpwstr>
  </property>
  <property fmtid="{D5CDD505-2E9C-101B-9397-08002B2CF9AE}" pid="4" name="LastSaved">
    <vt:filetime>2022-09-19T00:00:00Z</vt:filetime>
  </property>
</Properties>
</file>