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http://customooxmlschemas.google.com/">
      <go:slidesCustomData xmlns:go="http://customooxmlschemas.google.com/" r:id="rId41" roundtripDataSignature="AMtx7mjxxrqMJbkzLj3sO+bG06TA1wSz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1" Type="http://customschemas.google.com/relationships/presentationmetadata" Target="meta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318" name="Google Shape;318;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27" name="Shape 27"/>
        <p:cNvGrpSpPr/>
        <p:nvPr/>
      </p:nvGrpSpPr>
      <p:grpSpPr>
        <a:xfrm>
          <a:off x="0" y="0"/>
          <a:ext cx="0" cy="0"/>
          <a:chOff x="0" y="0"/>
          <a:chExt cx="0" cy="0"/>
        </a:xfrm>
      </p:grpSpPr>
      <p:sp>
        <p:nvSpPr>
          <p:cNvPr id="28" name="Google Shape;28;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3" name="Shape 33"/>
        <p:cNvGrpSpPr/>
        <p:nvPr/>
      </p:nvGrpSpPr>
      <p:grpSpPr>
        <a:xfrm>
          <a:off x="0" y="0"/>
          <a:ext cx="0" cy="0"/>
          <a:chOff x="0" y="0"/>
          <a:chExt cx="0" cy="0"/>
        </a:xfrm>
      </p:grpSpPr>
      <p:sp>
        <p:nvSpPr>
          <p:cNvPr id="34" name="Google Shape;3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0" name="Shape 40"/>
        <p:cNvGrpSpPr/>
        <p:nvPr/>
      </p:nvGrpSpPr>
      <p:grpSpPr>
        <a:xfrm>
          <a:off x="0" y="0"/>
          <a:ext cx="0" cy="0"/>
          <a:chOff x="0" y="0"/>
          <a:chExt cx="0" cy="0"/>
        </a:xfrm>
      </p:grpSpPr>
      <p:sp>
        <p:nvSpPr>
          <p:cNvPr id="41" name="Google Shape;41;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49" name="Shape 49"/>
        <p:cNvGrpSpPr/>
        <p:nvPr/>
      </p:nvGrpSpPr>
      <p:grpSpPr>
        <a:xfrm>
          <a:off x="0" y="0"/>
          <a:ext cx="0" cy="0"/>
          <a:chOff x="0" y="0"/>
          <a:chExt cx="0" cy="0"/>
        </a:xfrm>
      </p:grpSpPr>
      <p:sp>
        <p:nvSpPr>
          <p:cNvPr id="50" name="Google Shape;50;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5"/>
          <p:cNvSpPr/>
          <p:nvPr>
            <p:ph idx="2" type="pic"/>
          </p:nvPr>
        </p:nvSpPr>
        <p:spPr>
          <a:xfrm>
            <a:off x="5183188" y="987425"/>
            <a:ext cx="6172200" cy="4873625"/>
          </a:xfrm>
          <a:prstGeom prst="rect">
            <a:avLst/>
          </a:prstGeom>
          <a:noFill/>
          <a:ln>
            <a:noFill/>
          </a:ln>
        </p:spPr>
      </p:sp>
      <p:sp>
        <p:nvSpPr>
          <p:cNvPr id="68" name="Google Shape;68;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9.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86531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50000"/>
              </a:lnSpc>
              <a:spcBef>
                <a:spcPts val="0"/>
              </a:spcBef>
              <a:spcAft>
                <a:spcPts val="0"/>
              </a:spcAft>
              <a:buClr>
                <a:srgbClr val="C00000"/>
              </a:buClr>
              <a:buSzPct val="100000"/>
              <a:buFont typeface="Calibri"/>
              <a:buNone/>
            </a:pPr>
            <a:r>
              <a:rPr b="1" lang="fr-FR">
                <a:solidFill>
                  <a:srgbClr val="C00000"/>
                </a:solidFill>
              </a:rPr>
              <a:t>Chapitre 2: Les principales attaques réseau</a:t>
            </a:r>
            <a:endParaRPr b="1">
              <a:solidFill>
                <a:srgbClr val="C00000"/>
              </a:solidFill>
            </a:endParaRPr>
          </a:p>
        </p:txBody>
      </p:sp>
      <p:sp>
        <p:nvSpPr>
          <p:cNvPr id="89" name="Google Shape;89;p1"/>
          <p:cNvSpPr txBox="1"/>
          <p:nvPr>
            <p:ph idx="1" type="subTitle"/>
          </p:nvPr>
        </p:nvSpPr>
        <p:spPr>
          <a:xfrm>
            <a:off x="1524000" y="4797792"/>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fr-FR">
                <a:latin typeface="Times New Roman"/>
                <a:ea typeface="Times New Roman"/>
                <a:cs typeface="Times New Roman"/>
                <a:sym typeface="Times New Roman"/>
              </a:rPr>
              <a:t>4</a:t>
            </a:r>
            <a:r>
              <a:rPr baseline="30000" lang="fr-FR">
                <a:latin typeface="Times New Roman"/>
                <a:ea typeface="Times New Roman"/>
                <a:cs typeface="Times New Roman"/>
                <a:sym typeface="Times New Roman"/>
              </a:rPr>
              <a:t>ème</a:t>
            </a:r>
            <a:r>
              <a:rPr lang="fr-FR">
                <a:latin typeface="Times New Roman"/>
                <a:ea typeface="Times New Roman"/>
                <a:cs typeface="Times New Roman"/>
                <a:sym typeface="Times New Roman"/>
              </a:rPr>
              <a:t> Année</a:t>
            </a:r>
            <a:endParaRPr/>
          </a:p>
          <a:p>
            <a:pPr indent="0" lvl="0" marL="0" rtl="0" algn="ctr">
              <a:lnSpc>
                <a:spcPct val="90000"/>
              </a:lnSpc>
              <a:spcBef>
                <a:spcPts val="1000"/>
              </a:spcBef>
              <a:spcAft>
                <a:spcPts val="0"/>
              </a:spcAft>
              <a:buClr>
                <a:schemeClr val="dk1"/>
              </a:buClr>
              <a:buSzPts val="2000"/>
              <a:buNone/>
            </a:pPr>
            <a:r>
              <a:rPr lang="fr-FR">
                <a:latin typeface="Times New Roman"/>
                <a:ea typeface="Times New Roman"/>
                <a:cs typeface="Times New Roman"/>
                <a:sym typeface="Times New Roman"/>
              </a:rPr>
              <a:t>Esprit 2022/2023</a:t>
            </a:r>
            <a:endParaRPr/>
          </a:p>
          <a:p>
            <a:pPr indent="0" lvl="0" marL="0" rtl="0" algn="ctr">
              <a:lnSpc>
                <a:spcPct val="90000"/>
              </a:lnSpc>
              <a:spcBef>
                <a:spcPts val="1000"/>
              </a:spcBef>
              <a:spcAft>
                <a:spcPts val="0"/>
              </a:spcAft>
              <a:buClr>
                <a:schemeClr val="dk1"/>
              </a:buClr>
              <a:buSzPts val="2400"/>
              <a:buNone/>
            </a:pPr>
            <a:r>
              <a:t/>
            </a:r>
            <a:endParaRPr/>
          </a:p>
        </p:txBody>
      </p:sp>
      <p:sp>
        <p:nvSpPr>
          <p:cNvPr id="90" name="Google Shape;90;p1"/>
          <p:cNvSpPr txBox="1"/>
          <p:nvPr/>
        </p:nvSpPr>
        <p:spPr>
          <a:xfrm>
            <a:off x="3848100" y="914400"/>
            <a:ext cx="30656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FR" sz="1800" u="none" cap="none" strike="noStrike">
                <a:solidFill>
                  <a:srgbClr val="C00000"/>
                </a:solidFill>
                <a:latin typeface="Calibri"/>
                <a:ea typeface="Calibri"/>
                <a:cs typeface="Calibri"/>
                <a:sym typeface="Calibri"/>
              </a:rPr>
              <a:t>Module Sécurité Informatique </a:t>
            </a:r>
            <a:endParaRPr sz="1800">
              <a:solidFill>
                <a:srgbClr val="C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Objectifs </a:t>
            </a:r>
            <a:endParaRPr b="1">
              <a:solidFill>
                <a:srgbClr val="C00000"/>
              </a:solidFill>
            </a:endParaRPr>
          </a:p>
        </p:txBody>
      </p:sp>
      <p:sp>
        <p:nvSpPr>
          <p:cNvPr id="96" name="Google Shape;96;p2"/>
          <p:cNvSpPr txBox="1"/>
          <p:nvPr>
            <p:ph idx="1" type="body"/>
          </p:nvPr>
        </p:nvSpPr>
        <p:spPr>
          <a:xfrm>
            <a:off x="838200" y="1825625"/>
            <a:ext cx="1118235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800"/>
              <a:buChar char="•"/>
            </a:pPr>
            <a:r>
              <a:rPr lang="fr-FR"/>
              <a:t>Décrire l’évolution de la sécurité des réseaux</a:t>
            </a:r>
            <a:endParaRPr/>
          </a:p>
          <a:p>
            <a:pPr indent="-228600" lvl="0" marL="228600" rtl="0" algn="l">
              <a:lnSpc>
                <a:spcPct val="150000"/>
              </a:lnSpc>
              <a:spcBef>
                <a:spcPts val="1000"/>
              </a:spcBef>
              <a:spcAft>
                <a:spcPts val="0"/>
              </a:spcAft>
              <a:buClr>
                <a:schemeClr val="dk1"/>
              </a:buClr>
              <a:buSzPts val="2800"/>
              <a:buChar char="•"/>
            </a:pPr>
            <a:r>
              <a:rPr lang="fr-FR"/>
              <a:t>Décrire une stratégie de sécurité réseau</a:t>
            </a:r>
            <a:endParaRPr/>
          </a:p>
          <a:p>
            <a:pPr indent="-228600" lvl="0" marL="228600" rtl="0" algn="l">
              <a:lnSpc>
                <a:spcPct val="150000"/>
              </a:lnSpc>
              <a:spcBef>
                <a:spcPts val="1000"/>
              </a:spcBef>
              <a:spcAft>
                <a:spcPts val="0"/>
              </a:spcAft>
              <a:buClr>
                <a:schemeClr val="dk1"/>
              </a:buClr>
              <a:buSzPts val="2800"/>
              <a:buChar char="•"/>
            </a:pPr>
            <a:r>
              <a:rPr lang="fr-FR"/>
              <a:t>Expliquer les attaques de reconnaissance, d’accès et par déni de service</a:t>
            </a:r>
            <a:endParaRPr/>
          </a:p>
          <a:p>
            <a:pPr indent="-228600" lvl="0" marL="228600" rtl="0" algn="l">
              <a:lnSpc>
                <a:spcPct val="150000"/>
              </a:lnSpc>
              <a:spcBef>
                <a:spcPts val="1000"/>
              </a:spcBef>
              <a:spcAft>
                <a:spcPts val="0"/>
              </a:spcAft>
              <a:buClr>
                <a:schemeClr val="dk1"/>
              </a:buClr>
              <a:buSzPts val="2800"/>
              <a:buChar char="•"/>
            </a:pPr>
            <a:r>
              <a:rPr lang="fr-FR"/>
              <a:t>Décrire les techniques utilisées pour atténuer ces attaques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PLAN </a:t>
            </a:r>
            <a:endParaRPr>
              <a:solidFill>
                <a:srgbClr val="C00000"/>
              </a:solidFill>
            </a:endParaRPr>
          </a:p>
        </p:txBody>
      </p:sp>
      <p:sp>
        <p:nvSpPr>
          <p:cNvPr id="102" name="Google Shape;102;p3"/>
          <p:cNvSpPr txBox="1"/>
          <p:nvPr>
            <p:ph idx="1" type="body"/>
          </p:nvPr>
        </p:nvSpPr>
        <p:spPr>
          <a:xfrm>
            <a:off x="2495550" y="1881187"/>
            <a:ext cx="11620500" cy="4595813"/>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chemeClr val="dk1"/>
              </a:buClr>
              <a:buSzPts val="2800"/>
              <a:buChar char="•"/>
            </a:pPr>
            <a:r>
              <a:rPr lang="fr-FR"/>
              <a:t>Evolution des menaces de la sécurité</a:t>
            </a:r>
            <a:endParaRPr/>
          </a:p>
          <a:p>
            <a:pPr indent="-228600" lvl="0" marL="228600" rtl="0" algn="just">
              <a:lnSpc>
                <a:spcPct val="150000"/>
              </a:lnSpc>
              <a:spcBef>
                <a:spcPts val="1000"/>
              </a:spcBef>
              <a:spcAft>
                <a:spcPts val="0"/>
              </a:spcAft>
              <a:buClr>
                <a:schemeClr val="dk1"/>
              </a:buClr>
              <a:buSzPts val="2800"/>
              <a:buChar char="•"/>
            </a:pPr>
            <a:r>
              <a:rPr lang="fr-FR"/>
              <a:t>Les attaquants réseau </a:t>
            </a:r>
            <a:endParaRPr/>
          </a:p>
          <a:p>
            <a:pPr indent="-228600" lvl="0" marL="228600" rtl="0" algn="just">
              <a:lnSpc>
                <a:spcPct val="150000"/>
              </a:lnSpc>
              <a:spcBef>
                <a:spcPts val="1000"/>
              </a:spcBef>
              <a:spcAft>
                <a:spcPts val="0"/>
              </a:spcAft>
              <a:buClr>
                <a:schemeClr val="dk1"/>
              </a:buClr>
              <a:buSzPts val="2800"/>
              <a:buChar char="•"/>
            </a:pPr>
            <a:r>
              <a:rPr lang="fr-FR"/>
              <a:t>Types des attaques réseau</a:t>
            </a:r>
            <a:endParaRPr/>
          </a:p>
          <a:p>
            <a:pPr indent="-228600" lvl="0" marL="228600" rtl="0" algn="just">
              <a:lnSpc>
                <a:spcPct val="150000"/>
              </a:lnSpc>
              <a:spcBef>
                <a:spcPts val="1000"/>
              </a:spcBef>
              <a:spcAft>
                <a:spcPts val="0"/>
              </a:spcAft>
              <a:buClr>
                <a:schemeClr val="dk1"/>
              </a:buClr>
              <a:buSzPts val="2800"/>
              <a:buChar char="•"/>
            </a:pPr>
            <a:r>
              <a:rPr lang="fr-FR"/>
              <a:t>Atténuation des attaques </a:t>
            </a:r>
            <a:endParaRPr/>
          </a:p>
          <a:p>
            <a:pPr indent="-228600" lvl="0" marL="228600" rtl="0" algn="just">
              <a:lnSpc>
                <a:spcPct val="150000"/>
              </a:lnSpc>
              <a:spcBef>
                <a:spcPts val="1000"/>
              </a:spcBef>
              <a:spcAft>
                <a:spcPts val="0"/>
              </a:spcAft>
              <a:buClr>
                <a:schemeClr val="dk1"/>
              </a:buClr>
              <a:buSzPts val="2800"/>
              <a:buChar char="•"/>
            </a:pPr>
            <a:r>
              <a:rPr lang="fr-FR"/>
              <a:t>Les 10 bonnes pratiques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PLAN </a:t>
            </a:r>
            <a:endParaRPr>
              <a:solidFill>
                <a:srgbClr val="C00000"/>
              </a:solidFill>
            </a:endParaRPr>
          </a:p>
        </p:txBody>
      </p:sp>
      <p:sp>
        <p:nvSpPr>
          <p:cNvPr id="108" name="Google Shape;108;p4"/>
          <p:cNvSpPr/>
          <p:nvPr/>
        </p:nvSpPr>
        <p:spPr>
          <a:xfrm>
            <a:off x="2057400" y="2083593"/>
            <a:ext cx="7848600" cy="533400"/>
          </a:xfrm>
          <a:prstGeom prst="rect">
            <a:avLst/>
          </a:prstGeom>
          <a:solidFill>
            <a:srgbClr val="FF0000">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4"/>
          <p:cNvSpPr txBox="1"/>
          <p:nvPr/>
        </p:nvSpPr>
        <p:spPr>
          <a:xfrm>
            <a:off x="2495550" y="1881187"/>
            <a:ext cx="11620500" cy="4595813"/>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Evolution des menaces de la sécurité</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attaquants réseau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Types des attaques réseau</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Atténuation des attaques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10 bonnes pratiques </a:t>
            </a:r>
            <a:endParaRPr sz="2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1344637"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3600"/>
              <a:buFont typeface="Calibri"/>
              <a:buNone/>
            </a:pPr>
            <a:r>
              <a:rPr b="1" lang="fr-FR" sz="3600">
                <a:solidFill>
                  <a:srgbClr val="C00000"/>
                </a:solidFill>
              </a:rPr>
              <a:t>Évolution des menaces de la sécurité 1/2</a:t>
            </a:r>
            <a:endParaRPr b="1" sz="3600">
              <a:solidFill>
                <a:srgbClr val="C00000"/>
              </a:solidFill>
            </a:endParaRPr>
          </a:p>
        </p:txBody>
      </p:sp>
      <p:sp>
        <p:nvSpPr>
          <p:cNvPr id="115" name="Google Shape;115;p5"/>
          <p:cNvSpPr txBox="1"/>
          <p:nvPr>
            <p:ph idx="1" type="body"/>
          </p:nvPr>
        </p:nvSpPr>
        <p:spPr>
          <a:xfrm>
            <a:off x="0" y="1570792"/>
            <a:ext cx="825958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Char char="•"/>
            </a:pPr>
            <a:r>
              <a:rPr lang="fr-FR" sz="2000"/>
              <a:t>Les premiers utilisateurs d’Internet avaient très peu de menace comparé à ces temps-ci.</a:t>
            </a:r>
            <a:endParaRPr/>
          </a:p>
          <a:p>
            <a:pPr indent="-228600" lvl="0" marL="228600" rtl="0" algn="just">
              <a:lnSpc>
                <a:spcPct val="90000"/>
              </a:lnSpc>
              <a:spcBef>
                <a:spcPts val="1000"/>
              </a:spcBef>
              <a:spcAft>
                <a:spcPts val="0"/>
              </a:spcAft>
              <a:buClr>
                <a:schemeClr val="dk1"/>
              </a:buClr>
              <a:buSzPts val="2000"/>
              <a:buChar char="•"/>
            </a:pPr>
            <a:r>
              <a:rPr lang="fr-FR" sz="2000"/>
              <a:t>Les attaques sont de plus en plus sophistiquées grâce aux outils disponibles</a:t>
            </a:r>
            <a:endParaRPr/>
          </a:p>
          <a:p>
            <a:pPr indent="-228600" lvl="0" marL="228600" rtl="0" algn="just">
              <a:lnSpc>
                <a:spcPct val="90000"/>
              </a:lnSpc>
              <a:spcBef>
                <a:spcPts val="1000"/>
              </a:spcBef>
              <a:spcAft>
                <a:spcPts val="0"/>
              </a:spcAft>
              <a:buClr>
                <a:schemeClr val="dk1"/>
              </a:buClr>
              <a:buSzPts val="2000"/>
              <a:buChar char="•"/>
            </a:pPr>
            <a:r>
              <a:rPr lang="fr-FR" sz="2000"/>
              <a:t>Aujourd’hui, Internet est un réseau très différent de ses débuts.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6" name="Google Shape;116;p5"/>
          <p:cNvPicPr preferRelativeResize="0"/>
          <p:nvPr/>
        </p:nvPicPr>
        <p:blipFill rotWithShape="1">
          <a:blip r:embed="rId3">
            <a:alphaModFix/>
          </a:blip>
          <a:srcRect b="0" l="0" r="0" t="0"/>
          <a:stretch/>
        </p:blipFill>
        <p:spPr>
          <a:xfrm>
            <a:off x="5809124" y="3404710"/>
            <a:ext cx="3853144" cy="3453290"/>
          </a:xfrm>
          <a:prstGeom prst="rect">
            <a:avLst/>
          </a:prstGeom>
          <a:noFill/>
          <a:ln>
            <a:noFill/>
          </a:ln>
        </p:spPr>
      </p:pic>
      <p:pic>
        <p:nvPicPr>
          <p:cNvPr descr="Attack-sophistication-vs-intruder-technical-knowledge.png" id="117" name="Google Shape;117;p5"/>
          <p:cNvPicPr preferRelativeResize="0"/>
          <p:nvPr/>
        </p:nvPicPr>
        <p:blipFill rotWithShape="1">
          <a:blip r:embed="rId4">
            <a:alphaModFix/>
          </a:blip>
          <a:srcRect b="0" l="0" r="0" t="0"/>
          <a:stretch/>
        </p:blipFill>
        <p:spPr>
          <a:xfrm>
            <a:off x="533399" y="3144401"/>
            <a:ext cx="5152873" cy="3713599"/>
          </a:xfrm>
          <a:prstGeom prst="rect">
            <a:avLst/>
          </a:prstGeom>
          <a:noFill/>
          <a:ln>
            <a:noFill/>
          </a:ln>
        </p:spPr>
      </p:pic>
      <p:pic>
        <p:nvPicPr>
          <p:cNvPr id="118" name="Google Shape;118;p5"/>
          <p:cNvPicPr preferRelativeResize="0"/>
          <p:nvPr/>
        </p:nvPicPr>
        <p:blipFill rotWithShape="1">
          <a:blip r:embed="rId5">
            <a:alphaModFix/>
          </a:blip>
          <a:srcRect b="0" l="0" r="0" t="0"/>
          <a:stretch/>
        </p:blipFill>
        <p:spPr>
          <a:xfrm>
            <a:off x="8169637" y="1342081"/>
            <a:ext cx="3940162" cy="36271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121802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000"/>
              <a:buFont typeface="Calibri"/>
              <a:buNone/>
            </a:pPr>
            <a:r>
              <a:rPr b="1" lang="fr-FR" sz="4000">
                <a:solidFill>
                  <a:srgbClr val="C00000"/>
                </a:solidFill>
              </a:rPr>
              <a:t>Évolution des menaces de la sécurité 2/2</a:t>
            </a:r>
            <a:endParaRPr b="1" sz="4000">
              <a:solidFill>
                <a:srgbClr val="C00000"/>
              </a:solidFill>
            </a:endParaRPr>
          </a:p>
        </p:txBody>
      </p:sp>
      <p:sp>
        <p:nvSpPr>
          <p:cNvPr id="124" name="Google Shape;124;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Les vecteurs des attaques réseau incluent :</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400"/>
              <a:buFont typeface="Noto Sans Symbols"/>
              <a:buChar char="🡪"/>
            </a:pPr>
            <a:r>
              <a:rPr b="1" lang="fr-FR" sz="2400"/>
              <a:t> Attaques internes</a:t>
            </a:r>
            <a:endParaRPr/>
          </a:p>
          <a:p>
            <a:pPr indent="-228600" lvl="0" marL="228600" rtl="0" algn="l">
              <a:lnSpc>
                <a:spcPct val="90000"/>
              </a:lnSpc>
              <a:spcBef>
                <a:spcPts val="1000"/>
              </a:spcBef>
              <a:spcAft>
                <a:spcPts val="0"/>
              </a:spcAft>
              <a:buClr>
                <a:schemeClr val="dk1"/>
              </a:buClr>
              <a:buSzPts val="2400"/>
              <a:buFont typeface="Noto Sans Symbols"/>
              <a:buChar char="🡪"/>
            </a:pPr>
            <a:r>
              <a:rPr b="1" lang="fr-FR" sz="2400"/>
              <a:t> Attaques externes</a:t>
            </a:r>
            <a:endParaRPr/>
          </a:p>
          <a:p>
            <a:pPr indent="0" lvl="0" marL="0" rtl="0" algn="l">
              <a:lnSpc>
                <a:spcPct val="90000"/>
              </a:lnSpc>
              <a:spcBef>
                <a:spcPts val="1000"/>
              </a:spcBef>
              <a:spcAft>
                <a:spcPts val="0"/>
              </a:spcAft>
              <a:buClr>
                <a:schemeClr val="dk1"/>
              </a:buClr>
              <a:buSzPts val="2400"/>
              <a:buNone/>
            </a:pPr>
            <a:r>
              <a:t/>
            </a:r>
            <a:endParaRPr b="1" sz="2400"/>
          </a:p>
          <a:p>
            <a:pPr indent="-228600" lvl="0" marL="228600" rtl="0" algn="l">
              <a:lnSpc>
                <a:spcPct val="90000"/>
              </a:lnSpc>
              <a:spcBef>
                <a:spcPts val="1000"/>
              </a:spcBef>
              <a:spcAft>
                <a:spcPts val="0"/>
              </a:spcAft>
              <a:buClr>
                <a:schemeClr val="dk1"/>
              </a:buClr>
              <a:buSzPts val="2400"/>
              <a:buFont typeface="Noto Sans Symbols"/>
              <a:buChar char="🡪"/>
            </a:pPr>
            <a:r>
              <a:rPr b="1" lang="fr-FR" sz="2400"/>
              <a:t>Attaques actives</a:t>
            </a:r>
            <a:endParaRPr/>
          </a:p>
          <a:p>
            <a:pPr indent="-228600" lvl="0" marL="228600" rtl="0" algn="l">
              <a:lnSpc>
                <a:spcPct val="90000"/>
              </a:lnSpc>
              <a:spcBef>
                <a:spcPts val="1000"/>
              </a:spcBef>
              <a:spcAft>
                <a:spcPts val="0"/>
              </a:spcAft>
              <a:buClr>
                <a:schemeClr val="dk1"/>
              </a:buClr>
              <a:buSzPts val="2400"/>
              <a:buFont typeface="Noto Sans Symbols"/>
              <a:buChar char="🡪"/>
            </a:pPr>
            <a:r>
              <a:rPr b="1" lang="fr-FR" sz="2400"/>
              <a:t>Attaques passives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25" name="Google Shape;125;p6"/>
          <p:cNvPicPr preferRelativeResize="0"/>
          <p:nvPr/>
        </p:nvPicPr>
        <p:blipFill rotWithShape="1">
          <a:blip r:embed="rId3">
            <a:alphaModFix/>
          </a:blip>
          <a:srcRect b="0" l="0" r="0" t="0"/>
          <a:stretch/>
        </p:blipFill>
        <p:spPr>
          <a:xfrm>
            <a:off x="4691735" y="2316075"/>
            <a:ext cx="6059392" cy="43750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PLAN </a:t>
            </a:r>
            <a:endParaRPr>
              <a:solidFill>
                <a:srgbClr val="C00000"/>
              </a:solidFill>
            </a:endParaRPr>
          </a:p>
        </p:txBody>
      </p:sp>
      <p:sp>
        <p:nvSpPr>
          <p:cNvPr id="131" name="Google Shape;131;p7"/>
          <p:cNvSpPr/>
          <p:nvPr/>
        </p:nvSpPr>
        <p:spPr>
          <a:xfrm>
            <a:off x="2171700" y="2826543"/>
            <a:ext cx="7848600" cy="533400"/>
          </a:xfrm>
          <a:prstGeom prst="rect">
            <a:avLst/>
          </a:prstGeom>
          <a:solidFill>
            <a:srgbClr val="FF0000">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2" name="Google Shape;132;p7"/>
          <p:cNvSpPr txBox="1"/>
          <p:nvPr/>
        </p:nvSpPr>
        <p:spPr>
          <a:xfrm>
            <a:off x="2495550" y="1881187"/>
            <a:ext cx="11620500" cy="4595813"/>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Evolution des menaces de la sécurité</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attaquants réseau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Types des attaques réseau</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Atténuation des attaques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10 bonnes pratiques </a:t>
            </a:r>
            <a:endParaRPr sz="2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1414975"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Les attaquants réseau 1/3</a:t>
            </a:r>
            <a:endParaRPr b="1">
              <a:solidFill>
                <a:srgbClr val="C00000"/>
              </a:solidFill>
            </a:endParaRPr>
          </a:p>
        </p:txBody>
      </p:sp>
      <p:sp>
        <p:nvSpPr>
          <p:cNvPr id="138" name="Google Shape;138;p8"/>
          <p:cNvSpPr txBox="1"/>
          <p:nvPr>
            <p:ph idx="1" type="body"/>
          </p:nvPr>
        </p:nvSpPr>
        <p:spPr>
          <a:xfrm>
            <a:off x="781050" y="15208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lnSpc>
                <a:spcPct val="150000"/>
              </a:lnSpc>
              <a:spcBef>
                <a:spcPts val="0"/>
              </a:spcBef>
              <a:spcAft>
                <a:spcPts val="0"/>
              </a:spcAft>
              <a:buClr>
                <a:schemeClr val="dk1"/>
              </a:buClr>
              <a:buSzPct val="100000"/>
              <a:buNone/>
            </a:pPr>
            <a:r>
              <a:rPr b="1" lang="fr-FR" sz="3200">
                <a:latin typeface="Arial"/>
                <a:ea typeface="Arial"/>
                <a:cs typeface="Arial"/>
                <a:sym typeface="Arial"/>
              </a:rPr>
              <a:t>The Hacker</a:t>
            </a:r>
            <a:endParaRPr b="1" sz="3200">
              <a:latin typeface="Arial"/>
              <a:ea typeface="Arial"/>
              <a:cs typeface="Arial"/>
              <a:sym typeface="Arial"/>
            </a:endParaRPr>
          </a:p>
          <a:p>
            <a:pPr indent="-228600" lvl="0" marL="228600" rtl="0" algn="just">
              <a:lnSpc>
                <a:spcPct val="150000"/>
              </a:lnSpc>
              <a:spcBef>
                <a:spcPts val="1000"/>
              </a:spcBef>
              <a:spcAft>
                <a:spcPts val="0"/>
              </a:spcAft>
              <a:buClr>
                <a:schemeClr val="dk1"/>
              </a:buClr>
              <a:buSzPct val="100000"/>
              <a:buChar char="•"/>
            </a:pPr>
            <a:r>
              <a:rPr lang="fr-FR" sz="2400"/>
              <a:t>Terme général qui a historiquement été utilisé pour décrire un expert en programmation informatique. </a:t>
            </a:r>
            <a:endParaRPr/>
          </a:p>
          <a:p>
            <a:pPr indent="-228600" lvl="0" marL="228600" rtl="0" algn="just">
              <a:lnSpc>
                <a:spcPct val="150000"/>
              </a:lnSpc>
              <a:spcBef>
                <a:spcPts val="1000"/>
              </a:spcBef>
              <a:spcAft>
                <a:spcPts val="0"/>
              </a:spcAft>
              <a:buClr>
                <a:schemeClr val="dk1"/>
              </a:buClr>
              <a:buSzPct val="100000"/>
              <a:buChar char="•"/>
            </a:pPr>
            <a:r>
              <a:rPr lang="fr-FR" sz="2400"/>
              <a:t>Les programmeurs Internet qui tentent d’obtenir un accès non autorisé aux appareils sur Internet. </a:t>
            </a:r>
            <a:endParaRPr/>
          </a:p>
          <a:p>
            <a:pPr indent="-228600" lvl="0" marL="228600" rtl="0" algn="just">
              <a:lnSpc>
                <a:spcPct val="150000"/>
              </a:lnSpc>
              <a:spcBef>
                <a:spcPts val="1000"/>
              </a:spcBef>
              <a:spcAft>
                <a:spcPts val="0"/>
              </a:spcAft>
              <a:buClr>
                <a:schemeClr val="dk1"/>
              </a:buClr>
              <a:buSzPct val="100000"/>
              <a:buChar char="•"/>
            </a:pPr>
            <a:r>
              <a:rPr lang="fr-FR" sz="2400"/>
              <a:t>Les personnes qui exécutent des programmes pour empêcher ou ralentir l’accès au réseau à un grand nombre d’utilisateurs, ou qui corrompent ou effacent des données sur les serveurs. </a:t>
            </a:r>
            <a:endParaRPr/>
          </a:p>
          <a:p>
            <a:pPr indent="-40639" lvl="0" marL="228600" rtl="0" algn="just">
              <a:lnSpc>
                <a:spcPct val="150000"/>
              </a:lnSpc>
              <a:spcBef>
                <a:spcPts val="1000"/>
              </a:spcBef>
              <a:spcAft>
                <a:spcPts val="0"/>
              </a:spcAft>
              <a:buClr>
                <a:schemeClr val="dk1"/>
              </a:buClr>
              <a:buSzPct val="100000"/>
              <a:buNone/>
            </a:pPr>
            <a:r>
              <a:t/>
            </a:r>
            <a:endParaRPr sz="3200"/>
          </a:p>
          <a:p>
            <a:pPr indent="0" lvl="0" marL="0" rtl="0" algn="just">
              <a:lnSpc>
                <a:spcPct val="150000"/>
              </a:lnSpc>
              <a:spcBef>
                <a:spcPts val="1000"/>
              </a:spcBef>
              <a:spcAft>
                <a:spcPts val="0"/>
              </a:spcAft>
              <a:buClr>
                <a:schemeClr val="dk1"/>
              </a:buClr>
              <a:buSzPct val="100000"/>
              <a:buNone/>
            </a:pPr>
            <a:r>
              <a:t/>
            </a:r>
            <a:endParaRPr sz="3200"/>
          </a:p>
        </p:txBody>
      </p:sp>
      <p:pic>
        <p:nvPicPr>
          <p:cNvPr id="139" name="Google Shape;139;p8"/>
          <p:cNvPicPr preferRelativeResize="0"/>
          <p:nvPr/>
        </p:nvPicPr>
        <p:blipFill rotWithShape="1">
          <a:blip r:embed="rId3">
            <a:alphaModFix/>
          </a:blip>
          <a:srcRect b="0" l="0" r="0" t="0"/>
          <a:stretch/>
        </p:blipFill>
        <p:spPr>
          <a:xfrm>
            <a:off x="8254017" y="4876800"/>
            <a:ext cx="3156932" cy="176379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9"/>
          <p:cNvSpPr txBox="1"/>
          <p:nvPr>
            <p:ph type="title"/>
          </p:nvPr>
        </p:nvSpPr>
        <p:spPr>
          <a:xfrm>
            <a:off x="1351963"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Les attaquants réseau 2/3</a:t>
            </a:r>
            <a:endParaRPr b="1">
              <a:solidFill>
                <a:srgbClr val="C00000"/>
              </a:solidFill>
            </a:endParaRPr>
          </a:p>
        </p:txBody>
      </p:sp>
      <p:sp>
        <p:nvSpPr>
          <p:cNvPr id="145" name="Google Shape;145;p9"/>
          <p:cNvSpPr txBox="1"/>
          <p:nvPr>
            <p:ph idx="1" type="body"/>
          </p:nvPr>
        </p:nvSpPr>
        <p:spPr>
          <a:xfrm>
            <a:off x="266699" y="1657350"/>
            <a:ext cx="9010651" cy="4519613"/>
          </a:xfrm>
          <a:prstGeom prst="rect">
            <a:avLst/>
          </a:prstGeom>
          <a:noFill/>
          <a:ln>
            <a:noFill/>
          </a:ln>
        </p:spPr>
        <p:txBody>
          <a:bodyPr anchorCtr="0" anchor="t" bIns="45700" lIns="91425" spcFirstLastPara="1" rIns="91425" wrap="square" tIns="45700">
            <a:noAutofit/>
          </a:bodyPr>
          <a:lstStyle/>
          <a:p>
            <a:pPr indent="0" lvl="0" marL="0" rtl="0" algn="just">
              <a:lnSpc>
                <a:spcPct val="90000"/>
              </a:lnSpc>
              <a:spcBef>
                <a:spcPts val="0"/>
              </a:spcBef>
              <a:spcAft>
                <a:spcPts val="0"/>
              </a:spcAft>
              <a:buClr>
                <a:schemeClr val="dk1"/>
              </a:buClr>
              <a:buSzPts val="3200"/>
              <a:buNone/>
            </a:pPr>
            <a:r>
              <a:rPr b="1" lang="fr-FR" sz="3200"/>
              <a:t>White Hat Hacker</a:t>
            </a:r>
            <a:endParaRPr/>
          </a:p>
          <a:p>
            <a:pPr indent="0" lvl="0" marL="0" rtl="0" algn="just">
              <a:lnSpc>
                <a:spcPct val="90000"/>
              </a:lnSpc>
              <a:spcBef>
                <a:spcPts val="1000"/>
              </a:spcBef>
              <a:spcAft>
                <a:spcPts val="0"/>
              </a:spcAft>
              <a:buClr>
                <a:schemeClr val="dk1"/>
              </a:buClr>
              <a:buSzPts val="2400"/>
              <a:buNone/>
            </a:pPr>
            <a:r>
              <a:rPr lang="fr-FR" sz="2400"/>
              <a:t>Terme utilisé pour décrire les personnes qui utilisent leurs capacités pour trouver des vulnérabilités dans les systèmes ou les réseaux, puis signalent ces vulnérabilités aux propriétaires du système afin qu’elles puissent être corrigées. </a:t>
            </a:r>
            <a:endParaRPr/>
          </a:p>
          <a:p>
            <a:pPr indent="0" lvl="0" marL="0" rtl="0" algn="just">
              <a:lnSpc>
                <a:spcPct val="90000"/>
              </a:lnSpc>
              <a:spcBef>
                <a:spcPts val="1000"/>
              </a:spcBef>
              <a:spcAft>
                <a:spcPts val="0"/>
              </a:spcAft>
              <a:buClr>
                <a:schemeClr val="dk1"/>
              </a:buClr>
              <a:buSzPts val="3200"/>
              <a:buNone/>
            </a:pPr>
            <a:r>
              <a:rPr b="1" lang="fr-FR" sz="3200"/>
              <a:t>Black Hat Hacker</a:t>
            </a:r>
            <a:endParaRPr/>
          </a:p>
          <a:p>
            <a:pPr indent="0" lvl="0" marL="0" rtl="0" algn="just">
              <a:lnSpc>
                <a:spcPct val="90000"/>
              </a:lnSpc>
              <a:spcBef>
                <a:spcPts val="1000"/>
              </a:spcBef>
              <a:spcAft>
                <a:spcPts val="0"/>
              </a:spcAft>
              <a:buClr>
                <a:schemeClr val="dk1"/>
              </a:buClr>
              <a:buSzPts val="2400"/>
              <a:buNone/>
            </a:pPr>
            <a:r>
              <a:rPr lang="fr-FR" sz="2400"/>
              <a:t>Terme pour les personnes qui utilisent leurs connaissances des systèmes informatiques et réseaux pour y pénétrer alors qu’elles ne sont pas autorisées à y accéder. </a:t>
            </a:r>
            <a:endParaRPr/>
          </a:p>
          <a:p>
            <a:pPr indent="0" lvl="0" marL="0" rtl="0" algn="just">
              <a:lnSpc>
                <a:spcPct val="90000"/>
              </a:lnSpc>
              <a:spcBef>
                <a:spcPts val="1000"/>
              </a:spcBef>
              <a:spcAft>
                <a:spcPts val="0"/>
              </a:spcAft>
              <a:buClr>
                <a:schemeClr val="dk1"/>
              </a:buClr>
              <a:buSzPts val="2400"/>
              <a:buNone/>
            </a:pPr>
            <a:r>
              <a:rPr b="1" lang="fr-FR" sz="2400"/>
              <a:t>D’autres Hackers : </a:t>
            </a:r>
            <a:r>
              <a:rPr lang="fr-FR" sz="2400"/>
              <a:t>Gray Hat Hackers, Script Kiddies, Green Hat Hackers, Blue Hat Hackers, Red Hat Hackers, State/Nation Sponsored Hackers, Hacktivist, Malicious insider or Whistleblower, </a:t>
            </a:r>
            <a:endParaRPr/>
          </a:p>
          <a:p>
            <a:pPr indent="0" lvl="0" marL="0" rtl="0" algn="just">
              <a:lnSpc>
                <a:spcPct val="90000"/>
              </a:lnSpc>
              <a:spcBef>
                <a:spcPts val="1000"/>
              </a:spcBef>
              <a:spcAft>
                <a:spcPts val="0"/>
              </a:spcAft>
              <a:buClr>
                <a:schemeClr val="dk1"/>
              </a:buClr>
              <a:buSzPts val="3200"/>
              <a:buNone/>
            </a:pPr>
            <a:r>
              <a:t/>
            </a:r>
            <a:endParaRPr b="1" sz="3200"/>
          </a:p>
          <a:p>
            <a:pPr indent="0" lvl="0" marL="0" rtl="0" algn="just">
              <a:lnSpc>
                <a:spcPct val="90000"/>
              </a:lnSpc>
              <a:spcBef>
                <a:spcPts val="1000"/>
              </a:spcBef>
              <a:spcAft>
                <a:spcPts val="0"/>
              </a:spcAft>
              <a:buClr>
                <a:schemeClr val="dk1"/>
              </a:buClr>
              <a:buSzPts val="3200"/>
              <a:buNone/>
            </a:pPr>
            <a:r>
              <a:t/>
            </a:r>
            <a:endParaRPr sz="3200"/>
          </a:p>
          <a:p>
            <a:pPr indent="0" lvl="0" marL="0" rtl="0" algn="just">
              <a:lnSpc>
                <a:spcPct val="90000"/>
              </a:lnSpc>
              <a:spcBef>
                <a:spcPts val="1000"/>
              </a:spcBef>
              <a:spcAft>
                <a:spcPts val="0"/>
              </a:spcAft>
              <a:buClr>
                <a:schemeClr val="dk1"/>
              </a:buClr>
              <a:buSzPts val="3200"/>
              <a:buNone/>
            </a:pPr>
            <a:r>
              <a:t/>
            </a:r>
            <a:endParaRPr sz="3200"/>
          </a:p>
        </p:txBody>
      </p:sp>
      <p:pic>
        <p:nvPicPr>
          <p:cNvPr descr="Afficher l’image source" id="146" name="Google Shape;146;p9"/>
          <p:cNvPicPr preferRelativeResize="0"/>
          <p:nvPr/>
        </p:nvPicPr>
        <p:blipFill rotWithShape="1">
          <a:blip r:embed="rId3">
            <a:alphaModFix/>
          </a:blip>
          <a:srcRect b="0" l="0" r="0" t="0"/>
          <a:stretch/>
        </p:blipFill>
        <p:spPr>
          <a:xfrm>
            <a:off x="9495448" y="1825625"/>
            <a:ext cx="2279136" cy="1853766"/>
          </a:xfrm>
          <a:prstGeom prst="rect">
            <a:avLst/>
          </a:prstGeom>
          <a:noFill/>
          <a:ln>
            <a:noFill/>
          </a:ln>
        </p:spPr>
      </p:pic>
      <p:pic>
        <p:nvPicPr>
          <p:cNvPr descr="Afficher l’image source" id="147" name="Google Shape;147;p9"/>
          <p:cNvPicPr preferRelativeResize="0"/>
          <p:nvPr/>
        </p:nvPicPr>
        <p:blipFill rotWithShape="1">
          <a:blip r:embed="rId4">
            <a:alphaModFix/>
          </a:blip>
          <a:srcRect b="0" l="0" r="0" t="0"/>
          <a:stretch/>
        </p:blipFill>
        <p:spPr>
          <a:xfrm>
            <a:off x="9495447" y="4063746"/>
            <a:ext cx="2279137" cy="20336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ph type="title"/>
          </p:nvPr>
        </p:nvSpPr>
        <p:spPr>
          <a:xfrm>
            <a:off x="1400907"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Les attaquants réseau 3/3</a:t>
            </a:r>
            <a:endParaRPr b="1">
              <a:solidFill>
                <a:srgbClr val="C00000"/>
              </a:solidFill>
            </a:endParaRPr>
          </a:p>
        </p:txBody>
      </p:sp>
      <p:sp>
        <p:nvSpPr>
          <p:cNvPr id="153" name="Google Shape;153;p10"/>
          <p:cNvSpPr txBox="1"/>
          <p:nvPr>
            <p:ph idx="1" type="body"/>
          </p:nvPr>
        </p:nvSpPr>
        <p:spPr>
          <a:xfrm>
            <a:off x="381001" y="914400"/>
            <a:ext cx="9563099" cy="5353050"/>
          </a:xfrm>
          <a:prstGeom prst="rect">
            <a:avLst/>
          </a:prstGeom>
          <a:noFill/>
          <a:ln>
            <a:noFill/>
          </a:ln>
        </p:spPr>
        <p:txBody>
          <a:bodyPr anchorCtr="0" anchor="t" bIns="45700" lIns="91425" spcFirstLastPara="1" rIns="91425" wrap="square" tIns="45700">
            <a:noAutofit/>
          </a:bodyPr>
          <a:lstStyle/>
          <a:p>
            <a:pPr indent="0" lvl="0" marL="0" rtl="0" algn="just">
              <a:lnSpc>
                <a:spcPct val="120000"/>
              </a:lnSpc>
              <a:spcBef>
                <a:spcPts val="0"/>
              </a:spcBef>
              <a:spcAft>
                <a:spcPts val="0"/>
              </a:spcAft>
              <a:buClr>
                <a:schemeClr val="dk1"/>
              </a:buClr>
              <a:buSzPts val="2000"/>
              <a:buNone/>
            </a:pPr>
            <a:r>
              <a:t/>
            </a:r>
            <a:endParaRPr sz="2000"/>
          </a:p>
          <a:p>
            <a:pPr indent="0" lvl="0" marL="0" rtl="0" algn="just">
              <a:lnSpc>
                <a:spcPct val="120000"/>
              </a:lnSpc>
              <a:spcBef>
                <a:spcPts val="1000"/>
              </a:spcBef>
              <a:spcAft>
                <a:spcPts val="0"/>
              </a:spcAft>
              <a:buClr>
                <a:schemeClr val="dk1"/>
              </a:buClr>
              <a:buSzPts val="3200"/>
              <a:buNone/>
            </a:pPr>
            <a:r>
              <a:rPr b="1" lang="fr-FR" sz="3200"/>
              <a:t>Spammer</a:t>
            </a:r>
            <a:endParaRPr b="1" sz="3200"/>
          </a:p>
          <a:p>
            <a:pPr indent="0" lvl="0" marL="0" rtl="0" algn="just">
              <a:lnSpc>
                <a:spcPct val="120000"/>
              </a:lnSpc>
              <a:spcBef>
                <a:spcPts val="1000"/>
              </a:spcBef>
              <a:spcAft>
                <a:spcPts val="0"/>
              </a:spcAft>
              <a:buClr>
                <a:schemeClr val="dk1"/>
              </a:buClr>
              <a:buSzPts val="2400"/>
              <a:buNone/>
            </a:pPr>
            <a:r>
              <a:rPr lang="fr-FR" sz="2400"/>
              <a:t>La personne qui envoie de grandes quantités de messages électroniques non sollicités. Les spammeurs ont parfois des objectifs commerciaux mais utilisent souvent des virus pour prendre le contrôle ou infecter des ordinateurs personnels afin d’envoyer leurs messages en masse. </a:t>
            </a:r>
            <a:endParaRPr/>
          </a:p>
          <a:p>
            <a:pPr indent="0" lvl="0" marL="0" rtl="0" algn="just">
              <a:lnSpc>
                <a:spcPct val="120000"/>
              </a:lnSpc>
              <a:spcBef>
                <a:spcPts val="1000"/>
              </a:spcBef>
              <a:spcAft>
                <a:spcPts val="0"/>
              </a:spcAft>
              <a:buClr>
                <a:schemeClr val="dk1"/>
              </a:buClr>
              <a:buSzPts val="3200"/>
              <a:buNone/>
            </a:pPr>
            <a:r>
              <a:rPr b="1" lang="fr-FR" sz="3200"/>
              <a:t>Phisher</a:t>
            </a:r>
            <a:endParaRPr b="1" sz="3200"/>
          </a:p>
          <a:p>
            <a:pPr indent="0" lvl="0" marL="0" rtl="0" algn="just">
              <a:lnSpc>
                <a:spcPct val="120000"/>
              </a:lnSpc>
              <a:spcBef>
                <a:spcPts val="1000"/>
              </a:spcBef>
              <a:spcAft>
                <a:spcPts val="0"/>
              </a:spcAft>
              <a:buClr>
                <a:schemeClr val="dk1"/>
              </a:buClr>
              <a:buSzPts val="2400"/>
              <a:buNone/>
            </a:pPr>
            <a:r>
              <a:rPr lang="fr-FR" sz="2400"/>
              <a:t>La personne qui utilise le courrier électronique ou d’autres moyens pour tenter d’inciter d’autres personnes à fournir des informations sensibles, telles que des numéros de carte de crédit ou des mots de passe. </a:t>
            </a:r>
            <a:endParaRPr/>
          </a:p>
          <a:p>
            <a:pPr indent="0" lvl="0" marL="0" rtl="0" algn="just">
              <a:lnSpc>
                <a:spcPct val="120000"/>
              </a:lnSpc>
              <a:spcBef>
                <a:spcPts val="1000"/>
              </a:spcBef>
              <a:spcAft>
                <a:spcPts val="0"/>
              </a:spcAft>
              <a:buClr>
                <a:schemeClr val="dk1"/>
              </a:buClr>
              <a:buSzPts val="2400"/>
              <a:buNone/>
            </a:pPr>
            <a:r>
              <a:t/>
            </a:r>
            <a:endParaRPr sz="2400"/>
          </a:p>
          <a:p>
            <a:pPr indent="0" lvl="0" marL="0" rtl="0" algn="just">
              <a:lnSpc>
                <a:spcPct val="120000"/>
              </a:lnSpc>
              <a:spcBef>
                <a:spcPts val="1000"/>
              </a:spcBef>
              <a:spcAft>
                <a:spcPts val="0"/>
              </a:spcAft>
              <a:buClr>
                <a:schemeClr val="dk1"/>
              </a:buClr>
              <a:buSzPts val="2400"/>
              <a:buNone/>
            </a:pPr>
            <a:r>
              <a:t/>
            </a:r>
            <a:endParaRPr sz="2400"/>
          </a:p>
          <a:p>
            <a:pPr indent="0" lvl="0" marL="0" rtl="0" algn="just">
              <a:lnSpc>
                <a:spcPct val="120000"/>
              </a:lnSpc>
              <a:spcBef>
                <a:spcPts val="1000"/>
              </a:spcBef>
              <a:spcAft>
                <a:spcPts val="0"/>
              </a:spcAft>
              <a:buClr>
                <a:schemeClr val="dk1"/>
              </a:buClr>
              <a:buSzPts val="2400"/>
              <a:buNone/>
            </a:pPr>
            <a:r>
              <a:t/>
            </a:r>
            <a:endParaRPr sz="2400"/>
          </a:p>
          <a:p>
            <a:pPr indent="0" lvl="0" marL="0" rtl="0" algn="just">
              <a:lnSpc>
                <a:spcPct val="120000"/>
              </a:lnSpc>
              <a:spcBef>
                <a:spcPts val="1000"/>
              </a:spcBef>
              <a:spcAft>
                <a:spcPts val="0"/>
              </a:spcAft>
              <a:buClr>
                <a:schemeClr val="dk1"/>
              </a:buClr>
              <a:buSzPts val="2400"/>
              <a:buNone/>
            </a:pPr>
            <a:r>
              <a:t/>
            </a:r>
            <a:endParaRPr sz="2400"/>
          </a:p>
          <a:p>
            <a:pPr indent="0" lvl="0" marL="0" rtl="0" algn="just">
              <a:lnSpc>
                <a:spcPct val="90000"/>
              </a:lnSpc>
              <a:spcBef>
                <a:spcPts val="1000"/>
              </a:spcBef>
              <a:spcAft>
                <a:spcPts val="0"/>
              </a:spcAft>
              <a:buClr>
                <a:schemeClr val="dk1"/>
              </a:buClr>
              <a:buSzPts val="1400"/>
              <a:buNone/>
            </a:pPr>
            <a:r>
              <a:t/>
            </a:r>
            <a:endParaRPr sz="1400"/>
          </a:p>
          <a:p>
            <a:pPr indent="0" lvl="0" marL="0" rtl="0" algn="just">
              <a:lnSpc>
                <a:spcPct val="90000"/>
              </a:lnSpc>
              <a:spcBef>
                <a:spcPts val="1000"/>
              </a:spcBef>
              <a:spcAft>
                <a:spcPts val="0"/>
              </a:spcAft>
              <a:buClr>
                <a:schemeClr val="dk1"/>
              </a:buClr>
              <a:buSzPts val="1400"/>
              <a:buNone/>
            </a:pPr>
            <a:r>
              <a:t/>
            </a:r>
            <a:endParaRPr sz="1400"/>
          </a:p>
          <a:p>
            <a:pPr indent="0" lvl="0" marL="0" rtl="0" algn="just">
              <a:lnSpc>
                <a:spcPct val="90000"/>
              </a:lnSpc>
              <a:spcBef>
                <a:spcPts val="1000"/>
              </a:spcBef>
              <a:spcAft>
                <a:spcPts val="0"/>
              </a:spcAft>
              <a:buClr>
                <a:schemeClr val="dk1"/>
              </a:buClr>
              <a:buSzPts val="1400"/>
              <a:buNone/>
            </a:pPr>
            <a:r>
              <a:t/>
            </a:r>
            <a:endParaRPr sz="1400"/>
          </a:p>
          <a:p>
            <a:pPr indent="0" lvl="0" marL="0" rtl="0" algn="just">
              <a:lnSpc>
                <a:spcPct val="90000"/>
              </a:lnSpc>
              <a:spcBef>
                <a:spcPts val="1000"/>
              </a:spcBef>
              <a:spcAft>
                <a:spcPts val="0"/>
              </a:spcAft>
              <a:buClr>
                <a:schemeClr val="dk1"/>
              </a:buClr>
              <a:buSzPts val="1400"/>
              <a:buNone/>
            </a:pPr>
            <a:r>
              <a:t/>
            </a:r>
            <a:endParaRPr sz="1400"/>
          </a:p>
          <a:p>
            <a:pPr indent="-101600" lvl="0" marL="228600" rtl="0" algn="just">
              <a:lnSpc>
                <a:spcPct val="90000"/>
              </a:lnSpc>
              <a:spcBef>
                <a:spcPts val="1000"/>
              </a:spcBef>
              <a:spcAft>
                <a:spcPts val="0"/>
              </a:spcAft>
              <a:buClr>
                <a:schemeClr val="dk1"/>
              </a:buClr>
              <a:buSzPts val="2000"/>
              <a:buNone/>
            </a:pPr>
            <a:r>
              <a:t/>
            </a:r>
            <a:endParaRPr sz="2000"/>
          </a:p>
          <a:p>
            <a:pPr indent="-101600" lvl="0" marL="228600" rtl="0" algn="just">
              <a:lnSpc>
                <a:spcPct val="90000"/>
              </a:lnSpc>
              <a:spcBef>
                <a:spcPts val="1000"/>
              </a:spcBef>
              <a:spcAft>
                <a:spcPts val="0"/>
              </a:spcAft>
              <a:buClr>
                <a:schemeClr val="dk1"/>
              </a:buClr>
              <a:buSzPts val="2000"/>
              <a:buNone/>
            </a:pPr>
            <a:r>
              <a:t/>
            </a:r>
            <a:endParaRPr sz="2000"/>
          </a:p>
        </p:txBody>
      </p:sp>
      <p:pic>
        <p:nvPicPr>
          <p:cNvPr descr="Preventing identity theft" id="154" name="Google Shape;154;p10"/>
          <p:cNvPicPr preferRelativeResize="0"/>
          <p:nvPr/>
        </p:nvPicPr>
        <p:blipFill rotWithShape="1">
          <a:blip r:embed="rId3">
            <a:alphaModFix/>
          </a:blip>
          <a:srcRect b="0" l="0" r="0" t="0"/>
          <a:stretch/>
        </p:blipFill>
        <p:spPr>
          <a:xfrm>
            <a:off x="9944096" y="2400299"/>
            <a:ext cx="2057404" cy="21945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1"/>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PLAN </a:t>
            </a:r>
            <a:endParaRPr>
              <a:solidFill>
                <a:srgbClr val="C00000"/>
              </a:solidFill>
            </a:endParaRPr>
          </a:p>
        </p:txBody>
      </p:sp>
      <p:sp>
        <p:nvSpPr>
          <p:cNvPr id="160" name="Google Shape;160;p11"/>
          <p:cNvSpPr/>
          <p:nvPr/>
        </p:nvSpPr>
        <p:spPr>
          <a:xfrm>
            <a:off x="2209800" y="3343275"/>
            <a:ext cx="8553450" cy="895350"/>
          </a:xfrm>
          <a:prstGeom prst="rect">
            <a:avLst/>
          </a:prstGeom>
          <a:solidFill>
            <a:srgbClr val="FF0000">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11"/>
          <p:cNvSpPr txBox="1"/>
          <p:nvPr/>
        </p:nvSpPr>
        <p:spPr>
          <a:xfrm>
            <a:off x="2495550" y="1881187"/>
            <a:ext cx="11620500" cy="4595813"/>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Evolution des menaces de la sécurité</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attaquants réseau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Types des attaques réseau</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Atténuation des attaques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10 bonnes pratiques </a:t>
            </a:r>
            <a:endParaRPr sz="2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2"/>
          <p:cNvSpPr txBox="1"/>
          <p:nvPr>
            <p:ph type="title"/>
          </p:nvPr>
        </p:nvSpPr>
        <p:spPr>
          <a:xfrm>
            <a:off x="1409113" y="2889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Types des attaques réseau</a:t>
            </a:r>
            <a:endParaRPr b="1">
              <a:solidFill>
                <a:srgbClr val="C00000"/>
              </a:solidFill>
            </a:endParaRPr>
          </a:p>
        </p:txBody>
      </p:sp>
      <p:sp>
        <p:nvSpPr>
          <p:cNvPr id="167" name="Google Shape;167;p12"/>
          <p:cNvSpPr txBox="1"/>
          <p:nvPr>
            <p:ph idx="1" type="body"/>
          </p:nvPr>
        </p:nvSpPr>
        <p:spPr>
          <a:xfrm>
            <a:off x="706582" y="1534674"/>
            <a:ext cx="10764982" cy="5018525"/>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400"/>
              <a:buChar char="•"/>
            </a:pPr>
            <a:r>
              <a:rPr b="1" lang="fr-FR" sz="2400" u="sng"/>
              <a:t>Attaques de reconnaissance </a:t>
            </a:r>
            <a:r>
              <a:rPr lang="fr-FR" sz="2400"/>
              <a:t>- Implique la découverte non autorisée de systèmes, des services ou des vulnérabilités. </a:t>
            </a:r>
            <a:endParaRPr/>
          </a:p>
          <a:p>
            <a:pPr indent="-228600" lvl="0" marL="228600" rtl="0" algn="just">
              <a:lnSpc>
                <a:spcPct val="100000"/>
              </a:lnSpc>
              <a:spcBef>
                <a:spcPts val="1000"/>
              </a:spcBef>
              <a:spcAft>
                <a:spcPts val="0"/>
              </a:spcAft>
              <a:buClr>
                <a:schemeClr val="dk1"/>
              </a:buClr>
              <a:buSzPts val="2400"/>
              <a:buChar char="•"/>
            </a:pPr>
            <a:r>
              <a:rPr b="1" lang="fr-FR" sz="2400" u="sng"/>
              <a:t>Attaques d’accès </a:t>
            </a:r>
            <a:r>
              <a:rPr lang="fr-FR" sz="2400"/>
              <a:t>- Exploite les vulnérabilités connues dans les services d’authentification, les services FTP et les services Web pour accéder à des comptes Web, des bases de données confidentielles et d’autres informations sensibles.</a:t>
            </a:r>
            <a:endParaRPr/>
          </a:p>
          <a:p>
            <a:pPr indent="-228600" lvl="0" marL="228600" rtl="0" algn="just">
              <a:lnSpc>
                <a:spcPct val="100000"/>
              </a:lnSpc>
              <a:spcBef>
                <a:spcPts val="1000"/>
              </a:spcBef>
              <a:spcAft>
                <a:spcPts val="0"/>
              </a:spcAft>
              <a:buClr>
                <a:schemeClr val="dk1"/>
              </a:buClr>
              <a:buSzPts val="2400"/>
              <a:buChar char="•"/>
            </a:pPr>
            <a:r>
              <a:rPr b="1" lang="fr-FR" sz="2400" u="sng"/>
              <a:t>Attaques par déni de service (DoS) </a:t>
            </a:r>
            <a:r>
              <a:rPr lang="fr-FR" sz="2400"/>
              <a:t>- Envoie un nombre extrêmement élevé de demandes sur un réseau. </a:t>
            </a:r>
            <a:endParaRPr sz="2400"/>
          </a:p>
          <a:p>
            <a:pPr indent="0" lvl="0" marL="0" rtl="0" algn="just">
              <a:lnSpc>
                <a:spcPct val="100000"/>
              </a:lnSpc>
              <a:spcBef>
                <a:spcPts val="1000"/>
              </a:spcBef>
              <a:spcAft>
                <a:spcPts val="0"/>
              </a:spcAft>
              <a:buClr>
                <a:schemeClr val="dk1"/>
              </a:buClr>
              <a:buSzPts val="2400"/>
              <a:buNone/>
            </a:pPr>
            <a:r>
              <a:rPr lang="fr-FR" sz="2400"/>
              <a:t>🡪 Ces demandes multiples entraînent une utilisation excessive des ressources de l’appareil cible. </a:t>
            </a:r>
            <a:endParaRPr/>
          </a:p>
          <a:p>
            <a:pPr indent="0" lvl="0" marL="0" rtl="0" algn="just">
              <a:lnSpc>
                <a:spcPct val="100000"/>
              </a:lnSpc>
              <a:spcBef>
                <a:spcPts val="1000"/>
              </a:spcBef>
              <a:spcAft>
                <a:spcPts val="0"/>
              </a:spcAft>
              <a:buClr>
                <a:schemeClr val="dk1"/>
              </a:buClr>
              <a:buSzPts val="2400"/>
              <a:buNone/>
            </a:pPr>
            <a:r>
              <a:rPr lang="fr-FR" sz="2400"/>
              <a:t>🡪 Par conséquent, l’appareil attaqué devient indisponible pour un accès et/ou une utilisation légitimes.</a:t>
            </a:r>
            <a:endParaRPr/>
          </a:p>
          <a:p>
            <a:pPr indent="0" lvl="0" marL="0" rtl="0" algn="just">
              <a:lnSpc>
                <a:spcPct val="100000"/>
              </a:lnSpc>
              <a:spcBef>
                <a:spcPts val="1000"/>
              </a:spcBef>
              <a:spcAft>
                <a:spcPts val="0"/>
              </a:spcAft>
              <a:buClr>
                <a:schemeClr val="dk1"/>
              </a:buClr>
              <a:buSzPts val="2400"/>
              <a:buNone/>
            </a:pPr>
            <a:r>
              <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txBox="1"/>
          <p:nvPr>
            <p:ph type="title"/>
          </p:nvPr>
        </p:nvSpPr>
        <p:spPr>
          <a:xfrm>
            <a:off x="1344635"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1. Les attaques de reconnaissance</a:t>
            </a:r>
            <a:endParaRPr b="1">
              <a:solidFill>
                <a:srgbClr val="C00000"/>
              </a:solidFill>
            </a:endParaRPr>
          </a:p>
        </p:txBody>
      </p:sp>
      <p:sp>
        <p:nvSpPr>
          <p:cNvPr id="173" name="Google Shape;173;p13"/>
          <p:cNvSpPr txBox="1"/>
          <p:nvPr>
            <p:ph idx="1" type="body"/>
          </p:nvPr>
        </p:nvSpPr>
        <p:spPr>
          <a:xfrm>
            <a:off x="666750" y="1924049"/>
            <a:ext cx="10687050" cy="4252913"/>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110000"/>
              </a:lnSpc>
              <a:spcBef>
                <a:spcPts val="0"/>
              </a:spcBef>
              <a:spcAft>
                <a:spcPts val="0"/>
              </a:spcAft>
              <a:buClr>
                <a:schemeClr val="dk1"/>
              </a:buClr>
              <a:buSzPts val="2800"/>
              <a:buChar char="•"/>
            </a:pPr>
            <a:r>
              <a:rPr lang="fr-FR"/>
              <a:t>La reconnaissance, également connue sous le nom de collecte d’informations, est la découverte et la cartographie non autorisées de systèmes, de services ou de vulnérabilités. Dans la plupart des cas, une intrusion de reconnaissance, précède un accès ou une attaque DoS. </a:t>
            </a:r>
            <a:endParaRPr/>
          </a:p>
          <a:p>
            <a:pPr indent="-228600" lvl="0" marL="228600" rtl="0" algn="just">
              <a:lnSpc>
                <a:spcPct val="110000"/>
              </a:lnSpc>
              <a:spcBef>
                <a:spcPts val="1000"/>
              </a:spcBef>
              <a:spcAft>
                <a:spcPts val="0"/>
              </a:spcAft>
              <a:buClr>
                <a:schemeClr val="dk1"/>
              </a:buClr>
              <a:buSzPts val="2800"/>
              <a:buChar char="•"/>
            </a:pPr>
            <a:r>
              <a:rPr lang="fr-FR"/>
              <a:t>Les attaques de reconnaissance peuvent comprendre les éléments suivants:</a:t>
            </a:r>
            <a:endParaRPr/>
          </a:p>
          <a:p>
            <a:pPr indent="-342900" lvl="1" marL="800100" rtl="0" algn="l">
              <a:lnSpc>
                <a:spcPct val="90000"/>
              </a:lnSpc>
              <a:spcBef>
                <a:spcPts val="500"/>
              </a:spcBef>
              <a:spcAft>
                <a:spcPts val="0"/>
              </a:spcAft>
              <a:buClr>
                <a:schemeClr val="dk1"/>
              </a:buClr>
              <a:buSzPts val="2400"/>
              <a:buFont typeface="Arial"/>
              <a:buChar char="•"/>
            </a:pPr>
            <a:r>
              <a:rPr lang="fr-FR"/>
              <a:t>Internet information queries</a:t>
            </a:r>
            <a:endParaRPr/>
          </a:p>
          <a:p>
            <a:pPr indent="-342900" lvl="1" marL="800100" rtl="0" algn="l">
              <a:lnSpc>
                <a:spcPct val="90000"/>
              </a:lnSpc>
              <a:spcBef>
                <a:spcPts val="500"/>
              </a:spcBef>
              <a:spcAft>
                <a:spcPts val="0"/>
              </a:spcAft>
              <a:buClr>
                <a:schemeClr val="dk1"/>
              </a:buClr>
              <a:buSzPts val="2400"/>
              <a:buFont typeface="Arial"/>
              <a:buChar char="•"/>
            </a:pPr>
            <a:r>
              <a:rPr lang="fr-FR"/>
              <a:t>Packet sniffers</a:t>
            </a:r>
            <a:endParaRPr/>
          </a:p>
          <a:p>
            <a:pPr indent="-342900" lvl="1" marL="800100" rtl="0" algn="l">
              <a:lnSpc>
                <a:spcPct val="90000"/>
              </a:lnSpc>
              <a:spcBef>
                <a:spcPts val="500"/>
              </a:spcBef>
              <a:spcAft>
                <a:spcPts val="0"/>
              </a:spcAft>
              <a:buClr>
                <a:schemeClr val="dk1"/>
              </a:buClr>
              <a:buSzPts val="2400"/>
              <a:buFont typeface="Arial"/>
              <a:buChar char="•"/>
            </a:pPr>
            <a:r>
              <a:rPr lang="fr-FR"/>
              <a:t>Ping sweeps</a:t>
            </a:r>
            <a:endParaRPr/>
          </a:p>
          <a:p>
            <a:pPr indent="-342900" lvl="1" marL="800100" rtl="0" algn="l">
              <a:lnSpc>
                <a:spcPct val="90000"/>
              </a:lnSpc>
              <a:spcBef>
                <a:spcPts val="500"/>
              </a:spcBef>
              <a:spcAft>
                <a:spcPts val="0"/>
              </a:spcAft>
              <a:buClr>
                <a:schemeClr val="dk1"/>
              </a:buClr>
              <a:buSzPts val="2400"/>
              <a:buFont typeface="Arial"/>
              <a:buChar char="•"/>
            </a:pPr>
            <a:r>
              <a:rPr lang="fr-FR"/>
              <a:t>Port scans</a:t>
            </a:r>
            <a:endParaRPr/>
          </a:p>
          <a:p>
            <a:pPr indent="0" lvl="0" marL="0" rtl="0" algn="l">
              <a:lnSpc>
                <a:spcPct val="90000"/>
              </a:lnSpc>
              <a:spcBef>
                <a:spcPts val="100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4"/>
          <p:cNvSpPr txBox="1"/>
          <p:nvPr>
            <p:ph type="title"/>
          </p:nvPr>
        </p:nvSpPr>
        <p:spPr>
          <a:xfrm>
            <a:off x="127429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de reconnaissance</a:t>
            </a:r>
            <a:br>
              <a:rPr lang="fr-FR">
                <a:solidFill>
                  <a:srgbClr val="C00000"/>
                </a:solidFill>
              </a:rPr>
            </a:br>
            <a:r>
              <a:rPr lang="fr-FR">
                <a:solidFill>
                  <a:srgbClr val="C00000"/>
                </a:solidFill>
              </a:rPr>
              <a:t>Internet Information Queries</a:t>
            </a:r>
            <a:endParaRPr>
              <a:solidFill>
                <a:srgbClr val="C00000"/>
              </a:solidFill>
            </a:endParaRPr>
          </a:p>
        </p:txBody>
      </p:sp>
      <p:sp>
        <p:nvSpPr>
          <p:cNvPr id="179" name="Google Shape;179;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Les requêtes DNS peuvent révéler des informations, telles que qui possède un domaine particulier et quelles adresses ont été affectées à ce domaine. </a:t>
            </a:r>
            <a:endParaRPr/>
          </a:p>
          <a:p>
            <a:pPr indent="-228600" lvl="0" marL="228600" rtl="0" algn="l">
              <a:lnSpc>
                <a:spcPct val="90000"/>
              </a:lnSpc>
              <a:spcBef>
                <a:spcPts val="1000"/>
              </a:spcBef>
              <a:spcAft>
                <a:spcPts val="0"/>
              </a:spcAft>
              <a:buClr>
                <a:schemeClr val="dk1"/>
              </a:buClr>
              <a:buSzPts val="2800"/>
              <a:buChar char="•"/>
            </a:pPr>
            <a:r>
              <a:rPr lang="fr-FR"/>
              <a:t>Des outils tels que whois, nslookup, ... Peuvent être utilisés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180" name="Google Shape;180;p14"/>
          <p:cNvPicPr preferRelativeResize="0"/>
          <p:nvPr/>
        </p:nvPicPr>
        <p:blipFill rotWithShape="1">
          <a:blip r:embed="rId3">
            <a:alphaModFix/>
          </a:blip>
          <a:srcRect b="0" l="0" r="0" t="0"/>
          <a:stretch/>
        </p:blipFill>
        <p:spPr>
          <a:xfrm>
            <a:off x="2369128" y="3571220"/>
            <a:ext cx="7592290" cy="302370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5"/>
          <p:cNvSpPr txBox="1"/>
          <p:nvPr>
            <p:ph type="title"/>
          </p:nvPr>
        </p:nvSpPr>
        <p:spPr>
          <a:xfrm>
            <a:off x="1485313"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de reconnaissance </a:t>
            </a:r>
            <a:br>
              <a:rPr lang="fr-FR">
                <a:solidFill>
                  <a:srgbClr val="C00000"/>
                </a:solidFill>
              </a:rPr>
            </a:br>
            <a:r>
              <a:rPr lang="fr-FR">
                <a:solidFill>
                  <a:srgbClr val="C00000"/>
                </a:solidFill>
              </a:rPr>
              <a:t>Packet Sniffer</a:t>
            </a:r>
            <a:endParaRPr>
              <a:solidFill>
                <a:srgbClr val="C00000"/>
              </a:solidFill>
            </a:endParaRPr>
          </a:p>
        </p:txBody>
      </p:sp>
      <p:sp>
        <p:nvSpPr>
          <p:cNvPr id="186" name="Google Shape;186;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Un renifleur de paquets est une application logicielle qui utilise une carte réseau pour capturer tous les paquets réseau envoyés sur un réseau local.</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fr-FR"/>
              <a:t>Exemples: </a:t>
            </a:r>
            <a:r>
              <a:rPr lang="fr-FR" sz="2400"/>
              <a:t>“ Solarwinds Deep Packet Inspection </a:t>
            </a:r>
            <a:endParaRPr/>
          </a:p>
          <a:p>
            <a:pPr indent="-228600" lvl="0" marL="228600" rtl="0" algn="l">
              <a:lnSpc>
                <a:spcPct val="90000"/>
              </a:lnSpc>
              <a:spcBef>
                <a:spcPts val="1000"/>
              </a:spcBef>
              <a:spcAft>
                <a:spcPts val="0"/>
              </a:spcAft>
              <a:buClr>
                <a:schemeClr val="dk1"/>
              </a:buClr>
              <a:buSzPts val="2400"/>
              <a:buNone/>
            </a:pPr>
            <a:r>
              <a:rPr lang="fr-FR" sz="2400"/>
              <a:t>and Analysis”, “ManageEngine NetFlow Analyzer”, </a:t>
            </a:r>
            <a:endParaRPr/>
          </a:p>
          <a:p>
            <a:pPr indent="-228600" lvl="0" marL="228600" rtl="0" algn="l">
              <a:lnSpc>
                <a:spcPct val="90000"/>
              </a:lnSpc>
              <a:spcBef>
                <a:spcPts val="1000"/>
              </a:spcBef>
              <a:spcAft>
                <a:spcPts val="0"/>
              </a:spcAft>
              <a:buClr>
                <a:schemeClr val="dk1"/>
              </a:buClr>
              <a:buSzPts val="2400"/>
              <a:buNone/>
            </a:pPr>
            <a:r>
              <a:rPr lang="fr-FR" sz="2400"/>
              <a:t>“Omnipeek Network Protocol Analyzer”, “tcpdump” ,</a:t>
            </a:r>
            <a:endParaRPr/>
          </a:p>
          <a:p>
            <a:pPr indent="-228600" lvl="0" marL="228600" rtl="0" algn="l">
              <a:lnSpc>
                <a:spcPct val="90000"/>
              </a:lnSpc>
              <a:spcBef>
                <a:spcPts val="1000"/>
              </a:spcBef>
              <a:spcAft>
                <a:spcPts val="0"/>
              </a:spcAft>
              <a:buClr>
                <a:schemeClr val="dk1"/>
              </a:buClr>
              <a:buSzPts val="2400"/>
              <a:buNone/>
            </a:pPr>
            <a:r>
              <a:rPr lang="fr-FR" sz="2400"/>
              <a:t> “Windump”, “wireshark….</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7" name="Google Shape;187;p15"/>
          <p:cNvPicPr preferRelativeResize="0"/>
          <p:nvPr/>
        </p:nvPicPr>
        <p:blipFill rotWithShape="1">
          <a:blip r:embed="rId3">
            <a:alphaModFix/>
          </a:blip>
          <a:srcRect b="0" l="0" r="0" t="0"/>
          <a:stretch/>
        </p:blipFill>
        <p:spPr>
          <a:xfrm>
            <a:off x="8788400" y="2819400"/>
            <a:ext cx="3403600" cy="4038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6"/>
          <p:cNvSpPr txBox="1"/>
          <p:nvPr>
            <p:ph type="title"/>
          </p:nvPr>
        </p:nvSpPr>
        <p:spPr>
          <a:xfrm>
            <a:off x="1218028" y="365125"/>
            <a:ext cx="9869072"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000"/>
              <a:buFont typeface="Calibri"/>
              <a:buNone/>
            </a:pPr>
            <a:r>
              <a:rPr lang="fr-FR" sz="2000">
                <a:solidFill>
                  <a:srgbClr val="C00000"/>
                </a:solidFill>
              </a:rPr>
              <a:t>Les attaques de reconnaissance</a:t>
            </a:r>
            <a:br>
              <a:rPr lang="fr-FR" sz="3600">
                <a:solidFill>
                  <a:srgbClr val="C00000"/>
                </a:solidFill>
              </a:rPr>
            </a:br>
            <a:r>
              <a:rPr lang="fr-FR" sz="3600">
                <a:solidFill>
                  <a:srgbClr val="C00000"/>
                </a:solidFill>
              </a:rPr>
              <a:t>Network scan: Ping Sweeps et Port Scans 1/2</a:t>
            </a:r>
            <a:endParaRPr sz="3600">
              <a:solidFill>
                <a:srgbClr val="C00000"/>
              </a:solidFill>
            </a:endParaRPr>
          </a:p>
        </p:txBody>
      </p:sp>
      <p:sp>
        <p:nvSpPr>
          <p:cNvPr id="193" name="Google Shape;193;p16"/>
          <p:cNvSpPr txBox="1"/>
          <p:nvPr>
            <p:ph idx="1" type="body"/>
          </p:nvPr>
        </p:nvSpPr>
        <p:spPr>
          <a:xfrm>
            <a:off x="838200" y="1825625"/>
            <a:ext cx="5784306"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fr-FR" sz="2400"/>
              <a:t>Un balayage de ping, ou balayage ICMP, est utilisé pour déterminer quelle plage d’adresses IP est affectée aux hôtes en temps réel. </a:t>
            </a:r>
            <a:endParaRPr/>
          </a:p>
          <a:p>
            <a:pPr indent="0" lvl="0" marL="0" rtl="0" algn="just">
              <a:lnSpc>
                <a:spcPct val="90000"/>
              </a:lnSpc>
              <a:spcBef>
                <a:spcPts val="1000"/>
              </a:spcBef>
              <a:spcAft>
                <a:spcPts val="0"/>
              </a:spcAft>
              <a:buClr>
                <a:schemeClr val="dk1"/>
              </a:buClr>
              <a:buSzPts val="2400"/>
              <a:buNone/>
            </a:pPr>
            <a:r>
              <a:t/>
            </a:r>
            <a:endParaRPr sz="2400"/>
          </a:p>
          <a:p>
            <a:pPr indent="-228600" lvl="0" marL="228600" rtl="0" algn="just">
              <a:lnSpc>
                <a:spcPct val="90000"/>
              </a:lnSpc>
              <a:spcBef>
                <a:spcPts val="1000"/>
              </a:spcBef>
              <a:spcAft>
                <a:spcPts val="0"/>
              </a:spcAft>
              <a:buClr>
                <a:schemeClr val="dk1"/>
              </a:buClr>
              <a:buSzPts val="2400"/>
              <a:buChar char="•"/>
            </a:pPr>
            <a:r>
              <a:rPr lang="fr-FR" sz="2400"/>
              <a:t>Une analyse de port consiste à envoyer un message à chaque port, un port à la fois. La réponse reçue indique si le port est utilisé et peut; par conséquent, être sondé pour une faiblesse.</a:t>
            </a:r>
            <a:endParaRPr/>
          </a:p>
          <a:p>
            <a:pPr indent="0" lvl="0" marL="0" rtl="0" algn="just">
              <a:lnSpc>
                <a:spcPct val="90000"/>
              </a:lnSpc>
              <a:spcBef>
                <a:spcPts val="1000"/>
              </a:spcBef>
              <a:spcAft>
                <a:spcPts val="0"/>
              </a:spcAft>
              <a:buClr>
                <a:schemeClr val="dk1"/>
              </a:buClr>
              <a:buSzPts val="2800"/>
              <a:buNone/>
            </a:pPr>
            <a:r>
              <a:t/>
            </a:r>
            <a:endParaRPr/>
          </a:p>
        </p:txBody>
      </p:sp>
      <p:pic>
        <p:nvPicPr>
          <p:cNvPr id="194" name="Google Shape;194;p16"/>
          <p:cNvPicPr preferRelativeResize="0"/>
          <p:nvPr/>
        </p:nvPicPr>
        <p:blipFill rotWithShape="1">
          <a:blip r:embed="rId3">
            <a:alphaModFix/>
          </a:blip>
          <a:srcRect b="0" l="0" r="0" t="0"/>
          <a:stretch/>
        </p:blipFill>
        <p:spPr>
          <a:xfrm>
            <a:off x="7329087" y="2276200"/>
            <a:ext cx="4177383" cy="30105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type="title"/>
          </p:nvPr>
        </p:nvSpPr>
        <p:spPr>
          <a:xfrm>
            <a:off x="127429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000"/>
              <a:buFont typeface="Calibri"/>
              <a:buNone/>
            </a:pPr>
            <a:r>
              <a:rPr lang="fr-FR" sz="2000">
                <a:solidFill>
                  <a:srgbClr val="C00000"/>
                </a:solidFill>
              </a:rPr>
              <a:t>Les attaques de reconnaissance</a:t>
            </a:r>
            <a:br>
              <a:rPr lang="fr-FR" sz="3600">
                <a:solidFill>
                  <a:srgbClr val="C00000"/>
                </a:solidFill>
              </a:rPr>
            </a:br>
            <a:r>
              <a:rPr lang="fr-FR" sz="3600">
                <a:solidFill>
                  <a:srgbClr val="C00000"/>
                </a:solidFill>
              </a:rPr>
              <a:t>Network scan: Ping Sweeps et Port Scans 2/2</a:t>
            </a:r>
            <a:endParaRPr sz="3600">
              <a:solidFill>
                <a:srgbClr val="C00000"/>
              </a:solidFill>
            </a:endParaRPr>
          </a:p>
        </p:txBody>
      </p:sp>
      <p:sp>
        <p:nvSpPr>
          <p:cNvPr id="200" name="Google Shape;200;p17"/>
          <p:cNvSpPr txBox="1"/>
          <p:nvPr>
            <p:ph idx="1" type="body"/>
          </p:nvPr>
        </p:nvSpPr>
        <p:spPr>
          <a:xfrm>
            <a:off x="419100" y="1676400"/>
            <a:ext cx="6037118" cy="4500563"/>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400"/>
              <a:buChar char="•"/>
            </a:pPr>
            <a:r>
              <a:rPr lang="fr-FR" sz="2400"/>
              <a:t>En tant qu’outils légitimes, les applications de balayage ping et d’analyse de port exécutent une série de tests contre des hôtes pour identifier des services vulnérables.</a:t>
            </a:r>
            <a:endParaRPr/>
          </a:p>
          <a:p>
            <a:pPr indent="0" lvl="0" marL="0" rtl="0" algn="just">
              <a:lnSpc>
                <a:spcPct val="90000"/>
              </a:lnSpc>
              <a:spcBef>
                <a:spcPts val="1000"/>
              </a:spcBef>
              <a:spcAft>
                <a:spcPts val="0"/>
              </a:spcAft>
              <a:buClr>
                <a:schemeClr val="dk1"/>
              </a:buClr>
              <a:buSzPts val="2400"/>
              <a:buNone/>
            </a:pPr>
            <a:r>
              <a:t/>
            </a:r>
            <a:endParaRPr sz="2400"/>
          </a:p>
          <a:p>
            <a:pPr indent="-228600" lvl="0" marL="228600" rtl="0" algn="just">
              <a:lnSpc>
                <a:spcPct val="90000"/>
              </a:lnSpc>
              <a:spcBef>
                <a:spcPts val="1000"/>
              </a:spcBef>
              <a:spcAft>
                <a:spcPts val="0"/>
              </a:spcAft>
              <a:buClr>
                <a:schemeClr val="dk1"/>
              </a:buClr>
              <a:buSzPts val="2400"/>
              <a:buChar char="•"/>
            </a:pPr>
            <a:r>
              <a:rPr lang="fr-FR" sz="2400"/>
              <a:t>Les informations sont collectées en examinant l’adressage IP et les données des ports TCP et UDP.</a:t>
            </a:r>
            <a:endParaRPr/>
          </a:p>
          <a:p>
            <a:pPr indent="0" lvl="0" marL="0" rtl="0" algn="just">
              <a:lnSpc>
                <a:spcPct val="90000"/>
              </a:lnSpc>
              <a:spcBef>
                <a:spcPts val="1000"/>
              </a:spcBef>
              <a:spcAft>
                <a:spcPts val="0"/>
              </a:spcAft>
              <a:buClr>
                <a:schemeClr val="dk1"/>
              </a:buClr>
              <a:buSzPts val="2400"/>
              <a:buNone/>
            </a:pPr>
            <a:r>
              <a:t/>
            </a:r>
            <a:endParaRPr sz="2400"/>
          </a:p>
          <a:p>
            <a:pPr indent="-228600" lvl="0" marL="228600" rtl="0" algn="just">
              <a:lnSpc>
                <a:spcPct val="90000"/>
              </a:lnSpc>
              <a:spcBef>
                <a:spcPts val="1000"/>
              </a:spcBef>
              <a:spcAft>
                <a:spcPts val="0"/>
              </a:spcAft>
              <a:buClr>
                <a:schemeClr val="dk1"/>
              </a:buClr>
              <a:buSzPts val="2400"/>
              <a:buChar char="•"/>
            </a:pPr>
            <a:r>
              <a:rPr lang="fr-FR" sz="2400"/>
              <a:t>Exemples: Nessus, Nmap, SolarWinds Network Performance Monitor, Advanced IP Scanner, Acunetix , Nagios, Snort</a:t>
            </a:r>
            <a:endParaRPr sz="2400"/>
          </a:p>
          <a:p>
            <a:pPr indent="0" lvl="0" marL="0" rtl="0" algn="just">
              <a:lnSpc>
                <a:spcPct val="90000"/>
              </a:lnSpc>
              <a:spcBef>
                <a:spcPts val="1000"/>
              </a:spcBef>
              <a:spcAft>
                <a:spcPts val="0"/>
              </a:spcAft>
              <a:buClr>
                <a:schemeClr val="dk1"/>
              </a:buClr>
              <a:buSzPts val="2400"/>
              <a:buNone/>
            </a:pPr>
            <a:r>
              <a:t/>
            </a:r>
            <a:endParaRPr sz="2400"/>
          </a:p>
          <a:p>
            <a:pPr indent="-50800" lvl="0" marL="228600" rtl="0" algn="just">
              <a:lnSpc>
                <a:spcPct val="90000"/>
              </a:lnSpc>
              <a:spcBef>
                <a:spcPts val="1000"/>
              </a:spcBef>
              <a:spcAft>
                <a:spcPts val="0"/>
              </a:spcAft>
              <a:buClr>
                <a:schemeClr val="dk1"/>
              </a:buClr>
              <a:buSzPts val="2800"/>
              <a:buNone/>
            </a:pPr>
            <a:r>
              <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201" name="Google Shape;201;p17"/>
          <p:cNvPicPr preferRelativeResize="0"/>
          <p:nvPr/>
        </p:nvPicPr>
        <p:blipFill rotWithShape="1">
          <a:blip r:embed="rId3">
            <a:alphaModFix/>
          </a:blip>
          <a:srcRect b="0" l="0" r="0" t="0"/>
          <a:stretch/>
        </p:blipFill>
        <p:spPr>
          <a:xfrm>
            <a:off x="6574344" y="2061152"/>
            <a:ext cx="4543929" cy="32468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8"/>
          <p:cNvSpPr txBox="1"/>
          <p:nvPr>
            <p:ph type="title"/>
          </p:nvPr>
        </p:nvSpPr>
        <p:spPr>
          <a:xfrm>
            <a:off x="1344637"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2. Les attaques d’accès </a:t>
            </a:r>
            <a:endParaRPr b="1">
              <a:solidFill>
                <a:srgbClr val="C00000"/>
              </a:solidFill>
            </a:endParaRPr>
          </a:p>
        </p:txBody>
      </p:sp>
      <p:sp>
        <p:nvSpPr>
          <p:cNvPr id="207" name="Google Shape;207;p18"/>
          <p:cNvSpPr txBox="1"/>
          <p:nvPr>
            <p:ph idx="1" type="body"/>
          </p:nvPr>
        </p:nvSpPr>
        <p:spPr>
          <a:xfrm>
            <a:off x="1676400" y="20542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Les attaques d’accès peuvent être effectuées de différentes manières </a:t>
            </a:r>
            <a:endParaRPr/>
          </a:p>
          <a:p>
            <a:pPr indent="0" lvl="0" marL="0" rtl="0" algn="l">
              <a:lnSpc>
                <a:spcPct val="90000"/>
              </a:lnSpc>
              <a:spcBef>
                <a:spcPts val="1000"/>
              </a:spcBef>
              <a:spcAft>
                <a:spcPts val="0"/>
              </a:spcAft>
              <a:buClr>
                <a:schemeClr val="dk1"/>
              </a:buClr>
              <a:buSzPts val="2800"/>
              <a:buNone/>
            </a:pPr>
            <a:r>
              <a:rPr lang="fr-FR"/>
              <a:t>🡪 Password attacks</a:t>
            </a:r>
            <a:endParaRPr/>
          </a:p>
          <a:p>
            <a:pPr indent="-228600" lvl="0" marL="228600" rtl="0" algn="l">
              <a:lnSpc>
                <a:spcPct val="90000"/>
              </a:lnSpc>
              <a:spcBef>
                <a:spcPts val="1000"/>
              </a:spcBef>
              <a:spcAft>
                <a:spcPts val="0"/>
              </a:spcAft>
              <a:buClr>
                <a:schemeClr val="dk1"/>
              </a:buClr>
              <a:buSzPts val="2800"/>
              <a:buFont typeface="Noto Sans Symbols"/>
              <a:buChar char="🡪"/>
            </a:pPr>
            <a:r>
              <a:rPr lang="fr-FR"/>
              <a:t>Trust exploitation</a:t>
            </a:r>
            <a:endParaRPr/>
          </a:p>
          <a:p>
            <a:pPr indent="-228600" lvl="0" marL="228600" rtl="0" algn="l">
              <a:lnSpc>
                <a:spcPct val="90000"/>
              </a:lnSpc>
              <a:spcBef>
                <a:spcPts val="1000"/>
              </a:spcBef>
              <a:spcAft>
                <a:spcPts val="0"/>
              </a:spcAft>
              <a:buClr>
                <a:schemeClr val="dk1"/>
              </a:buClr>
              <a:buSzPts val="2800"/>
              <a:buFont typeface="Noto Sans Symbols"/>
              <a:buChar char="🡪"/>
            </a:pPr>
            <a:r>
              <a:rPr lang="fr-FR"/>
              <a:t>Port redirection </a:t>
            </a:r>
            <a:endParaRPr/>
          </a:p>
          <a:p>
            <a:pPr indent="-228600" lvl="0" marL="228600" rtl="0" algn="l">
              <a:lnSpc>
                <a:spcPct val="90000"/>
              </a:lnSpc>
              <a:spcBef>
                <a:spcPts val="1000"/>
              </a:spcBef>
              <a:spcAft>
                <a:spcPts val="0"/>
              </a:spcAft>
              <a:buClr>
                <a:schemeClr val="dk1"/>
              </a:buClr>
              <a:buSzPts val="2800"/>
              <a:buFont typeface="Noto Sans Symbols"/>
              <a:buChar char="🡪"/>
            </a:pPr>
            <a:r>
              <a:rPr lang="fr-FR"/>
              <a:t>Man-in-the-middle attacks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9"/>
          <p:cNvSpPr txBox="1"/>
          <p:nvPr>
            <p:ph type="title"/>
          </p:nvPr>
        </p:nvSpPr>
        <p:spPr>
          <a:xfrm>
            <a:off x="1358705" y="32292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d’accès </a:t>
            </a:r>
            <a:br>
              <a:rPr lang="fr-FR">
                <a:solidFill>
                  <a:srgbClr val="C00000"/>
                </a:solidFill>
              </a:rPr>
            </a:br>
            <a:r>
              <a:rPr lang="fr-FR">
                <a:solidFill>
                  <a:srgbClr val="C00000"/>
                </a:solidFill>
              </a:rPr>
              <a:t>Password attacks</a:t>
            </a:r>
            <a:endParaRPr>
              <a:solidFill>
                <a:srgbClr val="C00000"/>
              </a:solidFill>
            </a:endParaRPr>
          </a:p>
        </p:txBody>
      </p:sp>
      <p:sp>
        <p:nvSpPr>
          <p:cNvPr id="213" name="Google Shape;21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fr-FR" sz="2400"/>
              <a:t>Les pirates informatiques implémentent des attaques par mot de passe à l’aide des éléments suivants :</a:t>
            </a:r>
            <a:endParaRPr/>
          </a:p>
          <a:p>
            <a:pPr indent="0" lvl="0" marL="0" rtl="0" algn="l">
              <a:lnSpc>
                <a:spcPct val="90000"/>
              </a:lnSpc>
              <a:spcBef>
                <a:spcPts val="1000"/>
              </a:spcBef>
              <a:spcAft>
                <a:spcPts val="0"/>
              </a:spcAft>
              <a:buClr>
                <a:schemeClr val="dk1"/>
              </a:buClr>
              <a:buSzPts val="2400"/>
              <a:buNone/>
            </a:pPr>
            <a:r>
              <a:rPr lang="fr-FR" sz="2400"/>
              <a:t>🡪 Attaques par force brute - Une méthode d’attaque d’accès qui implique un logiciel essayant de découvrir un mot de passe système à l’aide d’un dictionnaire électronique.</a:t>
            </a:r>
            <a:endParaRPr/>
          </a:p>
          <a:p>
            <a:pPr indent="0" lvl="0" marL="0" rtl="0" algn="l">
              <a:lnSpc>
                <a:spcPct val="90000"/>
              </a:lnSpc>
              <a:spcBef>
                <a:spcPts val="1000"/>
              </a:spcBef>
              <a:spcAft>
                <a:spcPts val="0"/>
              </a:spcAft>
              <a:buClr>
                <a:schemeClr val="dk1"/>
              </a:buClr>
              <a:buSzPts val="2400"/>
              <a:buNone/>
            </a:pPr>
            <a:r>
              <a:rPr lang="fr-FR" sz="2400"/>
              <a:t>🡪 Programmes de cheval de Troie</a:t>
            </a:r>
            <a:endParaRPr/>
          </a:p>
          <a:p>
            <a:pPr indent="0" lvl="0" marL="0" rtl="0" algn="l">
              <a:lnSpc>
                <a:spcPct val="90000"/>
              </a:lnSpc>
              <a:spcBef>
                <a:spcPts val="1000"/>
              </a:spcBef>
              <a:spcAft>
                <a:spcPts val="0"/>
              </a:spcAft>
              <a:buClr>
                <a:schemeClr val="dk1"/>
              </a:buClr>
              <a:buSzPts val="2400"/>
              <a:buNone/>
            </a:pPr>
            <a:r>
              <a:rPr lang="fr-FR" sz="2400"/>
              <a:t>🡪 Usurpation d’adresse IP</a:t>
            </a:r>
            <a:endParaRPr/>
          </a:p>
          <a:p>
            <a:pPr indent="0" lvl="0" marL="0" rtl="0" algn="l">
              <a:lnSpc>
                <a:spcPct val="90000"/>
              </a:lnSpc>
              <a:spcBef>
                <a:spcPts val="1000"/>
              </a:spcBef>
              <a:spcAft>
                <a:spcPts val="0"/>
              </a:spcAft>
              <a:buClr>
                <a:schemeClr val="dk1"/>
              </a:buClr>
              <a:buSzPts val="2400"/>
              <a:buNone/>
            </a:pPr>
            <a:r>
              <a:rPr lang="fr-FR" sz="2400"/>
              <a:t>🡪 Renifleurs de paquets</a:t>
            </a:r>
            <a:endParaRPr/>
          </a:p>
          <a:p>
            <a:pPr indent="0" lvl="0" marL="0" rtl="0" algn="l">
              <a:lnSpc>
                <a:spcPct val="90000"/>
              </a:lnSpc>
              <a:spcBef>
                <a:spcPts val="1000"/>
              </a:spcBef>
              <a:spcAft>
                <a:spcPts val="0"/>
              </a:spcAft>
              <a:buClr>
                <a:schemeClr val="dk1"/>
              </a:buClr>
              <a:buSzPts val="2400"/>
              <a:buNone/>
            </a:pPr>
            <a:r>
              <a:rPr lang="fr-FR" sz="2400"/>
              <a:t>🡪 Manipulation des utilisateurs</a:t>
            </a:r>
            <a:endParaRPr/>
          </a:p>
        </p:txBody>
      </p:sp>
      <p:pic>
        <p:nvPicPr>
          <p:cNvPr id="214" name="Google Shape;214;p19"/>
          <p:cNvPicPr preferRelativeResize="0"/>
          <p:nvPr/>
        </p:nvPicPr>
        <p:blipFill rotWithShape="1">
          <a:blip r:embed="rId3">
            <a:alphaModFix/>
          </a:blip>
          <a:srcRect b="0" l="0" r="0" t="0"/>
          <a:stretch/>
        </p:blipFill>
        <p:spPr>
          <a:xfrm>
            <a:off x="7060589" y="3481918"/>
            <a:ext cx="4597400" cy="32766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0"/>
          <p:cNvSpPr txBox="1"/>
          <p:nvPr>
            <p:ph type="title"/>
          </p:nvPr>
        </p:nvSpPr>
        <p:spPr>
          <a:xfrm>
            <a:off x="1274299" y="22444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b="1" lang="fr-FR" sz="2400">
                <a:solidFill>
                  <a:srgbClr val="C00000"/>
                </a:solidFill>
              </a:rPr>
              <a:t>Les attaques d’accès </a:t>
            </a:r>
            <a:br>
              <a:rPr b="1" lang="fr-FR">
                <a:solidFill>
                  <a:srgbClr val="C00000"/>
                </a:solidFill>
              </a:rPr>
            </a:br>
            <a:r>
              <a:rPr b="1" lang="fr-FR">
                <a:solidFill>
                  <a:srgbClr val="C00000"/>
                </a:solidFill>
              </a:rPr>
              <a:t>Trust Exploitation</a:t>
            </a:r>
            <a:endParaRPr b="1">
              <a:solidFill>
                <a:srgbClr val="C00000"/>
              </a:solidFill>
            </a:endParaRPr>
          </a:p>
        </p:txBody>
      </p:sp>
      <p:sp>
        <p:nvSpPr>
          <p:cNvPr id="220" name="Google Shape;220;p20"/>
          <p:cNvSpPr txBox="1"/>
          <p:nvPr>
            <p:ph idx="1" type="body"/>
          </p:nvPr>
        </p:nvSpPr>
        <p:spPr>
          <a:xfrm>
            <a:off x="704850" y="1825625"/>
            <a:ext cx="4576991"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fr-FR" sz="2400"/>
              <a:t>Trust exploitation fait référence à une personne qui tire parti d’une relation de confiance au sein d’un réseau.</a:t>
            </a:r>
            <a:endParaRPr/>
          </a:p>
          <a:p>
            <a:pPr indent="-228600" lvl="0" marL="228600" rtl="0" algn="just">
              <a:lnSpc>
                <a:spcPct val="90000"/>
              </a:lnSpc>
              <a:spcBef>
                <a:spcPts val="1000"/>
              </a:spcBef>
              <a:spcAft>
                <a:spcPts val="0"/>
              </a:spcAft>
              <a:buClr>
                <a:schemeClr val="dk1"/>
              </a:buClr>
              <a:buSzPts val="2400"/>
              <a:buChar char="•"/>
            </a:pPr>
            <a:r>
              <a:rPr lang="fr-FR" sz="2400"/>
              <a:t>Un exemple de cas où l’exploitation de l’approbation a lieu est lorsqu’un réseau de périmètre est connecté à un réseau d’entreprise. </a:t>
            </a:r>
            <a:endParaRPr sz="2400"/>
          </a:p>
          <a:p>
            <a:pPr indent="-228600" lvl="0" marL="228600" rtl="0" algn="just">
              <a:lnSpc>
                <a:spcPct val="90000"/>
              </a:lnSpc>
              <a:spcBef>
                <a:spcPts val="1000"/>
              </a:spcBef>
              <a:spcAft>
                <a:spcPts val="0"/>
              </a:spcAft>
              <a:buClr>
                <a:schemeClr val="dk1"/>
              </a:buClr>
              <a:buSzPts val="2400"/>
              <a:buChar char="•"/>
            </a:pPr>
            <a:r>
              <a:rPr lang="fr-FR" sz="2400"/>
              <a:t>Un pirate informatique tire parti des relations de confiance existantes.</a:t>
            </a:r>
            <a:endParaRPr/>
          </a:p>
          <a:p>
            <a:pPr indent="0" lvl="0" marL="0" rtl="0" algn="just">
              <a:lnSpc>
                <a:spcPct val="90000"/>
              </a:lnSpc>
              <a:spcBef>
                <a:spcPts val="1000"/>
              </a:spcBef>
              <a:spcAft>
                <a:spcPts val="0"/>
              </a:spcAft>
              <a:buClr>
                <a:schemeClr val="dk1"/>
              </a:buClr>
              <a:buSzPts val="2800"/>
              <a:buNone/>
            </a:pPr>
            <a:r>
              <a:t/>
            </a:r>
            <a:endParaRPr/>
          </a:p>
        </p:txBody>
      </p:sp>
      <p:pic>
        <p:nvPicPr>
          <p:cNvPr id="221" name="Google Shape;221;p20"/>
          <p:cNvPicPr preferRelativeResize="0"/>
          <p:nvPr/>
        </p:nvPicPr>
        <p:blipFill rotWithShape="1">
          <a:blip r:embed="rId3">
            <a:alphaModFix/>
          </a:blip>
          <a:srcRect b="0" l="0" r="0" t="0"/>
          <a:stretch/>
        </p:blipFill>
        <p:spPr>
          <a:xfrm>
            <a:off x="5415191" y="1619250"/>
            <a:ext cx="6484183" cy="470109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1"/>
          <p:cNvSpPr txBox="1"/>
          <p:nvPr>
            <p:ph type="title"/>
          </p:nvPr>
        </p:nvSpPr>
        <p:spPr>
          <a:xfrm>
            <a:off x="1189889" y="33698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d’accès </a:t>
            </a:r>
            <a:br>
              <a:rPr lang="fr-FR">
                <a:solidFill>
                  <a:srgbClr val="C00000"/>
                </a:solidFill>
              </a:rPr>
            </a:br>
            <a:r>
              <a:rPr b="1" lang="fr-FR">
                <a:solidFill>
                  <a:srgbClr val="C00000"/>
                </a:solidFill>
              </a:rPr>
              <a:t>Port Redirection</a:t>
            </a:r>
            <a:endParaRPr b="1">
              <a:solidFill>
                <a:srgbClr val="C00000"/>
              </a:solidFill>
            </a:endParaRPr>
          </a:p>
        </p:txBody>
      </p:sp>
      <p:sp>
        <p:nvSpPr>
          <p:cNvPr id="227" name="Google Shape;227;p21"/>
          <p:cNvSpPr txBox="1"/>
          <p:nvPr>
            <p:ph idx="1" type="body"/>
          </p:nvPr>
        </p:nvSpPr>
        <p:spPr>
          <a:xfrm>
            <a:off x="140277" y="1690688"/>
            <a:ext cx="5243945" cy="4748212"/>
          </a:xfrm>
          <a:prstGeom prst="rect">
            <a:avLst/>
          </a:prstGeom>
          <a:noFill/>
          <a:ln>
            <a:noFill/>
          </a:ln>
        </p:spPr>
        <p:txBody>
          <a:bodyPr anchorCtr="0" anchor="t" bIns="45700" lIns="91425" spcFirstLastPara="1" rIns="91425" wrap="square" tIns="45700">
            <a:normAutofit fontScale="92500"/>
          </a:bodyPr>
          <a:lstStyle/>
          <a:p>
            <a:pPr indent="-228600" lvl="0" marL="228600" rtl="0" algn="just">
              <a:lnSpc>
                <a:spcPct val="110000"/>
              </a:lnSpc>
              <a:spcBef>
                <a:spcPts val="0"/>
              </a:spcBef>
              <a:spcAft>
                <a:spcPts val="0"/>
              </a:spcAft>
              <a:buClr>
                <a:schemeClr val="dk1"/>
              </a:buClr>
              <a:buSzPct val="100000"/>
              <a:buChar char="•"/>
            </a:pPr>
            <a:r>
              <a:rPr lang="fr-FR" sz="2400"/>
              <a:t>Une attaque de redirection de port est un type d’attaque d’exploitation de confiance qui utilise un hôte compromis pour faire passer le trafic à travers un pare-feu qui aurait autrement bloqué l'accès au réseau à la machine attaquante. </a:t>
            </a:r>
            <a:endParaRPr/>
          </a:p>
          <a:p>
            <a:pPr indent="-228600" lvl="0" marL="228600" rtl="0" algn="just">
              <a:lnSpc>
                <a:spcPct val="110000"/>
              </a:lnSpc>
              <a:spcBef>
                <a:spcPts val="1000"/>
              </a:spcBef>
              <a:spcAft>
                <a:spcPts val="0"/>
              </a:spcAft>
              <a:buClr>
                <a:schemeClr val="dk1"/>
              </a:buClr>
              <a:buSzPct val="100000"/>
              <a:buChar char="•"/>
            </a:pPr>
            <a:r>
              <a:rPr lang="fr-FR" sz="2400"/>
              <a:t>La redirection du port contourne les ensembles des règles du pare-feu en utilisant l'adresse IP et le port de la machine hôte compromise au lieu de l'adresse IP et du port de la machine qui réalise l'attaque.</a:t>
            </a:r>
            <a:endParaRPr sz="2400"/>
          </a:p>
        </p:txBody>
      </p:sp>
      <p:pic>
        <p:nvPicPr>
          <p:cNvPr id="228" name="Google Shape;228;p21"/>
          <p:cNvPicPr preferRelativeResize="0"/>
          <p:nvPr/>
        </p:nvPicPr>
        <p:blipFill rotWithShape="1">
          <a:blip r:embed="rId3">
            <a:alphaModFix/>
          </a:blip>
          <a:srcRect b="0" l="0" r="0" t="0"/>
          <a:stretch/>
        </p:blipFill>
        <p:spPr>
          <a:xfrm>
            <a:off x="5562600" y="1352550"/>
            <a:ext cx="6629400" cy="52976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2"/>
          <p:cNvSpPr txBox="1"/>
          <p:nvPr>
            <p:ph type="title"/>
          </p:nvPr>
        </p:nvSpPr>
        <p:spPr>
          <a:xfrm>
            <a:off x="1104607" y="19220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d’accès </a:t>
            </a:r>
            <a:br>
              <a:rPr lang="fr-FR">
                <a:solidFill>
                  <a:srgbClr val="C00000"/>
                </a:solidFill>
              </a:rPr>
            </a:br>
            <a:r>
              <a:rPr lang="fr-FR">
                <a:solidFill>
                  <a:srgbClr val="C00000"/>
                </a:solidFill>
              </a:rPr>
              <a:t>Man-in-the-Middle</a:t>
            </a:r>
            <a:r>
              <a:rPr lang="fr-FR">
                <a:solidFill>
                  <a:srgbClr val="C00000"/>
                </a:solidFill>
                <a:latin typeface="Arial"/>
                <a:ea typeface="Arial"/>
                <a:cs typeface="Arial"/>
                <a:sym typeface="Arial"/>
              </a:rPr>
              <a:t> </a:t>
            </a:r>
            <a:r>
              <a:rPr lang="fr-FR">
                <a:solidFill>
                  <a:srgbClr val="C00000"/>
                </a:solidFill>
              </a:rPr>
              <a:t>Attacks (MITM)</a:t>
            </a:r>
            <a:endParaRPr>
              <a:solidFill>
                <a:srgbClr val="C00000"/>
              </a:solidFill>
            </a:endParaRPr>
          </a:p>
        </p:txBody>
      </p:sp>
      <p:sp>
        <p:nvSpPr>
          <p:cNvPr id="234" name="Google Shape;234;p22"/>
          <p:cNvSpPr txBox="1"/>
          <p:nvPr>
            <p:ph idx="1" type="body"/>
          </p:nvPr>
        </p:nvSpPr>
        <p:spPr>
          <a:xfrm>
            <a:off x="838200" y="1825625"/>
            <a:ext cx="5507182"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fr-FR" sz="2400"/>
              <a:t>Les attaques MITM ont ces buts :</a:t>
            </a:r>
            <a:endParaRPr/>
          </a:p>
          <a:p>
            <a:pPr indent="-228600" lvl="0" marL="228600" rtl="0" algn="l">
              <a:lnSpc>
                <a:spcPct val="90000"/>
              </a:lnSpc>
              <a:spcBef>
                <a:spcPts val="1000"/>
              </a:spcBef>
              <a:spcAft>
                <a:spcPts val="0"/>
              </a:spcAft>
              <a:buClr>
                <a:schemeClr val="dk1"/>
              </a:buClr>
              <a:buSzPct val="100000"/>
              <a:buFont typeface="Noto Sans Symbols"/>
              <a:buChar char="🡪"/>
            </a:pPr>
            <a:r>
              <a:rPr lang="fr-FR" sz="2400"/>
              <a:t>Vol d’informations</a:t>
            </a:r>
            <a:endParaRPr/>
          </a:p>
          <a:p>
            <a:pPr indent="-228600" lvl="0" marL="228600" rtl="0" algn="l">
              <a:lnSpc>
                <a:spcPct val="90000"/>
              </a:lnSpc>
              <a:spcBef>
                <a:spcPts val="1000"/>
              </a:spcBef>
              <a:spcAft>
                <a:spcPts val="0"/>
              </a:spcAft>
              <a:buClr>
                <a:schemeClr val="dk1"/>
              </a:buClr>
              <a:buSzPct val="100000"/>
              <a:buFont typeface="Noto Sans Symbols"/>
              <a:buChar char="🡪"/>
            </a:pPr>
            <a:r>
              <a:rPr lang="fr-FR" sz="2400"/>
              <a:t>Détournement d’une session en cours pour accéder aux ressources de votre réseau interne</a:t>
            </a:r>
            <a:endParaRPr/>
          </a:p>
          <a:p>
            <a:pPr indent="-228600" lvl="0" marL="228600" rtl="0" algn="l">
              <a:lnSpc>
                <a:spcPct val="90000"/>
              </a:lnSpc>
              <a:spcBef>
                <a:spcPts val="1000"/>
              </a:spcBef>
              <a:spcAft>
                <a:spcPts val="0"/>
              </a:spcAft>
              <a:buClr>
                <a:schemeClr val="dk1"/>
              </a:buClr>
              <a:buSzPct val="100000"/>
              <a:buFont typeface="Noto Sans Symbols"/>
              <a:buChar char="🡪"/>
            </a:pPr>
            <a:r>
              <a:rPr lang="fr-FR" sz="2400"/>
              <a:t>Analyse du trafic pour obtenir des informations sur votre réseau et les utilisateurs du réseau</a:t>
            </a:r>
            <a:endParaRPr/>
          </a:p>
          <a:p>
            <a:pPr indent="-228600" lvl="0" marL="228600" rtl="0" algn="l">
              <a:lnSpc>
                <a:spcPct val="90000"/>
              </a:lnSpc>
              <a:spcBef>
                <a:spcPts val="1000"/>
              </a:spcBef>
              <a:spcAft>
                <a:spcPts val="0"/>
              </a:spcAft>
              <a:buClr>
                <a:schemeClr val="dk1"/>
              </a:buClr>
              <a:buSzPct val="100000"/>
              <a:buFont typeface="Noto Sans Symbols"/>
              <a:buChar char="🡪"/>
            </a:pPr>
            <a:r>
              <a:rPr lang="fr-FR" sz="2400"/>
              <a:t>DoS</a:t>
            </a:r>
            <a:endParaRPr sz="2400"/>
          </a:p>
          <a:p>
            <a:pPr indent="-228600" lvl="0" marL="228600" rtl="0" algn="l">
              <a:lnSpc>
                <a:spcPct val="90000"/>
              </a:lnSpc>
              <a:spcBef>
                <a:spcPts val="1000"/>
              </a:spcBef>
              <a:spcAft>
                <a:spcPts val="0"/>
              </a:spcAft>
              <a:buClr>
                <a:schemeClr val="dk1"/>
              </a:buClr>
              <a:buSzPct val="100000"/>
              <a:buFont typeface="Noto Sans Symbols"/>
              <a:buChar char="🡪"/>
            </a:pPr>
            <a:r>
              <a:rPr lang="fr-FR" sz="2400"/>
              <a:t>Corruption des données transmises</a:t>
            </a:r>
            <a:endParaRPr/>
          </a:p>
          <a:p>
            <a:pPr indent="-228600" lvl="0" marL="228600" rtl="0" algn="l">
              <a:lnSpc>
                <a:spcPct val="90000"/>
              </a:lnSpc>
              <a:spcBef>
                <a:spcPts val="1000"/>
              </a:spcBef>
              <a:spcAft>
                <a:spcPts val="0"/>
              </a:spcAft>
              <a:buClr>
                <a:schemeClr val="dk1"/>
              </a:buClr>
              <a:buSzPct val="100000"/>
              <a:buFont typeface="Noto Sans Symbols"/>
              <a:buChar char="🡪"/>
            </a:pPr>
            <a:r>
              <a:rPr lang="fr-FR" sz="2400"/>
              <a:t>Introduction de nouvelles informations dans les sessions de réseau</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35" name="Google Shape;235;p22"/>
          <p:cNvPicPr preferRelativeResize="0"/>
          <p:nvPr/>
        </p:nvPicPr>
        <p:blipFill rotWithShape="1">
          <a:blip r:embed="rId3">
            <a:alphaModFix/>
          </a:blip>
          <a:srcRect b="0" l="0" r="0" t="0"/>
          <a:stretch/>
        </p:blipFill>
        <p:spPr>
          <a:xfrm>
            <a:off x="6479438" y="1263316"/>
            <a:ext cx="5574017" cy="5067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3"/>
          <p:cNvSpPr txBox="1"/>
          <p:nvPr>
            <p:ph type="title"/>
          </p:nvPr>
        </p:nvSpPr>
        <p:spPr>
          <a:xfrm>
            <a:off x="1218028" y="35105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3. Les attaques DoS</a:t>
            </a:r>
            <a:endParaRPr b="1">
              <a:solidFill>
                <a:srgbClr val="C00000"/>
              </a:solidFill>
            </a:endParaRPr>
          </a:p>
        </p:txBody>
      </p:sp>
      <p:sp>
        <p:nvSpPr>
          <p:cNvPr id="241" name="Google Shape;241;p23"/>
          <p:cNvSpPr txBox="1"/>
          <p:nvPr>
            <p:ph idx="1" type="body"/>
          </p:nvPr>
        </p:nvSpPr>
        <p:spPr>
          <a:xfrm>
            <a:off x="590550" y="1825625"/>
            <a:ext cx="4800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fr-FR" sz="2400"/>
              <a:t>Une attaque DoS est une attaque réseau qui a comme conséquence une sorte d’interruption de service aux utilisateurs, aux périphériques, ou aux applications</a:t>
            </a:r>
            <a:endParaRPr/>
          </a:p>
          <a:p>
            <a:pPr indent="-228600" lvl="0" marL="228600" rtl="0" algn="just">
              <a:lnSpc>
                <a:spcPct val="90000"/>
              </a:lnSpc>
              <a:spcBef>
                <a:spcPts val="1000"/>
              </a:spcBef>
              <a:spcAft>
                <a:spcPts val="0"/>
              </a:spcAft>
              <a:buClr>
                <a:schemeClr val="dk1"/>
              </a:buClr>
              <a:buSzPts val="2400"/>
              <a:buChar char="•"/>
            </a:pPr>
            <a:r>
              <a:rPr lang="fr-FR" sz="2400"/>
              <a:t>Un réseau, un hôte ou une application est incapable de gérer une énorme quantité de données, ce qui provoque le plantage du système ou devient extrêmement lent.</a:t>
            </a:r>
            <a:endParaRPr/>
          </a:p>
        </p:txBody>
      </p:sp>
      <p:pic>
        <p:nvPicPr>
          <p:cNvPr id="242" name="Google Shape;242;p23"/>
          <p:cNvPicPr preferRelativeResize="0"/>
          <p:nvPr/>
        </p:nvPicPr>
        <p:blipFill rotWithShape="1">
          <a:blip r:embed="rId3">
            <a:alphaModFix/>
          </a:blip>
          <a:srcRect b="0" l="0" r="0" t="0"/>
          <a:stretch/>
        </p:blipFill>
        <p:spPr>
          <a:xfrm>
            <a:off x="5638800" y="1825624"/>
            <a:ext cx="5857902" cy="422881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4"/>
          <p:cNvSpPr txBox="1"/>
          <p:nvPr>
            <p:ph type="title"/>
          </p:nvPr>
        </p:nvSpPr>
        <p:spPr>
          <a:xfrm>
            <a:off x="1260229" y="30885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DoS</a:t>
            </a:r>
            <a:br>
              <a:rPr lang="fr-FR">
                <a:solidFill>
                  <a:srgbClr val="C00000"/>
                </a:solidFill>
              </a:rPr>
            </a:br>
            <a:r>
              <a:rPr lang="fr-FR">
                <a:solidFill>
                  <a:srgbClr val="C00000"/>
                </a:solidFill>
              </a:rPr>
              <a:t>DoS vs DDoS</a:t>
            </a:r>
            <a:endParaRPr>
              <a:solidFill>
                <a:srgbClr val="C00000"/>
              </a:solidFill>
            </a:endParaRPr>
          </a:p>
        </p:txBody>
      </p:sp>
      <p:sp>
        <p:nvSpPr>
          <p:cNvPr id="248" name="Google Shape;248;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fr-FR" sz="2400"/>
              <a:t>Une attaque DoS distribuée (DDoS) est similaire dans l’intention à une attaque DoS, sauf qu’une attaque DDoS provient de plusieurs sources coordonnées.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49" name="Google Shape;249;p24"/>
          <p:cNvPicPr preferRelativeResize="0"/>
          <p:nvPr/>
        </p:nvPicPr>
        <p:blipFill rotWithShape="1">
          <a:blip r:embed="rId3">
            <a:alphaModFix/>
          </a:blip>
          <a:srcRect b="0" l="0" r="0" t="0"/>
          <a:stretch/>
        </p:blipFill>
        <p:spPr>
          <a:xfrm>
            <a:off x="1883319" y="3335326"/>
            <a:ext cx="3710730" cy="2606266"/>
          </a:xfrm>
          <a:prstGeom prst="rect">
            <a:avLst/>
          </a:prstGeom>
          <a:noFill/>
          <a:ln>
            <a:noFill/>
          </a:ln>
        </p:spPr>
      </p:pic>
      <p:pic>
        <p:nvPicPr>
          <p:cNvPr id="250" name="Google Shape;250;p24"/>
          <p:cNvPicPr preferRelativeResize="0"/>
          <p:nvPr/>
        </p:nvPicPr>
        <p:blipFill rotWithShape="1">
          <a:blip r:embed="rId4">
            <a:alphaModFix/>
          </a:blip>
          <a:srcRect b="0" l="0" r="0" t="0"/>
          <a:stretch/>
        </p:blipFill>
        <p:spPr>
          <a:xfrm>
            <a:off x="6254977" y="3378402"/>
            <a:ext cx="3577923" cy="256319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5"/>
          <p:cNvSpPr txBox="1"/>
          <p:nvPr>
            <p:ph type="title"/>
          </p:nvPr>
        </p:nvSpPr>
        <p:spPr>
          <a:xfrm>
            <a:off x="1386837" y="35105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DoS</a:t>
            </a:r>
            <a:br>
              <a:rPr lang="fr-FR">
                <a:solidFill>
                  <a:srgbClr val="C00000"/>
                </a:solidFill>
              </a:rPr>
            </a:br>
            <a:r>
              <a:rPr lang="fr-FR">
                <a:solidFill>
                  <a:srgbClr val="C00000"/>
                </a:solidFill>
              </a:rPr>
              <a:t>Les types des attaques DoS</a:t>
            </a:r>
            <a:endParaRPr>
              <a:solidFill>
                <a:srgbClr val="C00000"/>
              </a:solidFill>
            </a:endParaRPr>
          </a:p>
        </p:txBody>
      </p:sp>
      <p:sp>
        <p:nvSpPr>
          <p:cNvPr id="256" name="Google Shape;256;p25"/>
          <p:cNvSpPr txBox="1"/>
          <p:nvPr>
            <p:ph idx="1" type="body"/>
          </p:nvPr>
        </p:nvSpPr>
        <p:spPr>
          <a:xfrm>
            <a:off x="2381250" y="21304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Les types d’attaques DoS incluent :</a:t>
            </a:r>
            <a:endParaRPr/>
          </a:p>
          <a:p>
            <a:pPr indent="-228600" lvl="0" marL="228600" rtl="0" algn="l">
              <a:lnSpc>
                <a:spcPct val="90000"/>
              </a:lnSpc>
              <a:spcBef>
                <a:spcPts val="1000"/>
              </a:spcBef>
              <a:spcAft>
                <a:spcPts val="0"/>
              </a:spcAft>
              <a:buClr>
                <a:schemeClr val="dk1"/>
              </a:buClr>
              <a:buSzPts val="2800"/>
              <a:buFont typeface="Noto Sans Symbols"/>
              <a:buChar char="🡪"/>
            </a:pPr>
            <a:r>
              <a:rPr lang="fr-FR"/>
              <a:t>Ping of death </a:t>
            </a:r>
            <a:endParaRPr/>
          </a:p>
          <a:p>
            <a:pPr indent="-228600" lvl="0" marL="228600" rtl="0" algn="l">
              <a:lnSpc>
                <a:spcPct val="90000"/>
              </a:lnSpc>
              <a:spcBef>
                <a:spcPts val="1000"/>
              </a:spcBef>
              <a:spcAft>
                <a:spcPts val="0"/>
              </a:spcAft>
              <a:buClr>
                <a:schemeClr val="dk1"/>
              </a:buClr>
              <a:buSzPts val="2800"/>
              <a:buFont typeface="Noto Sans Symbols"/>
              <a:buChar char="🡪"/>
            </a:pPr>
            <a:r>
              <a:rPr lang="fr-FR"/>
              <a:t>Smurf Attack</a:t>
            </a:r>
            <a:endParaRPr/>
          </a:p>
          <a:p>
            <a:pPr indent="-228600" lvl="0" marL="228600" rtl="0" algn="l">
              <a:lnSpc>
                <a:spcPct val="90000"/>
              </a:lnSpc>
              <a:spcBef>
                <a:spcPts val="1000"/>
              </a:spcBef>
              <a:spcAft>
                <a:spcPts val="0"/>
              </a:spcAft>
              <a:buClr>
                <a:schemeClr val="dk1"/>
              </a:buClr>
              <a:buSzPts val="2800"/>
              <a:buFont typeface="Noto Sans Symbols"/>
              <a:buChar char="🡪"/>
            </a:pPr>
            <a:r>
              <a:rPr lang="fr-FR"/>
              <a:t>TCP SYN flood attack</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6"/>
          <p:cNvSpPr txBox="1"/>
          <p:nvPr>
            <p:ph type="title"/>
          </p:nvPr>
        </p:nvSpPr>
        <p:spPr>
          <a:xfrm>
            <a:off x="1232093" y="30885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DoS</a:t>
            </a:r>
            <a:br>
              <a:rPr lang="fr-FR">
                <a:solidFill>
                  <a:srgbClr val="C00000"/>
                </a:solidFill>
              </a:rPr>
            </a:br>
            <a:r>
              <a:rPr lang="fr-FR">
                <a:solidFill>
                  <a:srgbClr val="C00000"/>
                </a:solidFill>
              </a:rPr>
              <a:t>Ping of Death</a:t>
            </a:r>
            <a:endParaRPr>
              <a:solidFill>
                <a:srgbClr val="C00000"/>
              </a:solidFill>
            </a:endParaRPr>
          </a:p>
        </p:txBody>
      </p:sp>
      <p:sp>
        <p:nvSpPr>
          <p:cNvPr id="262" name="Google Shape;262;p26"/>
          <p:cNvSpPr txBox="1"/>
          <p:nvPr>
            <p:ph idx="1" type="body"/>
          </p:nvPr>
        </p:nvSpPr>
        <p:spPr>
          <a:xfrm>
            <a:off x="838200" y="20161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Char char="•"/>
            </a:pPr>
            <a:r>
              <a:rPr lang="fr-FR"/>
              <a:t>Attaque qui envoie une demande d’écho dans un paquet IP plus grand que la taille de paquet maximum de 65.535 octets. L’envoi d’un ping de cette taille peut planter l’ordinateur cible. </a:t>
            </a:r>
            <a:endParaRPr/>
          </a:p>
          <a:p>
            <a:pPr indent="0" lvl="0" marL="0" rtl="0" algn="just">
              <a:lnSpc>
                <a:spcPct val="90000"/>
              </a:lnSpc>
              <a:spcBef>
                <a:spcPts val="1000"/>
              </a:spcBef>
              <a:spcAft>
                <a:spcPts val="0"/>
              </a:spcAft>
              <a:buClr>
                <a:schemeClr val="dk1"/>
              </a:buClr>
              <a:buSzPts val="2800"/>
              <a:buNone/>
            </a:pPr>
            <a:r>
              <a:t/>
            </a:r>
            <a:endParaRPr/>
          </a:p>
          <a:p>
            <a:pPr indent="-228600" lvl="0" marL="228600" rtl="0" algn="just">
              <a:lnSpc>
                <a:spcPct val="90000"/>
              </a:lnSpc>
              <a:spcBef>
                <a:spcPts val="1000"/>
              </a:spcBef>
              <a:spcAft>
                <a:spcPts val="0"/>
              </a:spcAft>
              <a:buClr>
                <a:schemeClr val="dk1"/>
              </a:buClr>
              <a:buSzPts val="2800"/>
              <a:buChar char="•"/>
            </a:pPr>
            <a:r>
              <a:rPr lang="fr-FR"/>
              <a:t>Une variante de cette attaque consiste à planter un système en envoyant des fragments ICMP, ce qui remplit les tampons de réassemblage de la victime.</a:t>
            </a:r>
            <a:endParaRPr/>
          </a:p>
          <a:p>
            <a:pPr indent="-50800" lvl="0" marL="228600" rtl="0" algn="just">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7"/>
          <p:cNvSpPr txBox="1"/>
          <p:nvPr>
            <p:ph type="title"/>
          </p:nvPr>
        </p:nvSpPr>
        <p:spPr>
          <a:xfrm>
            <a:off x="1274295" y="26665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DoS </a:t>
            </a:r>
            <a:br>
              <a:rPr lang="fr-FR">
                <a:solidFill>
                  <a:srgbClr val="C00000"/>
                </a:solidFill>
              </a:rPr>
            </a:br>
            <a:r>
              <a:rPr lang="fr-FR">
                <a:solidFill>
                  <a:srgbClr val="C00000"/>
                </a:solidFill>
              </a:rPr>
              <a:t>Smurf Attack</a:t>
            </a:r>
            <a:endParaRPr>
              <a:solidFill>
                <a:srgbClr val="C00000"/>
              </a:solidFill>
            </a:endParaRPr>
          </a:p>
        </p:txBody>
      </p:sp>
      <p:sp>
        <p:nvSpPr>
          <p:cNvPr id="268" name="Google Shape;268;p27"/>
          <p:cNvSpPr txBox="1"/>
          <p:nvPr>
            <p:ph idx="1" type="body"/>
          </p:nvPr>
        </p:nvSpPr>
        <p:spPr>
          <a:xfrm>
            <a:off x="838200" y="1825625"/>
            <a:ext cx="4759036"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fr-FR" sz="2400"/>
              <a:t>Une attaque smurf est une attaque DDoS dans laquelle un grand nombre de paquets ICMP avec l’IP source usurpée de la victime prévue sont diffusés sur un réseau informatique. </a:t>
            </a:r>
            <a:endParaRPr/>
          </a:p>
          <a:p>
            <a:pPr indent="-228600" lvl="0" marL="228600" rtl="0" algn="just">
              <a:lnSpc>
                <a:spcPct val="90000"/>
              </a:lnSpc>
              <a:spcBef>
                <a:spcPts val="1000"/>
              </a:spcBef>
              <a:spcAft>
                <a:spcPts val="0"/>
              </a:spcAft>
              <a:buClr>
                <a:schemeClr val="dk1"/>
              </a:buClr>
              <a:buSzPts val="2400"/>
              <a:buChar char="•"/>
            </a:pPr>
            <a:r>
              <a:rPr lang="fr-FR" sz="2400"/>
              <a:t>Cette attaque envoie un grand nombre de demandes d’ICMP aux adresses de diffusion dirigées, toutes avec des adresses sources usurpées sur le même réseau que la diffusion dirigée respective. </a:t>
            </a:r>
            <a:endParaRPr/>
          </a:p>
          <a:p>
            <a:pPr indent="-50800" lvl="0" marL="228600" rtl="0" algn="just">
              <a:lnSpc>
                <a:spcPct val="90000"/>
              </a:lnSpc>
              <a:spcBef>
                <a:spcPts val="1000"/>
              </a:spcBef>
              <a:spcAft>
                <a:spcPts val="0"/>
              </a:spcAft>
              <a:buClr>
                <a:schemeClr val="dk1"/>
              </a:buClr>
              <a:buSzPts val="2800"/>
              <a:buNone/>
            </a:pPr>
            <a:r>
              <a:t/>
            </a:r>
            <a:endParaRPr/>
          </a:p>
        </p:txBody>
      </p:sp>
      <p:pic>
        <p:nvPicPr>
          <p:cNvPr id="269" name="Google Shape;269;p27"/>
          <p:cNvPicPr preferRelativeResize="0"/>
          <p:nvPr/>
        </p:nvPicPr>
        <p:blipFill rotWithShape="1">
          <a:blip r:embed="rId3">
            <a:alphaModFix/>
          </a:blip>
          <a:srcRect b="0" l="0" r="0" t="0"/>
          <a:stretch/>
        </p:blipFill>
        <p:spPr>
          <a:xfrm>
            <a:off x="5814699" y="1317380"/>
            <a:ext cx="5539101" cy="485958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8"/>
          <p:cNvSpPr txBox="1"/>
          <p:nvPr>
            <p:ph type="title"/>
          </p:nvPr>
        </p:nvSpPr>
        <p:spPr>
          <a:xfrm>
            <a:off x="1246160" y="28071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2400"/>
              <a:buFont typeface="Calibri"/>
              <a:buNone/>
            </a:pPr>
            <a:r>
              <a:rPr lang="fr-FR" sz="2400">
                <a:solidFill>
                  <a:srgbClr val="C00000"/>
                </a:solidFill>
              </a:rPr>
              <a:t>Les attaques DoS</a:t>
            </a:r>
            <a:br>
              <a:rPr lang="fr-FR">
                <a:solidFill>
                  <a:srgbClr val="C00000"/>
                </a:solidFill>
              </a:rPr>
            </a:br>
            <a:r>
              <a:rPr lang="fr-FR">
                <a:solidFill>
                  <a:srgbClr val="C00000"/>
                </a:solidFill>
              </a:rPr>
              <a:t>Syn Flood Attack</a:t>
            </a:r>
            <a:endParaRPr>
              <a:solidFill>
                <a:srgbClr val="C00000"/>
              </a:solidFill>
            </a:endParaRPr>
          </a:p>
        </p:txBody>
      </p:sp>
      <p:sp>
        <p:nvSpPr>
          <p:cNvPr id="275" name="Google Shape;275;p28"/>
          <p:cNvSpPr txBox="1"/>
          <p:nvPr>
            <p:ph idx="1" type="body"/>
          </p:nvPr>
        </p:nvSpPr>
        <p:spPr>
          <a:xfrm>
            <a:off x="628650" y="1825625"/>
            <a:ext cx="6380018"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just">
              <a:lnSpc>
                <a:spcPct val="90000"/>
              </a:lnSpc>
              <a:spcBef>
                <a:spcPts val="0"/>
              </a:spcBef>
              <a:spcAft>
                <a:spcPts val="0"/>
              </a:spcAft>
              <a:buClr>
                <a:schemeClr val="dk1"/>
              </a:buClr>
              <a:buSzPts val="2400"/>
              <a:buChar char="•"/>
            </a:pPr>
            <a:r>
              <a:rPr lang="fr-FR" sz="2400"/>
              <a:t>Une Syn flood est envoyée, souvent avec une adresse forgée d’expéditeur. </a:t>
            </a:r>
            <a:endParaRPr/>
          </a:p>
          <a:p>
            <a:pPr indent="-228600" lvl="0" marL="228600" rtl="0" algn="just">
              <a:lnSpc>
                <a:spcPct val="90000"/>
              </a:lnSpc>
              <a:spcBef>
                <a:spcPts val="1000"/>
              </a:spcBef>
              <a:spcAft>
                <a:spcPts val="0"/>
              </a:spcAft>
              <a:buClr>
                <a:schemeClr val="dk1"/>
              </a:buClr>
              <a:buSzPts val="2400"/>
              <a:buChar char="•"/>
            </a:pPr>
            <a:r>
              <a:rPr lang="fr-FR" sz="2400"/>
              <a:t>Chaque paquet est manipulé comme une demande de connexion, faisant engendrer le serveur une connexion semi-ouverte en renvoyant un paquet DE SYNCHRONISATION-ACK de TCP et en attendant un paquet en réponse de l’adresse d’expéditeur. </a:t>
            </a:r>
            <a:endParaRPr/>
          </a:p>
          <a:p>
            <a:pPr indent="-228600" lvl="0" marL="228600" rtl="0" algn="just">
              <a:lnSpc>
                <a:spcPct val="90000"/>
              </a:lnSpc>
              <a:spcBef>
                <a:spcPts val="1000"/>
              </a:spcBef>
              <a:spcAft>
                <a:spcPts val="0"/>
              </a:spcAft>
              <a:buClr>
                <a:schemeClr val="dk1"/>
              </a:buClr>
              <a:buSzPts val="2400"/>
              <a:buChar char="•"/>
            </a:pPr>
            <a:r>
              <a:rPr lang="fr-FR" sz="2400"/>
              <a:t>Cependant, parce que l’adresse de l’expéditeur est falsifiée, la réponse ne vient jamais. </a:t>
            </a:r>
            <a:endParaRPr/>
          </a:p>
          <a:p>
            <a:pPr indent="-228600" lvl="0" marL="228600" rtl="0" algn="just">
              <a:lnSpc>
                <a:spcPct val="90000"/>
              </a:lnSpc>
              <a:spcBef>
                <a:spcPts val="1000"/>
              </a:spcBef>
              <a:spcAft>
                <a:spcPts val="0"/>
              </a:spcAft>
              <a:buClr>
                <a:schemeClr val="dk1"/>
              </a:buClr>
              <a:buSzPts val="2400"/>
              <a:buChar char="•"/>
            </a:pPr>
            <a:r>
              <a:rPr lang="fr-FR" sz="2400"/>
              <a:t>Ces connexions semi-ouvertes saturent le nombre de connexions disponibles que le serveur est en mesure d’établir</a:t>
            </a:r>
            <a:endParaRPr/>
          </a:p>
        </p:txBody>
      </p:sp>
      <p:pic>
        <p:nvPicPr>
          <p:cNvPr id="276" name="Google Shape;276;p28"/>
          <p:cNvPicPr preferRelativeResize="0"/>
          <p:nvPr/>
        </p:nvPicPr>
        <p:blipFill rotWithShape="1">
          <a:blip r:embed="rId3">
            <a:alphaModFix/>
          </a:blip>
          <a:srcRect b="0" l="0" r="0" t="0"/>
          <a:stretch/>
        </p:blipFill>
        <p:spPr>
          <a:xfrm>
            <a:off x="7218218" y="1246492"/>
            <a:ext cx="4752109" cy="493047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PLAN </a:t>
            </a:r>
            <a:endParaRPr>
              <a:solidFill>
                <a:srgbClr val="C00000"/>
              </a:solidFill>
            </a:endParaRPr>
          </a:p>
        </p:txBody>
      </p:sp>
      <p:sp>
        <p:nvSpPr>
          <p:cNvPr id="282" name="Google Shape;282;p29"/>
          <p:cNvSpPr/>
          <p:nvPr/>
        </p:nvSpPr>
        <p:spPr>
          <a:xfrm>
            <a:off x="2171700" y="4274343"/>
            <a:ext cx="7848600" cy="533400"/>
          </a:xfrm>
          <a:prstGeom prst="rect">
            <a:avLst/>
          </a:prstGeom>
          <a:solidFill>
            <a:srgbClr val="FF0000">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29"/>
          <p:cNvSpPr txBox="1"/>
          <p:nvPr/>
        </p:nvSpPr>
        <p:spPr>
          <a:xfrm>
            <a:off x="2495550" y="1881187"/>
            <a:ext cx="11620500" cy="4595813"/>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Evolution des menaces de la sécurité</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attaquants réseau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Types des attaques réseau</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Atténuation des attaques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10 bonnes pratiques </a:t>
            </a:r>
            <a:endParaRPr sz="2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ph type="title"/>
          </p:nvPr>
        </p:nvSpPr>
        <p:spPr>
          <a:xfrm>
            <a:off x="1063287"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Atténuation des attaques de reconnaissance</a:t>
            </a:r>
            <a:endParaRPr/>
          </a:p>
        </p:txBody>
      </p:sp>
      <p:sp>
        <p:nvSpPr>
          <p:cNvPr id="289" name="Google Shape;289;p30"/>
          <p:cNvSpPr txBox="1"/>
          <p:nvPr>
            <p:ph idx="1" type="body"/>
          </p:nvPr>
        </p:nvSpPr>
        <p:spPr>
          <a:xfrm>
            <a:off x="713510" y="2213553"/>
            <a:ext cx="7160597"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fr-FR" sz="2400"/>
              <a:t>Mettre en œuvre et appliquer une directive de politique qui interdit l’utilisation de protocoles avec des susceptibilités connues à l’écoute clandestine. </a:t>
            </a:r>
            <a:endParaRPr/>
          </a:p>
          <a:p>
            <a:pPr indent="-228600" lvl="0" marL="228600" rtl="0" algn="just">
              <a:lnSpc>
                <a:spcPct val="90000"/>
              </a:lnSpc>
              <a:spcBef>
                <a:spcPts val="1000"/>
              </a:spcBef>
              <a:spcAft>
                <a:spcPts val="0"/>
              </a:spcAft>
              <a:buClr>
                <a:schemeClr val="dk1"/>
              </a:buClr>
              <a:buSzPts val="2400"/>
              <a:buChar char="•"/>
            </a:pPr>
            <a:r>
              <a:rPr lang="fr-FR" sz="2400"/>
              <a:t>Utilisation d’un cryptage qui répond aux besoins de sécurité des données de l’organisation.</a:t>
            </a:r>
            <a:endParaRPr/>
          </a:p>
          <a:p>
            <a:pPr indent="-228600" lvl="0" marL="228600" rtl="0" algn="just">
              <a:lnSpc>
                <a:spcPct val="90000"/>
              </a:lnSpc>
              <a:spcBef>
                <a:spcPts val="1000"/>
              </a:spcBef>
              <a:spcAft>
                <a:spcPts val="0"/>
              </a:spcAft>
              <a:buClr>
                <a:schemeClr val="dk1"/>
              </a:buClr>
              <a:buSzPts val="2400"/>
              <a:buChar char="•"/>
            </a:pPr>
            <a:r>
              <a:rPr lang="fr-FR" sz="2400"/>
              <a:t>Utilisez des outils anti-renifleur pour détecter les attaques de renifleur.</a:t>
            </a:r>
            <a:endParaRPr/>
          </a:p>
          <a:p>
            <a:pPr indent="-228600" lvl="0" marL="228600" rtl="0" algn="just">
              <a:lnSpc>
                <a:spcPct val="90000"/>
              </a:lnSpc>
              <a:spcBef>
                <a:spcPts val="1000"/>
              </a:spcBef>
              <a:spcAft>
                <a:spcPts val="0"/>
              </a:spcAft>
              <a:buClr>
                <a:schemeClr val="dk1"/>
              </a:buClr>
              <a:buSzPts val="2400"/>
              <a:buChar char="•"/>
            </a:pPr>
            <a:r>
              <a:rPr lang="fr-FR" sz="2400"/>
              <a:t>Utilisez un pare-feu et IPS.</a:t>
            </a:r>
            <a:endParaRPr sz="2400"/>
          </a:p>
        </p:txBody>
      </p:sp>
      <p:pic>
        <p:nvPicPr>
          <p:cNvPr id="290" name="Google Shape;290;p30"/>
          <p:cNvPicPr preferRelativeResize="0"/>
          <p:nvPr/>
        </p:nvPicPr>
        <p:blipFill rotWithShape="1">
          <a:blip r:embed="rId3">
            <a:alphaModFix/>
          </a:blip>
          <a:srcRect b="0" l="0" r="0" t="0"/>
          <a:stretch/>
        </p:blipFill>
        <p:spPr>
          <a:xfrm>
            <a:off x="7998797" y="2657184"/>
            <a:ext cx="3355003" cy="2909487"/>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1"/>
          <p:cNvSpPr txBox="1"/>
          <p:nvPr>
            <p:ph type="title"/>
          </p:nvPr>
        </p:nvSpPr>
        <p:spPr>
          <a:xfrm>
            <a:off x="128836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Atténuation des attaques d’accès</a:t>
            </a:r>
            <a:endParaRPr/>
          </a:p>
        </p:txBody>
      </p:sp>
      <p:sp>
        <p:nvSpPr>
          <p:cNvPr id="296" name="Google Shape;296;p31"/>
          <p:cNvSpPr txBox="1"/>
          <p:nvPr>
            <p:ph idx="1" type="body"/>
          </p:nvPr>
        </p:nvSpPr>
        <p:spPr>
          <a:xfrm>
            <a:off x="800100" y="1425575"/>
            <a:ext cx="10515600" cy="4351338"/>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chemeClr val="dk1"/>
              </a:buClr>
              <a:buSzPts val="2400"/>
              <a:buChar char="•"/>
            </a:pPr>
            <a:r>
              <a:rPr lang="fr-FR" sz="2400"/>
              <a:t>Les techniques pour atténuer les attaques d’accès comprennent </a:t>
            </a:r>
            <a:endParaRPr/>
          </a:p>
          <a:p>
            <a:pPr indent="0" lvl="0" marL="0" rtl="0" algn="just">
              <a:lnSpc>
                <a:spcPct val="90000"/>
              </a:lnSpc>
              <a:spcBef>
                <a:spcPts val="1000"/>
              </a:spcBef>
              <a:spcAft>
                <a:spcPts val="0"/>
              </a:spcAft>
              <a:buClr>
                <a:schemeClr val="dk1"/>
              </a:buClr>
              <a:buSzPts val="2400"/>
              <a:buNone/>
            </a:pPr>
            <a:r>
              <a:rPr lang="fr-FR" sz="2400"/>
              <a:t>	🡪 Sécurité forte des mots de passe</a:t>
            </a:r>
            <a:endParaRPr/>
          </a:p>
          <a:p>
            <a:pPr indent="0" lvl="0" marL="0" rtl="0" algn="just">
              <a:lnSpc>
                <a:spcPct val="90000"/>
              </a:lnSpc>
              <a:spcBef>
                <a:spcPts val="1000"/>
              </a:spcBef>
              <a:spcAft>
                <a:spcPts val="0"/>
              </a:spcAft>
              <a:buClr>
                <a:schemeClr val="dk1"/>
              </a:buClr>
              <a:buSzPts val="2400"/>
              <a:buNone/>
            </a:pPr>
            <a:r>
              <a:rPr lang="fr-FR" sz="2400"/>
              <a:t>	🡪 Principe de la confiance minimale</a:t>
            </a:r>
            <a:endParaRPr/>
          </a:p>
          <a:p>
            <a:pPr indent="0" lvl="0" marL="0" rtl="0" algn="just">
              <a:lnSpc>
                <a:spcPct val="90000"/>
              </a:lnSpc>
              <a:spcBef>
                <a:spcPts val="1000"/>
              </a:spcBef>
              <a:spcAft>
                <a:spcPts val="0"/>
              </a:spcAft>
              <a:buClr>
                <a:schemeClr val="dk1"/>
              </a:buClr>
              <a:buSzPts val="2400"/>
              <a:buNone/>
            </a:pPr>
            <a:r>
              <a:rPr lang="fr-FR" sz="2400"/>
              <a:t>	🡪 Cryptographie</a:t>
            </a:r>
            <a:endParaRPr/>
          </a:p>
          <a:p>
            <a:pPr indent="-228600" lvl="0" marL="228600" rtl="0" algn="just">
              <a:lnSpc>
                <a:spcPct val="90000"/>
              </a:lnSpc>
              <a:spcBef>
                <a:spcPts val="1000"/>
              </a:spcBef>
              <a:spcAft>
                <a:spcPts val="0"/>
              </a:spcAft>
              <a:buClr>
                <a:schemeClr val="dk1"/>
              </a:buClr>
              <a:buSzPts val="2400"/>
              <a:buChar char="•"/>
            </a:pPr>
            <a:r>
              <a:rPr lang="fr-FR" sz="2400"/>
              <a:t>Pratiques qui aident à assurer une politique de mot de passe fort : </a:t>
            </a:r>
            <a:endParaRPr/>
          </a:p>
          <a:p>
            <a:pPr indent="0" lvl="0" marL="628650" rtl="0" algn="just">
              <a:lnSpc>
                <a:spcPct val="90000"/>
              </a:lnSpc>
              <a:spcBef>
                <a:spcPts val="1000"/>
              </a:spcBef>
              <a:spcAft>
                <a:spcPts val="0"/>
              </a:spcAft>
              <a:buClr>
                <a:schemeClr val="dk1"/>
              </a:buClr>
              <a:buSzPts val="2400"/>
              <a:buNone/>
            </a:pPr>
            <a:r>
              <a:rPr lang="fr-FR" sz="2400"/>
              <a:t>🡪 Désactivez les comptes après un nombre spécifique de connexions infructueuses. Cette pratique permet d’éviter les tentatives de mot de passe continues.</a:t>
            </a:r>
            <a:endParaRPr/>
          </a:p>
          <a:p>
            <a:pPr indent="0" lvl="0" marL="628650" rtl="0" algn="just">
              <a:lnSpc>
                <a:spcPct val="90000"/>
              </a:lnSpc>
              <a:spcBef>
                <a:spcPts val="1000"/>
              </a:spcBef>
              <a:spcAft>
                <a:spcPts val="0"/>
              </a:spcAft>
              <a:buClr>
                <a:schemeClr val="dk1"/>
              </a:buClr>
              <a:buSzPts val="2400"/>
              <a:buNone/>
            </a:pPr>
            <a:r>
              <a:rPr lang="fr-FR" sz="2400"/>
              <a:t>🡪 N’utilisez pas de mots de passe en texte clair. Utilisez un mot de passe à usage unique ou un mot de passe chiffré.</a:t>
            </a:r>
            <a:endParaRPr/>
          </a:p>
          <a:p>
            <a:pPr indent="0" lvl="0" marL="628650" rtl="0" algn="just">
              <a:lnSpc>
                <a:spcPct val="90000"/>
              </a:lnSpc>
              <a:spcBef>
                <a:spcPts val="1000"/>
              </a:spcBef>
              <a:spcAft>
                <a:spcPts val="0"/>
              </a:spcAft>
              <a:buClr>
                <a:schemeClr val="dk1"/>
              </a:buClr>
              <a:buSzPts val="2400"/>
              <a:buNone/>
            </a:pPr>
            <a:r>
              <a:rPr lang="fr-FR" sz="2400"/>
              <a:t>🡪 Utilisez des mots de passe forts. Les mots de passe forts comportent au moins huit caractères et contiennent des lettres majuscules, des lettres minuscules, des chiffres et des caractères spéciaux. </a:t>
            </a:r>
            <a:endParaRPr/>
          </a:p>
          <a:p>
            <a:pPr indent="-76200" lvl="0" marL="228600" rtl="0" algn="just">
              <a:lnSpc>
                <a:spcPct val="90000"/>
              </a:lnSpc>
              <a:spcBef>
                <a:spcPts val="1000"/>
              </a:spcBef>
              <a:spcAft>
                <a:spcPts val="0"/>
              </a:spcAft>
              <a:buClr>
                <a:schemeClr val="dk1"/>
              </a:buClr>
              <a:buSzPts val="2400"/>
              <a:buNone/>
            </a:pPr>
            <a:r>
              <a:t/>
            </a:r>
            <a:endParaRPr sz="2400"/>
          </a:p>
          <a:p>
            <a:pPr indent="-76200" lvl="0" marL="228600" rtl="0" algn="just">
              <a:lnSpc>
                <a:spcPct val="90000"/>
              </a:lnSpc>
              <a:spcBef>
                <a:spcPts val="1000"/>
              </a:spcBef>
              <a:spcAft>
                <a:spcPts val="0"/>
              </a:spcAft>
              <a:buClr>
                <a:schemeClr val="dk1"/>
              </a:buClr>
              <a:buSzPts val="2400"/>
              <a:buNone/>
            </a:pPr>
            <a:r>
              <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2"/>
          <p:cNvSpPr txBox="1"/>
          <p:nvPr>
            <p:ph type="title"/>
          </p:nvPr>
        </p:nvSpPr>
        <p:spPr>
          <a:xfrm>
            <a:off x="1276057"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b="1" lang="fr-FR">
                <a:solidFill>
                  <a:srgbClr val="C00000"/>
                </a:solidFill>
              </a:rPr>
              <a:t>Atténuation des attaques DoS</a:t>
            </a:r>
            <a:endParaRPr b="1">
              <a:solidFill>
                <a:srgbClr val="C00000"/>
              </a:solidFill>
            </a:endParaRPr>
          </a:p>
        </p:txBody>
      </p:sp>
      <p:sp>
        <p:nvSpPr>
          <p:cNvPr id="302" name="Google Shape;302;p32"/>
          <p:cNvSpPr txBox="1"/>
          <p:nvPr>
            <p:ph idx="1" type="body"/>
          </p:nvPr>
        </p:nvSpPr>
        <p:spPr>
          <a:xfrm>
            <a:off x="2381250" y="2168525"/>
            <a:ext cx="8305800" cy="22320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fr-FR"/>
              <a:t>IPS et Pare-feu (Cisco ASAs et ISRS) </a:t>
            </a:r>
            <a:endParaRPr/>
          </a:p>
          <a:p>
            <a:pPr indent="-228600" lvl="0" marL="228600" rtl="0" algn="l">
              <a:lnSpc>
                <a:spcPct val="90000"/>
              </a:lnSpc>
              <a:spcBef>
                <a:spcPts val="1000"/>
              </a:spcBef>
              <a:spcAft>
                <a:spcPts val="0"/>
              </a:spcAft>
              <a:buClr>
                <a:schemeClr val="dk1"/>
              </a:buClr>
              <a:buSzPts val="2800"/>
              <a:buChar char="•"/>
            </a:pPr>
            <a:r>
              <a:rPr lang="fr-FR"/>
              <a:t>Technologies antispoofing</a:t>
            </a:r>
            <a:endParaRPr/>
          </a:p>
          <a:p>
            <a:pPr indent="-228600" lvl="0" marL="228600" rtl="0" algn="l">
              <a:lnSpc>
                <a:spcPct val="90000"/>
              </a:lnSpc>
              <a:spcBef>
                <a:spcPts val="1000"/>
              </a:spcBef>
              <a:spcAft>
                <a:spcPts val="0"/>
              </a:spcAft>
              <a:buClr>
                <a:schemeClr val="dk1"/>
              </a:buClr>
              <a:buSzPts val="2800"/>
              <a:buChar char="•"/>
            </a:pPr>
            <a:r>
              <a:rPr lang="fr-FR"/>
              <a:t>Quality of Service-traffic policing</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3"/>
          <p:cNvSpPr txBox="1"/>
          <p:nvPr>
            <p:ph type="title"/>
          </p:nvPr>
        </p:nvSpPr>
        <p:spPr>
          <a:xfrm>
            <a:off x="1344639"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PLAN </a:t>
            </a:r>
            <a:endParaRPr>
              <a:solidFill>
                <a:srgbClr val="C00000"/>
              </a:solidFill>
            </a:endParaRPr>
          </a:p>
        </p:txBody>
      </p:sp>
      <p:sp>
        <p:nvSpPr>
          <p:cNvPr id="308" name="Google Shape;308;p33"/>
          <p:cNvSpPr/>
          <p:nvPr/>
        </p:nvSpPr>
        <p:spPr>
          <a:xfrm>
            <a:off x="2171700" y="5112543"/>
            <a:ext cx="7848600" cy="533400"/>
          </a:xfrm>
          <a:prstGeom prst="rect">
            <a:avLst/>
          </a:prstGeom>
          <a:solidFill>
            <a:srgbClr val="FF0000">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9" name="Google Shape;309;p33"/>
          <p:cNvSpPr txBox="1"/>
          <p:nvPr/>
        </p:nvSpPr>
        <p:spPr>
          <a:xfrm>
            <a:off x="2495550" y="1881187"/>
            <a:ext cx="11620500" cy="4595813"/>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Evolution des menaces de la sécurité</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attaquants réseau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Types des attaques réseau</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Atténuation des attaques </a:t>
            </a:r>
            <a:endParaRPr/>
          </a:p>
          <a:p>
            <a:pPr indent="-228600" lvl="0" marL="228600" marR="0" rtl="0" algn="just">
              <a:lnSpc>
                <a:spcPct val="150000"/>
              </a:lnSpc>
              <a:spcBef>
                <a:spcPts val="1000"/>
              </a:spcBef>
              <a:spcAft>
                <a:spcPts val="0"/>
              </a:spcAft>
              <a:buClr>
                <a:schemeClr val="dk1"/>
              </a:buClr>
              <a:buSzPts val="2800"/>
              <a:buFont typeface="Arial"/>
              <a:buChar char="•"/>
            </a:pPr>
            <a:r>
              <a:rPr lang="fr-FR" sz="2800">
                <a:solidFill>
                  <a:schemeClr val="dk1"/>
                </a:solidFill>
                <a:latin typeface="Calibri"/>
                <a:ea typeface="Calibri"/>
                <a:cs typeface="Calibri"/>
                <a:sym typeface="Calibri"/>
              </a:rPr>
              <a:t>Les 10 bonnes pratiques </a:t>
            </a:r>
            <a:endParaRPr sz="2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4"/>
          <p:cNvSpPr txBox="1"/>
          <p:nvPr>
            <p:ph type="title"/>
          </p:nvPr>
        </p:nvSpPr>
        <p:spPr>
          <a:xfrm>
            <a:off x="11054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00000"/>
              </a:buClr>
              <a:buSzPts val="4400"/>
              <a:buFont typeface="Calibri"/>
              <a:buNone/>
            </a:pPr>
            <a:r>
              <a:rPr lang="fr-FR">
                <a:solidFill>
                  <a:srgbClr val="C00000"/>
                </a:solidFill>
              </a:rPr>
              <a:t>Les 10 bonnes pratiques</a:t>
            </a:r>
            <a:endParaRPr>
              <a:solidFill>
                <a:srgbClr val="C00000"/>
              </a:solidFill>
            </a:endParaRPr>
          </a:p>
        </p:txBody>
      </p:sp>
      <p:sp>
        <p:nvSpPr>
          <p:cNvPr id="315" name="Google Shape;315;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dk1"/>
              </a:buClr>
              <a:buSzPct val="100000"/>
              <a:buNone/>
            </a:pPr>
            <a:r>
              <a:rPr lang="fr-FR"/>
              <a:t>1- Gardez les correctifs (patches) à jour en les installant chaque semaine ou tous les jours, si possible,</a:t>
            </a:r>
            <a:endParaRPr/>
          </a:p>
          <a:p>
            <a:pPr indent="0" lvl="0" marL="0" rtl="0" algn="l">
              <a:lnSpc>
                <a:spcPct val="90000"/>
              </a:lnSpc>
              <a:spcBef>
                <a:spcPts val="1000"/>
              </a:spcBef>
              <a:spcAft>
                <a:spcPts val="0"/>
              </a:spcAft>
              <a:buClr>
                <a:schemeClr val="dk1"/>
              </a:buClr>
              <a:buSzPct val="100000"/>
              <a:buNone/>
            </a:pPr>
            <a:r>
              <a:rPr lang="fr-FR"/>
              <a:t>2-  Arrêtez les services et les ports inutiles.</a:t>
            </a:r>
            <a:endParaRPr/>
          </a:p>
          <a:p>
            <a:pPr indent="0" lvl="0" marL="0" rtl="0" algn="l">
              <a:lnSpc>
                <a:spcPct val="90000"/>
              </a:lnSpc>
              <a:spcBef>
                <a:spcPts val="1000"/>
              </a:spcBef>
              <a:spcAft>
                <a:spcPts val="0"/>
              </a:spcAft>
              <a:buClr>
                <a:schemeClr val="dk1"/>
              </a:buClr>
              <a:buSzPct val="100000"/>
              <a:buNone/>
            </a:pPr>
            <a:r>
              <a:rPr lang="fr-FR"/>
              <a:t>3- Utilisez des mots de passe forts et changez-les souvent.</a:t>
            </a:r>
            <a:endParaRPr/>
          </a:p>
          <a:p>
            <a:pPr indent="0" lvl="0" marL="0" rtl="0" algn="l">
              <a:lnSpc>
                <a:spcPct val="90000"/>
              </a:lnSpc>
              <a:spcBef>
                <a:spcPts val="1000"/>
              </a:spcBef>
              <a:spcAft>
                <a:spcPts val="0"/>
              </a:spcAft>
              <a:buClr>
                <a:schemeClr val="dk1"/>
              </a:buClr>
              <a:buSzPct val="100000"/>
              <a:buNone/>
            </a:pPr>
            <a:r>
              <a:rPr lang="fr-FR"/>
              <a:t>4- Contrôlez l’accès physique aux systèmes.</a:t>
            </a:r>
            <a:endParaRPr/>
          </a:p>
          <a:p>
            <a:pPr indent="0" lvl="0" marL="0" rtl="0" algn="l">
              <a:lnSpc>
                <a:spcPct val="90000"/>
              </a:lnSpc>
              <a:spcBef>
                <a:spcPts val="1000"/>
              </a:spcBef>
              <a:spcAft>
                <a:spcPts val="0"/>
              </a:spcAft>
              <a:buClr>
                <a:schemeClr val="dk1"/>
              </a:buClr>
              <a:buSzPct val="100000"/>
              <a:buNone/>
            </a:pPr>
            <a:r>
              <a:rPr lang="fr-FR"/>
              <a:t>5- Évitez les entrées de page Web inutiles. </a:t>
            </a:r>
            <a:endParaRPr/>
          </a:p>
          <a:p>
            <a:pPr indent="0" lvl="0" marL="0" rtl="0" algn="l">
              <a:lnSpc>
                <a:spcPct val="90000"/>
              </a:lnSpc>
              <a:spcBef>
                <a:spcPts val="1000"/>
              </a:spcBef>
              <a:spcAft>
                <a:spcPts val="0"/>
              </a:spcAft>
              <a:buClr>
                <a:schemeClr val="dk1"/>
              </a:buClr>
              <a:buSzPct val="100000"/>
              <a:buNone/>
            </a:pPr>
            <a:r>
              <a:rPr lang="fr-FR"/>
              <a:t>6- Effectuez des sauvegardes et testez régulièrement les fichiers sauvegardés.</a:t>
            </a:r>
            <a:endParaRPr/>
          </a:p>
          <a:p>
            <a:pPr indent="0" lvl="0" marL="0" rtl="0" algn="l">
              <a:lnSpc>
                <a:spcPct val="90000"/>
              </a:lnSpc>
              <a:spcBef>
                <a:spcPts val="1000"/>
              </a:spcBef>
              <a:spcAft>
                <a:spcPts val="0"/>
              </a:spcAft>
              <a:buClr>
                <a:schemeClr val="dk1"/>
              </a:buClr>
              <a:buSzPct val="100000"/>
              <a:buNone/>
            </a:pPr>
            <a:r>
              <a:rPr lang="fr-FR"/>
              <a:t>7- Éduquez les employés sur les risques de l’ingénierie sociale et élaborer des stratégies pour valider les identités par téléphone, par courriel ou en personne.</a:t>
            </a:r>
            <a:endParaRPr/>
          </a:p>
          <a:p>
            <a:pPr indent="0" lvl="0" marL="0" rtl="0" algn="l">
              <a:lnSpc>
                <a:spcPct val="90000"/>
              </a:lnSpc>
              <a:spcBef>
                <a:spcPts val="1000"/>
              </a:spcBef>
              <a:spcAft>
                <a:spcPts val="0"/>
              </a:spcAft>
              <a:buClr>
                <a:schemeClr val="dk1"/>
              </a:buClr>
              <a:buSzPct val="100000"/>
              <a:buNone/>
            </a:pPr>
            <a:r>
              <a:rPr lang="fr-FR"/>
              <a:t>8- Chiffrez et protégez par mot de passe les données sensibles.</a:t>
            </a:r>
            <a:endParaRPr/>
          </a:p>
          <a:p>
            <a:pPr indent="0" lvl="0" marL="0" rtl="0" algn="l">
              <a:lnSpc>
                <a:spcPct val="90000"/>
              </a:lnSpc>
              <a:spcBef>
                <a:spcPts val="1000"/>
              </a:spcBef>
              <a:spcAft>
                <a:spcPts val="0"/>
              </a:spcAft>
              <a:buClr>
                <a:schemeClr val="dk1"/>
              </a:buClr>
              <a:buSzPct val="100000"/>
              <a:buNone/>
            </a:pPr>
            <a:r>
              <a:rPr lang="fr-FR"/>
              <a:t>9- Mettez en œuvre du matériel et des logiciels de sécurité tels que des pare-feu, des systèmes de prévention des intrusions (IPS), des périphériques de réseau privé virtuel (VPN), des logiciels antivirus et le filtrage de contenu.</a:t>
            </a:r>
            <a:endParaRPr/>
          </a:p>
          <a:p>
            <a:pPr indent="0" lvl="0" marL="0" rtl="0" algn="l">
              <a:lnSpc>
                <a:spcPct val="90000"/>
              </a:lnSpc>
              <a:spcBef>
                <a:spcPts val="1000"/>
              </a:spcBef>
              <a:spcAft>
                <a:spcPts val="0"/>
              </a:spcAft>
              <a:buClr>
                <a:schemeClr val="dk1"/>
              </a:buClr>
              <a:buSzPct val="100000"/>
              <a:buNone/>
            </a:pPr>
            <a:r>
              <a:rPr lang="fr-FR"/>
              <a:t>10- Élaborer une politique de sécurité écrite pour l’entreprise.</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35"/>
          <p:cNvSpPr txBox="1"/>
          <p:nvPr>
            <p:ph idx="1" type="body"/>
          </p:nvPr>
        </p:nvSpPr>
        <p:spPr>
          <a:xfrm>
            <a:off x="2507813" y="1825625"/>
            <a:ext cx="9464040" cy="4351338"/>
          </a:xfrm>
          <a:prstGeom prst="rect">
            <a:avLst/>
          </a:prstGeom>
          <a:noFill/>
          <a:ln>
            <a:noFill/>
          </a:ln>
        </p:spPr>
        <p:txBody>
          <a:bodyPr anchorCtr="0" anchor="t" bIns="54825" lIns="109700" spcFirstLastPara="1" rIns="109700" wrap="square" tIns="54825">
            <a:normAutofit/>
          </a:bodyPr>
          <a:lstStyle/>
          <a:p>
            <a:pPr indent="0" lvl="0" marL="0" rtl="0" algn="l">
              <a:lnSpc>
                <a:spcPct val="90000"/>
              </a:lnSpc>
              <a:spcBef>
                <a:spcPts val="0"/>
              </a:spcBef>
              <a:spcAft>
                <a:spcPts val="0"/>
              </a:spcAft>
              <a:buClr>
                <a:schemeClr val="dk1"/>
              </a:buClr>
              <a:buSzPts val="4400"/>
              <a:buNone/>
            </a:pPr>
            <a:r>
              <a:t/>
            </a:r>
            <a:endParaRPr b="1" sz="5280">
              <a:solidFill>
                <a:srgbClr val="C00000"/>
              </a:solidFill>
            </a:endParaRPr>
          </a:p>
          <a:p>
            <a:pPr indent="0" lvl="0" marL="0" rtl="0" algn="l">
              <a:lnSpc>
                <a:spcPct val="90000"/>
              </a:lnSpc>
              <a:spcBef>
                <a:spcPts val="1200"/>
              </a:spcBef>
              <a:spcAft>
                <a:spcPts val="0"/>
              </a:spcAft>
              <a:buClr>
                <a:srgbClr val="C00000"/>
              </a:buClr>
              <a:buSzPts val="4400"/>
              <a:buNone/>
            </a:pPr>
            <a:r>
              <a:rPr b="1" lang="fr-FR" sz="5280">
                <a:solidFill>
                  <a:srgbClr val="C00000"/>
                </a:solidFill>
              </a:rPr>
              <a:t>		Fin chapitre </a:t>
            </a:r>
            <a:endParaRPr b="1" sz="5280">
              <a:solidFill>
                <a:srgbClr val="C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2022-09-07T09:57:51Z</dcterms:created>
  <dc:creator>ASUS</dc:creator>
</cp:coreProperties>
</file>